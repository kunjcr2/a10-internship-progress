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0" r:id="rId2"/>
    <p:sldId id="263" r:id="rId3"/>
    <p:sldId id="266" r:id="rId4"/>
    <p:sldId id="269" r:id="rId5"/>
    <p:sldId id="284" r:id="rId6"/>
    <p:sldId id="306" r:id="rId7"/>
    <p:sldId id="307" r:id="rId8"/>
    <p:sldId id="308" r:id="rId9"/>
    <p:sldId id="309" r:id="rId10"/>
    <p:sldId id="293" r:id="rId11"/>
    <p:sldId id="310" r:id="rId12"/>
    <p:sldId id="296" r:id="rId13"/>
    <p:sldId id="299" r:id="rId14"/>
    <p:sldId id="305" r:id="rId15"/>
    <p:sldId id="311" r:id="rId16"/>
    <p:sldId id="313" r:id="rId17"/>
    <p:sldId id="312" r:id="rId18"/>
    <p:sldId id="31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2"/>
    <p:restoredTop sz="94554"/>
  </p:normalViewPr>
  <p:slideViewPr>
    <p:cSldViewPr snapToGrid="0">
      <p:cViewPr varScale="1">
        <p:scale>
          <a:sx n="116" d="100"/>
          <a:sy n="116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Safe / Unsafe / Needs-Review by Split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Safe</c:v>
          </c:tx>
          <c:spPr>
            <a:solidFill>
              <a:srgbClr val="60A5F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SFT Train</c:v>
              </c:pt>
              <c:pt idx="1">
                <c:v>SFT Val</c:v>
              </c:pt>
              <c:pt idx="2">
                <c:v>RL Train</c:v>
              </c:pt>
              <c:pt idx="3">
                <c:v>RL Val</c:v>
              </c:pt>
              <c:pt idx="4">
                <c:v>Test</c:v>
              </c:pt>
            </c:strLit>
          </c:cat>
          <c:val>
            <c:numLit>
              <c:formatCode>0"%"</c:formatCode>
              <c:ptCount val="5"/>
              <c:pt idx="0">
                <c:v>43.2</c:v>
              </c:pt>
              <c:pt idx="1">
                <c:v>43.2</c:v>
              </c:pt>
              <c:pt idx="2">
                <c:v>30.3</c:v>
              </c:pt>
              <c:pt idx="3">
                <c:v>39.200000000000003</c:v>
              </c:pt>
              <c:pt idx="4">
                <c:v>44.3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EE1-C84C-AEEF-C46E35FDDBB3}"/>
            </c:ext>
          </c:extLst>
        </c:ser>
        <c:ser>
          <c:idx val="1"/>
          <c:order val="1"/>
          <c:tx>
            <c:v>Unsafe</c:v>
          </c:tx>
          <c:spPr>
            <a:solidFill>
              <a:srgbClr val="1E293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SFT Train</c:v>
              </c:pt>
              <c:pt idx="1">
                <c:v>SFT Val</c:v>
              </c:pt>
              <c:pt idx="2">
                <c:v>RL Train</c:v>
              </c:pt>
              <c:pt idx="3">
                <c:v>RL Val</c:v>
              </c:pt>
              <c:pt idx="4">
                <c:v>Test</c:v>
              </c:pt>
            </c:strLit>
          </c:cat>
          <c:val>
            <c:numLit>
              <c:formatCode>0"%"</c:formatCode>
              <c:ptCount val="5"/>
              <c:pt idx="0">
                <c:v>55</c:v>
              </c:pt>
              <c:pt idx="1">
                <c:v>55</c:v>
              </c:pt>
              <c:pt idx="2">
                <c:v>67</c:v>
              </c:pt>
              <c:pt idx="3">
                <c:v>57.8</c:v>
              </c:pt>
              <c:pt idx="4">
                <c:v>55.7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EE1-C84C-AEEF-C46E35FDDBB3}"/>
            </c:ext>
          </c:extLst>
        </c:ser>
        <c:ser>
          <c:idx val="2"/>
          <c:order val="2"/>
          <c:tx>
            <c:v>Needs-review</c:v>
          </c:tx>
          <c:spPr>
            <a:solidFill>
              <a:srgbClr val="F59E0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SFT Train</c:v>
              </c:pt>
              <c:pt idx="1">
                <c:v>SFT Val</c:v>
              </c:pt>
              <c:pt idx="2">
                <c:v>RL Train</c:v>
              </c:pt>
              <c:pt idx="3">
                <c:v>RL Val</c:v>
              </c:pt>
              <c:pt idx="4">
                <c:v>Test</c:v>
              </c:pt>
            </c:strLit>
          </c:cat>
          <c:val>
            <c:numLit>
              <c:formatCode>0"%"</c:formatCode>
              <c:ptCount val="5"/>
              <c:pt idx="0">
                <c:v>1.8</c:v>
              </c:pt>
              <c:pt idx="1">
                <c:v>1.8</c:v>
              </c:pt>
              <c:pt idx="2">
                <c:v>2.7</c:v>
              </c:pt>
              <c:pt idx="3">
                <c:v>2.9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EE1-C84C-AEEF-C46E35FDDB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11"/>
        <c:axId val="222"/>
      </c:barChart>
      <c:catAx>
        <c:axId val="11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t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 dirty="0"/>
              <a:t>Accuracy / Precision / Recall / F1 by Model (Claude)</a:t>
            </a:r>
          </a:p>
        </c:rich>
      </c:tx>
      <c:layout>
        <c:manualLayout>
          <c:xMode val="edge"/>
          <c:yMode val="edge"/>
          <c:x val="0.104630637079456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Nemotron-3.5 base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74.5</c:v>
                </c:pt>
                <c:pt idx="1">
                  <c:v>79.7</c:v>
                </c:pt>
                <c:pt idx="2">
                  <c:v>72.900000000000006</c:v>
                </c:pt>
                <c:pt idx="3">
                  <c:v>76.099999999999994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02-8C48-A61F-513571BB9E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Qwen3.5-4B base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79.3</c:v>
                </c:pt>
                <c:pt idx="1">
                  <c:v>81.900000000000006</c:v>
                </c:pt>
                <c:pt idx="2">
                  <c:v>80.7</c:v>
                </c:pt>
                <c:pt idx="3">
                  <c:v>81.3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402-8C48-A61F-513571BB9E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Qwen3.5-4B base-thinking</c:v>
                </c:pt>
              </c:strCache>
            </c:strRef>
          </c:tx>
          <c:spPr>
            <a:solidFill>
              <a:srgbClr val="7C3AE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84.6</c:v>
                </c:pt>
                <c:pt idx="1">
                  <c:v>85.1</c:v>
                </c:pt>
                <c:pt idx="2">
                  <c:v>87.7</c:v>
                </c:pt>
                <c:pt idx="3">
                  <c:v>86.4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402-8C48-A61F-513571BB9E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Qwen3.5-4B SFT (ours)</c:v>
                </c:pt>
              </c:strCache>
            </c:strRef>
          </c:tx>
          <c:spPr>
            <a:solidFill>
              <a:srgbClr val="0E9F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86.4</c:v>
                </c:pt>
                <c:pt idx="1">
                  <c:v>90</c:v>
                </c:pt>
                <c:pt idx="2">
                  <c:v>85.1</c:v>
                </c:pt>
                <c:pt idx="3">
                  <c:v>87.5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402-8C48-A61F-513571BB9E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 dirty="0"/>
              <a:t>Accuracy / Precision / Recall / F1 by Model (Public)</a:t>
            </a:r>
          </a:p>
        </c:rich>
      </c:tx>
      <c:layout>
        <c:manualLayout>
          <c:xMode val="edge"/>
          <c:yMode val="edge"/>
          <c:x val="0.11063636363636363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Nemotron-3.5 base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100</c:v>
                </c:pt>
                <c:pt idx="2">
                  <c:v>53</c:v>
                </c:pt>
                <c:pt idx="3">
                  <c:v>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02-8C48-A61F-513571BB9E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Qwen3.5-4B base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100</c:v>
                </c:pt>
                <c:pt idx="2">
                  <c:v>57</c:v>
                </c:pt>
                <c:pt idx="3">
                  <c:v>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402-8C48-A61F-513571BB9E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Qwen3.5-4B base-thinking</c:v>
                </c:pt>
              </c:strCache>
            </c:strRef>
          </c:tx>
          <c:spPr>
            <a:solidFill>
              <a:srgbClr val="7C3AE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</c:v>
                </c:pt>
                <c:pt idx="1">
                  <c:v>90</c:v>
                </c:pt>
                <c:pt idx="2">
                  <c:v>60</c:v>
                </c:pt>
                <c:pt idx="3">
                  <c:v>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402-8C48-A61F-513571BB9E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Qwen3.5-4B SFT (ours)</c:v>
                </c:pt>
              </c:strCache>
            </c:strRef>
          </c:tx>
          <c:spPr>
            <a:solidFill>
              <a:srgbClr val="0E9F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57</c:v>
                </c:pt>
                <c:pt idx="1">
                  <c:v>90</c:v>
                </c:pt>
                <c:pt idx="2">
                  <c:v>55</c:v>
                </c:pt>
                <c:pt idx="3">
                  <c:v>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402-8C48-A61F-513571BB9E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F1 by Dataset and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Nemotron-3.5 base</c:v>
          </c:tx>
          <c:spPr>
            <a:solidFill>
              <a:srgbClr val="94A3B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hades</c:v>
              </c:pt>
              <c:pt idx="1">
                <c:v>mmdecodingtrust-i2t</c:v>
              </c:pt>
              <c:pt idx="2">
                <c:v>omnisafebench-mm</c:v>
              </c:pt>
              <c:pt idx="3">
                <c:v>beavertails-v</c:v>
              </c:pt>
              <c:pt idx="4">
                <c:v>redteaming-vlm</c:v>
              </c:pt>
              <c:pt idx="5">
                <c:v>mm-safetybench</c:v>
              </c:pt>
              <c:pt idx="6">
                <c:v>spavl</c:v>
              </c:pt>
              <c:pt idx="7">
                <c:v>unisafe</c:v>
              </c:pt>
              <c:pt idx="8">
                <c:v>vlguard</c:v>
              </c:pt>
              <c:pt idx="9">
                <c:v>siuo</c:v>
              </c:pt>
              <c:pt idx="10">
                <c:v>vlsbench</c:v>
              </c:pt>
              <c:pt idx="11">
                <c:v>salad</c:v>
              </c:pt>
            </c:strLit>
          </c:cat>
          <c:val>
            <c:numLit>
              <c:formatCode>0.000</c:formatCode>
              <c:ptCount val="12"/>
              <c:pt idx="0">
                <c:v>0.98</c:v>
              </c:pt>
              <c:pt idx="1">
                <c:v>0.94</c:v>
              </c:pt>
              <c:pt idx="2">
                <c:v>0.94599999999999995</c:v>
              </c:pt>
              <c:pt idx="3">
                <c:v>0.82699999999999996</c:v>
              </c:pt>
              <c:pt idx="4">
                <c:v>0.32700000000000001</c:v>
              </c:pt>
              <c:pt idx="5">
                <c:v>0.71499999999999997</c:v>
              </c:pt>
              <c:pt idx="6">
                <c:v>0.71499999999999997</c:v>
              </c:pt>
              <c:pt idx="7">
                <c:v>0.62</c:v>
              </c:pt>
              <c:pt idx="8">
                <c:v>0.71599999999999997</c:v>
              </c:pt>
              <c:pt idx="9">
                <c:v>0.35299999999999998</c:v>
              </c:pt>
              <c:pt idx="10">
                <c:v>0.434</c:v>
              </c:pt>
              <c:pt idx="11">
                <c:v>0.31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46-CE4D-92FE-CCC335DBE570}"/>
            </c:ext>
          </c:extLst>
        </c:ser>
        <c:ser>
          <c:idx val="1"/>
          <c:order val="1"/>
          <c:tx>
            <c:v>Qwen3.5-4B base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hades</c:v>
              </c:pt>
              <c:pt idx="1">
                <c:v>mmdecodingtrust-i2t</c:v>
              </c:pt>
              <c:pt idx="2">
                <c:v>omnisafebench-mm</c:v>
              </c:pt>
              <c:pt idx="3">
                <c:v>beavertails-v</c:v>
              </c:pt>
              <c:pt idx="4">
                <c:v>redteaming-vlm</c:v>
              </c:pt>
              <c:pt idx="5">
                <c:v>mm-safetybench</c:v>
              </c:pt>
              <c:pt idx="6">
                <c:v>spavl</c:v>
              </c:pt>
              <c:pt idx="7">
                <c:v>unisafe</c:v>
              </c:pt>
              <c:pt idx="8">
                <c:v>vlguard</c:v>
              </c:pt>
              <c:pt idx="9">
                <c:v>siuo</c:v>
              </c:pt>
              <c:pt idx="10">
                <c:v>vlsbench</c:v>
              </c:pt>
              <c:pt idx="11">
                <c:v>salad</c:v>
              </c:pt>
            </c:strLit>
          </c:cat>
          <c:val>
            <c:numLit>
              <c:formatCode>0.000</c:formatCode>
              <c:ptCount val="12"/>
              <c:pt idx="0">
                <c:v>0.98499999999999999</c:v>
              </c:pt>
              <c:pt idx="1">
                <c:v>0.88100000000000001</c:v>
              </c:pt>
              <c:pt idx="2">
                <c:v>0.94699999999999995</c:v>
              </c:pt>
              <c:pt idx="3">
                <c:v>0.85099999999999998</c:v>
              </c:pt>
              <c:pt idx="4">
                <c:v>0.58299999999999996</c:v>
              </c:pt>
              <c:pt idx="5">
                <c:v>0.81799999999999995</c:v>
              </c:pt>
              <c:pt idx="6">
                <c:v>0.751</c:v>
              </c:pt>
              <c:pt idx="7">
                <c:v>0.78300000000000003</c:v>
              </c:pt>
              <c:pt idx="8">
                <c:v>0.72699999999999998</c:v>
              </c:pt>
              <c:pt idx="9">
                <c:v>0.54500000000000004</c:v>
              </c:pt>
              <c:pt idx="10">
                <c:v>0.57299999999999995</c:v>
              </c:pt>
              <c:pt idx="11">
                <c:v>0.29599999999999999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946-CE4D-92FE-CCC335DBE570}"/>
            </c:ext>
          </c:extLst>
        </c:ser>
        <c:ser>
          <c:idx val="2"/>
          <c:order val="2"/>
          <c:tx>
            <c:v>Qwen3.5-4B base-thinking</c:v>
          </c:tx>
          <c:spPr>
            <a:solidFill>
              <a:srgbClr val="7C3AE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hades</c:v>
              </c:pt>
              <c:pt idx="1">
                <c:v>mmdecodingtrust-i2t</c:v>
              </c:pt>
              <c:pt idx="2">
                <c:v>omnisafebench-mm</c:v>
              </c:pt>
              <c:pt idx="3">
                <c:v>beavertails-v</c:v>
              </c:pt>
              <c:pt idx="4">
                <c:v>redteaming-vlm</c:v>
              </c:pt>
              <c:pt idx="5">
                <c:v>mm-safetybench</c:v>
              </c:pt>
              <c:pt idx="6">
                <c:v>spavl</c:v>
              </c:pt>
              <c:pt idx="7">
                <c:v>unisafe</c:v>
              </c:pt>
              <c:pt idx="8">
                <c:v>vlguard</c:v>
              </c:pt>
              <c:pt idx="9">
                <c:v>siuo</c:v>
              </c:pt>
              <c:pt idx="10">
                <c:v>vlsbench</c:v>
              </c:pt>
              <c:pt idx="11">
                <c:v>salad</c:v>
              </c:pt>
            </c:strLit>
          </c:cat>
          <c:val>
            <c:numLit>
              <c:formatCode>0.000</c:formatCode>
              <c:ptCount val="12"/>
              <c:pt idx="0">
                <c:v>0.98199999999999998</c:v>
              </c:pt>
              <c:pt idx="1">
                <c:v>0.95799999999999996</c:v>
              </c:pt>
              <c:pt idx="2">
                <c:v>0.95499999999999996</c:v>
              </c:pt>
              <c:pt idx="3">
                <c:v>0.88700000000000001</c:v>
              </c:pt>
              <c:pt idx="4">
                <c:v>0.84199999999999997</c:v>
              </c:pt>
              <c:pt idx="5">
                <c:v>0.83799999999999997</c:v>
              </c:pt>
              <c:pt idx="6">
                <c:v>0.80200000000000005</c:v>
              </c:pt>
              <c:pt idx="7">
                <c:v>0.76700000000000002</c:v>
              </c:pt>
              <c:pt idx="8">
                <c:v>0.73499999999999999</c:v>
              </c:pt>
              <c:pt idx="9">
                <c:v>0.59399999999999997</c:v>
              </c:pt>
              <c:pt idx="10">
                <c:v>0.59099999999999997</c:v>
              </c:pt>
              <c:pt idx="11">
                <c:v>0.38300000000000001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946-CE4D-92FE-CCC335DBE570}"/>
            </c:ext>
          </c:extLst>
        </c:ser>
        <c:ser>
          <c:idx val="3"/>
          <c:order val="3"/>
          <c:tx>
            <c:v>Qwen3.5-4B SFT (ours)</c:v>
          </c:tx>
          <c:spPr>
            <a:solidFill>
              <a:srgbClr val="0E9F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hades</c:v>
              </c:pt>
              <c:pt idx="1">
                <c:v>mmdecodingtrust-i2t</c:v>
              </c:pt>
              <c:pt idx="2">
                <c:v>omnisafebench-mm</c:v>
              </c:pt>
              <c:pt idx="3">
                <c:v>beavertails-v</c:v>
              </c:pt>
              <c:pt idx="4">
                <c:v>redteaming-vlm</c:v>
              </c:pt>
              <c:pt idx="5">
                <c:v>mm-safetybench</c:v>
              </c:pt>
              <c:pt idx="6">
                <c:v>spavl</c:v>
              </c:pt>
              <c:pt idx="7">
                <c:v>unisafe</c:v>
              </c:pt>
              <c:pt idx="8">
                <c:v>vlguard</c:v>
              </c:pt>
              <c:pt idx="9">
                <c:v>siuo</c:v>
              </c:pt>
              <c:pt idx="10">
                <c:v>vlsbench</c:v>
              </c:pt>
              <c:pt idx="11">
                <c:v>salad</c:v>
              </c:pt>
            </c:strLit>
          </c:cat>
          <c:val>
            <c:numLit>
              <c:formatCode>0.000</c:formatCode>
              <c:ptCount val="12"/>
              <c:pt idx="0">
                <c:v>0.97599999999999998</c:v>
              </c:pt>
              <c:pt idx="1">
                <c:v>0.96299999999999997</c:v>
              </c:pt>
              <c:pt idx="2">
                <c:v>0.96199999999999997</c:v>
              </c:pt>
              <c:pt idx="3">
                <c:v>0.90500000000000003</c:v>
              </c:pt>
              <c:pt idx="4">
                <c:v>0.86799999999999999</c:v>
              </c:pt>
              <c:pt idx="5">
                <c:v>0.84699999999999998</c:v>
              </c:pt>
              <c:pt idx="6">
                <c:v>0.83599999999999997</c:v>
              </c:pt>
              <c:pt idx="7">
                <c:v>0.78800000000000003</c:v>
              </c:pt>
              <c:pt idx="8">
                <c:v>0.76100000000000001</c:v>
              </c:pt>
              <c:pt idx="9">
                <c:v>0.495</c:v>
              </c:pt>
              <c:pt idx="10">
                <c:v>0.436</c:v>
              </c:pt>
              <c:pt idx="11">
                <c:v>0.33100000000000002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7946-CE4D-92FE-CCC335DBE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2700000" vert="horz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Over-Refusal 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F1</c:v>
          </c:tx>
          <c:spPr>
            <a:solidFill>
              <a:srgbClr val="0E9F6E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BACC-4A4E-8842-10E3E1E0B29F}"/>
              </c:ext>
            </c:extLst>
          </c:dPt>
          <c:dPt>
            <c:idx val="1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3-BACC-4A4E-8842-10E3E1E0B29F}"/>
              </c:ext>
            </c:extLst>
          </c:dPt>
          <c:dPt>
            <c:idx val="2"/>
            <c:invertIfNegative val="1"/>
            <c:bubble3D val="0"/>
            <c:spPr>
              <a:solidFill>
                <a:srgbClr val="7C3AED"/>
              </a:solidFill>
            </c:spPr>
            <c:extLst>
              <c:ext xmlns:c16="http://schemas.microsoft.com/office/drawing/2014/chart" uri="{C3380CC4-5D6E-409C-BE32-E72D297353CC}">
                <c16:uniqueId val="{00000005-BACC-4A4E-8842-10E3E1E0B29F}"/>
              </c:ext>
            </c:extLst>
          </c:dPt>
          <c:dLbls>
            <c:numFmt formatCode="0.000" sourceLinked="0"/>
            <c:spPr>
              <a:noFill/>
            </c:spPr>
            <c:txPr>
              <a:bodyPr/>
              <a:lstStyle/>
              <a:p>
                <a:pPr>
                  <a:defRPr sz="1400" b="1">
                    <a:solidFill>
                      <a:srgbClr val="0F172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SFT (ours)</c:v>
              </c:pt>
              <c:pt idx="1">
                <c:v>Qwen base</c:v>
              </c:pt>
              <c:pt idx="2">
                <c:v>Qwen thinking</c:v>
              </c:pt>
            </c:strLit>
          </c:cat>
          <c:val>
            <c:numLit>
              <c:formatCode>0.000</c:formatCode>
              <c:ptCount val="3"/>
              <c:pt idx="0">
                <c:v>0.96299999999999997</c:v>
              </c:pt>
              <c:pt idx="1">
                <c:v>0.92500000000000004</c:v>
              </c:pt>
              <c:pt idx="2">
                <c:v>0.85899999999999999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95A-234D-A5D5-2451FD15F4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"/>
        <c:axId val="12"/>
      </c:barChart>
      <c:catAx>
        <c:axId val="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2"/>
        <c:crosses val="autoZero"/>
        <c:auto val="1"/>
        <c:lblAlgn val="ctr"/>
        <c:lblOffset val="100"/>
        <c:noMultiLvlLbl val="1"/>
      </c:catAx>
      <c:valAx>
        <c:axId val="12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>
                <a:solidFill>
                  <a:srgbClr val="334155"/>
                </a:solidFill>
              </a:defRPr>
            </a:pPr>
            <a:endParaRPr lang="en-US"/>
          </a:p>
        </c:txPr>
        <c:crossAx val="11"/>
        <c:crosses val="autoZero"/>
        <c:crossBetween val="between"/>
      </c:valAx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False-Positive Rate by Dataset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SFT (ours)</c:v>
          </c:tx>
          <c:spPr>
            <a:solidFill>
              <a:srgbClr val="0E9F6E"/>
            </a:solidFill>
          </c:spPr>
          <c:invertIfNegative val="1"/>
          <c:dLbls>
            <c:numFmt formatCode="0.0&quot;%&quot;" sourceLinked="0"/>
            <c:spPr>
              <a:noFill/>
            </c:spPr>
            <c:txPr>
              <a:bodyPr/>
              <a:lstStyle/>
              <a:p>
                <a:pPr>
                  <a:defRPr sz="1400" b="1">
                    <a:solidFill>
                      <a:srgbClr val="0F172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All</c:v>
              </c:pt>
              <c:pt idx="1">
                <c:v>MMMU</c:v>
              </c:pt>
              <c:pt idx="2">
                <c:v>MM-RewardBench</c:v>
              </c:pt>
            </c:strLit>
          </c:cat>
          <c:val>
            <c:numLit>
              <c:formatCode>0.000</c:formatCode>
              <c:ptCount val="3"/>
              <c:pt idx="0">
                <c:v>7.1</c:v>
              </c:pt>
              <c:pt idx="1">
                <c:v>2.9</c:v>
              </c:pt>
              <c:pt idx="2">
                <c:v>16.5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82-0A45-8B4A-74411AD7AE18}"/>
            </c:ext>
          </c:extLst>
        </c:ser>
        <c:ser>
          <c:idx val="1"/>
          <c:order val="1"/>
          <c:tx>
            <c:v>Qwen base</c:v>
          </c:tx>
          <c:spPr>
            <a:solidFill>
              <a:srgbClr val="2563EB"/>
            </a:solidFill>
          </c:spPr>
          <c:invertIfNegative val="1"/>
          <c:dLbls>
            <c:numFmt formatCode="0.0&quot;%&quot;" sourceLinked="0"/>
            <c:spPr>
              <a:noFill/>
            </c:spPr>
            <c:txPr>
              <a:bodyPr/>
              <a:lstStyle/>
              <a:p>
                <a:pPr>
                  <a:defRPr sz="1400" b="1">
                    <a:solidFill>
                      <a:srgbClr val="0F172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All</c:v>
              </c:pt>
              <c:pt idx="1">
                <c:v>MMMU</c:v>
              </c:pt>
              <c:pt idx="2">
                <c:v>MM-RewardBench</c:v>
              </c:pt>
            </c:strLit>
          </c:cat>
          <c:val>
            <c:numLit>
              <c:formatCode>0.000</c:formatCode>
              <c:ptCount val="3"/>
              <c:pt idx="0">
                <c:v>14</c:v>
              </c:pt>
              <c:pt idx="1">
                <c:v>5.3</c:v>
              </c:pt>
              <c:pt idx="2">
                <c:v>33.299999999999997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482-0A45-8B4A-74411AD7AE18}"/>
            </c:ext>
          </c:extLst>
        </c:ser>
        <c:ser>
          <c:idx val="2"/>
          <c:order val="2"/>
          <c:tx>
            <c:v>Qwen base-thinking</c:v>
          </c:tx>
          <c:spPr>
            <a:solidFill>
              <a:srgbClr val="7C3AED"/>
            </a:solidFill>
          </c:spPr>
          <c:invertIfNegative val="1"/>
          <c:dLbls>
            <c:numFmt formatCode="0.0&quot;%&quot;" sourceLinked="0"/>
            <c:spPr>
              <a:noFill/>
            </c:spPr>
            <c:txPr>
              <a:bodyPr/>
              <a:lstStyle/>
              <a:p>
                <a:pPr>
                  <a:defRPr sz="1400" b="1">
                    <a:solidFill>
                      <a:srgbClr val="0F172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All</c:v>
              </c:pt>
              <c:pt idx="1">
                <c:v>MMMU</c:v>
              </c:pt>
              <c:pt idx="2">
                <c:v>MM-RewardBench</c:v>
              </c:pt>
            </c:strLit>
          </c:cat>
          <c:val>
            <c:numLit>
              <c:formatCode>0.000</c:formatCode>
              <c:ptCount val="3"/>
              <c:pt idx="0">
                <c:v>24.6</c:v>
              </c:pt>
              <c:pt idx="1">
                <c:v>13</c:v>
              </c:pt>
              <c:pt idx="2">
                <c:v>50.5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482-0A45-8B4A-74411AD7A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21"/>
        <c:axId val="22"/>
      </c:barChart>
      <c:catAx>
        <c:axId val="2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"/>
        <c:crosses val="autoZero"/>
        <c:auto val="1"/>
        <c:lblAlgn val="ctr"/>
        <c:lblOffset val="100"/>
        <c:noMultiLvlLbl val="1"/>
      </c:catAx>
      <c:valAx>
        <c:axId val="22"/>
        <c:scaling>
          <c:orientation val="minMax"/>
          <c:max val="60"/>
          <c:min val="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>
                <a:solidFill>
                  <a:srgbClr val="334155"/>
                </a:solidFill>
              </a:defRPr>
            </a:pPr>
            <a:endParaRPr lang="en-US"/>
          </a:p>
        </c:txPr>
        <c:crossAx val="2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2EEF-0CC5-BF2D-666F-86A544576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3829-3A65-150F-D9EA-8014CD4A2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75845-AC93-FDE2-0CAA-3EDAF442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A701A-8311-4E0A-5746-283273CC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75ADC-EA7C-434F-621D-121BBAD2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6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502B-921D-BE43-022F-EB7A5282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F314-41B9-4CF6-A1F3-93459E3A7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1B26C-A7C7-2351-40FF-7E8B08D2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BE719-DD18-5EEA-A901-4BEAD916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6E0D4-7B2C-186F-CFCF-0CDBB647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9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0F62-812D-90D2-6782-A7CDEED6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4BD34-6D52-9002-1AD0-8D9E34CBB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F3F11-C6D4-3F5F-87FF-63B5A18D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3B27B-BFBF-ADC4-BDD4-C288DA53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E98B1-A012-325D-6E1D-0CD3451B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1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BF50-B297-ECEB-260E-D44F5A51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2021-98BD-254F-0118-5C728722F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7B1FD-B25A-D472-7E5B-2D3114D87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8550-4364-9BD6-771A-8ECE20B6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D9CC0-5E72-13E5-FB69-21C8070C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22B19-C813-5DB0-22DD-7278B36E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4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94DD-9CD0-F331-AD3E-7093C17E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0A0AD-179A-B096-1B83-EFD347954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C8151-F106-96B2-664B-5A62C1189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323E9-6E37-59F5-7B2C-6EBD1D097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AA020-37B7-3C5A-586F-EF2154856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6D41D-C2B8-AFFB-C747-63E76D06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24A4E-43F4-8B40-B949-99611DB6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07622-16CD-972E-44EF-9492D15B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4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571F-76D6-D167-23E8-A87ACC55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A9498-CC45-5704-C9AC-10212B51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2B975-2A47-24E8-C866-522317AD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72A26-E230-AA00-3173-A969B403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44700-4458-DE72-0B1A-D7BC66FB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90C07-C7D0-ED7F-4332-33053046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C60B7-B1D4-3EFD-ACBE-2AA05611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5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E8A0-5B10-7FDF-8734-8B36DD04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F30B4-A20E-7692-0969-E095AEDE7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4996D-9D73-783A-1462-12446EE9A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33DDB-A426-0A6D-E8AE-2EFC6AA7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BDEE6-736B-5B9C-FBA4-F807BC0E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00184-A2F4-B0E4-C757-5C9DEF54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0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4E8A-8B50-F68B-4A03-A828A971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3DE05-27CD-9DFE-127B-E0C05482E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D9839-B89D-4C9F-CD5D-91EC30C5B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D5348-B781-BC02-9476-4ED3DD28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C1D5B-625F-72F2-DF5D-29B83A29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315D0-F9E5-11B6-0D8F-73147A98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01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B2BD-21AC-9605-8B03-CC7D00C4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F73C1-78EC-8E14-0E04-23442B965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B9FC3-546B-694A-C408-CD99D479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CF8B2-EB2F-3C3D-BADC-01C44F51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0B906-3961-1131-860A-5DCEBBCC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1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28925-F00F-5A54-08A3-46D81BAA4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A0BDC-7B02-B713-0184-1914F0566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7CEAD-D799-2E46-911A-FA97DA90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9567-1DFC-0C92-B935-6B591E90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EEFA4-47CB-EEDC-0C69-690C6C9C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1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35747-B992-F72E-07D7-125A2121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31A86-0259-F672-A727-AD4756AFD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C0A4D-DFBD-A737-2752-967809BB8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8DE4C-A615-5541-8920-256C168E28A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AF104-2D4B-7270-C905-87E814BFE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353BE-7D7E-68FD-42A3-B68DF410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79407-0E53-3543-AB02-F7EB744B4E8B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12192000" cy="41275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887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72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F172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F172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F172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172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172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172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172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172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172A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0F172A"/>
          </a:solidFill>
        </a:defRPr>
      </a:defPPr>
      <a:lvl1pPr marL="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0F172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EC43-F5CA-433F-1784-DCF97F199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b="1" dirty="0"/>
              <a:t>Multimodal Input Guardrail (MMIG): 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263ED-5F85-3ABF-A765-82E7B730E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1800" dirty="0">
                <a:solidFill>
                  <a:schemeClr val="dk2"/>
                </a:solidFill>
              </a:rPr>
              <a:t>Synthetic Data · Dataset Splits · SFT Training · Benchmark &amp; Over-Refusal Evaluation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July 1, 2026</a:t>
            </a:r>
          </a:p>
        </p:txBody>
      </p:sp>
    </p:spTree>
    <p:extLst>
      <p:ext uri="{BB962C8B-B14F-4D97-AF65-F5344CB8AC3E}">
        <p14:creationId xmlns:p14="http://schemas.microsoft.com/office/powerpoint/2010/main" val="110459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6B9D-DED7-0129-172A-427A4480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CADF-3FD3-177B-547F-EC6B4303B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 sz="2200" b="1" dirty="0"/>
              <a:t>1. Synthetic Compositional-Harm Data</a:t>
            </a:r>
          </a:p>
          <a:p>
            <a:pPr marL="457200" indent="0">
              <a:buNone/>
            </a:pPr>
            <a:r>
              <a:rPr lang="en-US" sz="1600" dirty="0">
                <a:solidFill>
                  <a:schemeClr val="dk2"/>
                </a:solidFill>
              </a:rPr>
              <a:t>Generation pipeline, Overall distribution now</a:t>
            </a:r>
          </a:p>
          <a:p>
            <a:pPr marL="457200" indent="-457200">
              <a:buNone/>
            </a:pPr>
            <a:r>
              <a:rPr lang="en-US" sz="2200" b="1" dirty="0"/>
              <a:t>2. Dataset Splits</a:t>
            </a:r>
          </a:p>
          <a:p>
            <a:pPr marL="457200" indent="0">
              <a:buNone/>
            </a:pPr>
            <a:r>
              <a:rPr lang="en-US" sz="1600" dirty="0">
                <a:solidFill>
                  <a:schemeClr val="dk2"/>
                </a:solidFill>
              </a:rPr>
              <a:t>SFT and RL train/validation composition, difficulty stratification</a:t>
            </a:r>
          </a:p>
          <a:p>
            <a:pPr marL="457200" indent="-457200">
              <a:buNone/>
            </a:pPr>
            <a:r>
              <a:rPr lang="en-US" sz="2200" b="1" dirty="0"/>
              <a:t>3. Models &amp; Evaluation</a:t>
            </a:r>
          </a:p>
          <a:p>
            <a:pPr marL="457200" indent="0">
              <a:buNone/>
            </a:pPr>
            <a:r>
              <a:rPr lang="en-US" sz="1600" dirty="0">
                <a:solidFill>
                  <a:schemeClr val="dk2"/>
                </a:solidFill>
              </a:rPr>
              <a:t>Training run configuration, benchmark comparison, over-refusal testing on 2 </a:t>
            </a:r>
            <a:r>
              <a:rPr lang="en-US" sz="1600" dirty="0" err="1">
                <a:solidFill>
                  <a:schemeClr val="dk2"/>
                </a:solidFill>
              </a:rPr>
              <a:t>bechmarks</a:t>
            </a:r>
            <a:endParaRPr lang="en-US" sz="1600" dirty="0">
              <a:solidFill>
                <a:schemeClr val="dk2"/>
              </a:solidFill>
            </a:endParaRPr>
          </a:p>
          <a:p>
            <a:pPr marL="457200" indent="-457200">
              <a:buNone/>
            </a:pPr>
            <a:r>
              <a:rPr lang="en-US" sz="2200" b="1" dirty="0"/>
              <a:t>4. Manual Testing: Overfitting Signals</a:t>
            </a:r>
          </a:p>
          <a:p>
            <a:pPr marL="457200" indent="0">
              <a:buNone/>
            </a:pPr>
            <a:r>
              <a:rPr lang="en-US" sz="1600" dirty="0">
                <a:solidFill>
                  <a:schemeClr val="dk2"/>
                </a:solidFill>
              </a:rPr>
              <a:t>Common failure modes, Insights on FPR and FNR</a:t>
            </a:r>
          </a:p>
        </p:txBody>
      </p:sp>
    </p:spTree>
    <p:extLst>
      <p:ext uri="{BB962C8B-B14F-4D97-AF65-F5344CB8AC3E}">
        <p14:creationId xmlns:p14="http://schemas.microsoft.com/office/powerpoint/2010/main" val="321628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5A53-E36D-27F5-55C4-86E5A7C50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25" y="129308"/>
            <a:ext cx="10515600" cy="1325563"/>
          </a:xfrm>
        </p:spPr>
        <p:txBody>
          <a:bodyPr/>
          <a:lstStyle/>
          <a:p>
            <a:r>
              <a:rPr lang="en-US" sz="3000" b="1" dirty="0"/>
              <a:t>Synthetic Compositional-Harm Data </a:t>
            </a:r>
            <a:r>
              <a:rPr lang="en-US" sz="1200" b="1" dirty="0"/>
              <a:t>(129k + 45k (new data) – 13k (deduplication)) = 161k</a:t>
            </a:r>
            <a:endParaRPr lang="en-US" sz="3000" b="1" dirty="0"/>
          </a:p>
        </p:txBody>
      </p:sp>
      <p:sp>
        <p:nvSpPr>
          <p:cNvPr id="10" name="Card_P3"/>
          <p:cNvSpPr/>
          <p:nvPr/>
        </p:nvSpPr>
        <p:spPr>
          <a:xfrm>
            <a:off x="517625" y="13064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000" b="1" dirty="0">
                <a:solidFill>
                  <a:srgbClr val="334155"/>
                </a:solidFill>
              </a:rPr>
              <a:t>P3</a:t>
            </a:r>
          </a:p>
          <a:p>
            <a:pPr>
              <a:buNone/>
            </a:pPr>
            <a:r>
              <a:rPr lang="en-US" sz="1400" dirty="0">
                <a:solidFill>
                  <a:srgbClr val="0F172A"/>
                </a:solidFill>
              </a:rPr>
              <a:t>Platform Anti-Abuse Circumvention</a:t>
            </a:r>
          </a:p>
          <a:p>
            <a:pPr>
              <a:buNone/>
            </a:pPr>
            <a:r>
              <a:rPr lang="en-US" sz="1400" b="1" dirty="0">
                <a:solidFill>
                  <a:srgbClr val="0E9F6E"/>
                </a:solidFill>
              </a:rPr>
              <a:t>Target: 15,000 rows</a:t>
            </a:r>
          </a:p>
        </p:txBody>
      </p:sp>
      <p:sp>
        <p:nvSpPr>
          <p:cNvPr id="11" name="Card_P5"/>
          <p:cNvSpPr/>
          <p:nvPr/>
        </p:nvSpPr>
        <p:spPr>
          <a:xfrm>
            <a:off x="4327625" y="13064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000" b="1" dirty="0">
                <a:solidFill>
                  <a:srgbClr val="334155"/>
                </a:solidFill>
              </a:rPr>
              <a:t>P5</a:t>
            </a:r>
          </a:p>
          <a:p>
            <a:pPr>
              <a:buNone/>
            </a:pPr>
            <a:r>
              <a:rPr lang="en-US" sz="1400" dirty="0">
                <a:solidFill>
                  <a:srgbClr val="0F172A"/>
                </a:solidFill>
              </a:rPr>
              <a:t>Copyright, Plagiarism &amp; Unauthorized Reproduction</a:t>
            </a:r>
          </a:p>
          <a:p>
            <a:pPr>
              <a:buNone/>
            </a:pPr>
            <a:r>
              <a:rPr lang="en-US" sz="1400" b="1" dirty="0">
                <a:solidFill>
                  <a:srgbClr val="0E9F6E"/>
                </a:solidFill>
              </a:rPr>
              <a:t>Target: 15,000 rows</a:t>
            </a:r>
          </a:p>
        </p:txBody>
      </p:sp>
      <p:sp>
        <p:nvSpPr>
          <p:cNvPr id="12" name="Card_P18"/>
          <p:cNvSpPr/>
          <p:nvPr/>
        </p:nvSpPr>
        <p:spPr>
          <a:xfrm>
            <a:off x="8137625" y="13064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000" b="1" dirty="0">
                <a:solidFill>
                  <a:srgbClr val="334155"/>
                </a:solidFill>
              </a:rPr>
              <a:t>P18</a:t>
            </a:r>
          </a:p>
          <a:p>
            <a:pPr>
              <a:buNone/>
            </a:pPr>
            <a:r>
              <a:rPr lang="en-US" sz="1400" dirty="0">
                <a:solidFill>
                  <a:srgbClr val="0F172A"/>
                </a:solidFill>
              </a:rPr>
              <a:t>Regulated Professional Advice</a:t>
            </a:r>
          </a:p>
          <a:p>
            <a:pPr>
              <a:buNone/>
            </a:pPr>
            <a:r>
              <a:rPr lang="en-US" sz="1400" b="1" dirty="0">
                <a:solidFill>
                  <a:srgbClr val="0E9F6E"/>
                </a:solidFill>
              </a:rPr>
              <a:t>Target: 15,000 rows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BF72F-8EDE-3195-AF1C-81D8E4F8D4D6}"/>
              </a:ext>
            </a:extLst>
          </p:cNvPr>
          <p:cNvSpPr txBox="1"/>
          <p:nvPr/>
        </p:nvSpPr>
        <p:spPr>
          <a:xfrm>
            <a:off x="517625" y="2782669"/>
            <a:ext cx="928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About 45k images passed through the Qwen3.5-397B-A17B model to generate harmful queries for each image based on the policy.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1C16D-AF3B-1582-CE94-8682AEFD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865" y="3249941"/>
            <a:ext cx="6622181" cy="3502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0749BB-1E83-D20F-59FD-0F273767C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25" y="3682208"/>
            <a:ext cx="3898115" cy="263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6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39F236-26F9-6730-14D4-125D0975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Pass@5 for the Training 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8120B-1B9C-52C9-FA54-2AE2C1BEB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6" y="2170496"/>
            <a:ext cx="5650484" cy="3823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50BE30-88E3-7F8A-C65B-B9B08DB75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70496"/>
            <a:ext cx="5234853" cy="361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0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428C-6228-B8FC-7C00-3C50204B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/>
              <a:t>Split Map</a:t>
            </a:r>
          </a:p>
        </p:txBody>
      </p:sp>
      <p:graphicFrame>
        <p:nvGraphicFramePr>
          <p:cNvPr id="5" name="SplitTable">
            <a:extLst>
              <a:ext uri="{FF2B5EF4-FFF2-40B4-BE49-F238E27FC236}">
                <a16:creationId xmlns:a16="http://schemas.microsoft.com/office/drawing/2014/main" id="{D782A185-439E-9143-8294-5E0BE4DB8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889783"/>
              </p:ext>
            </p:extLst>
          </p:nvPr>
        </p:nvGraphicFramePr>
        <p:xfrm>
          <a:off x="508000" y="1778000"/>
          <a:ext cx="5461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58049755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386979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456945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2070975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929430808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41659416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Safe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Unsafe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N-R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122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SFT 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96,000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41,465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52,799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1,736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SFT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8075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SFT Val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5,000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2,159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2,752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89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Checkpoint sel.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04798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RL 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3,027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6,703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GRPO, difficulty-stratified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6223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RL Val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5,000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1,962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2,891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RL checkpoint sel.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1342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Not 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46270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2284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43506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430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Literally, we didn’t use 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7357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31,201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13,831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17,370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0F172A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12 external benchmarks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987666"/>
                  </a:ext>
                </a:extLst>
              </a:tr>
            </a:tbl>
          </a:graphicData>
        </a:graphic>
      </p:graphicFrame>
      <p:sp>
        <p:nvSpPr>
          <p:cNvPr id="6" name="MixCaption">
            <a:extLst>
              <a:ext uri="{FF2B5EF4-FFF2-40B4-BE49-F238E27FC236}">
                <a16:creationId xmlns:a16="http://schemas.microsoft.com/office/drawing/2014/main" id="{4584C354-0A68-7D4C-956E-5242BB60CBF9}"/>
              </a:ext>
            </a:extLst>
          </p:cNvPr>
          <p:cNvSpPr txBox="1"/>
          <p:nvPr/>
        </p:nvSpPr>
        <p:spPr>
          <a:xfrm>
            <a:off x="6223000" y="6350000"/>
            <a:ext cx="5461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rgbClr val="334155"/>
                </a:solidFill>
              </a:rPr>
              <a:t>SFT-train mix: 43.2% safe, 55.0% unsafe, 1.8% needs-review.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223000" y="1778000"/>
          <a:ext cx="5461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968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61BD-0A6B-D2AB-2F3E-BCDA275ED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0" y="1726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SFT Train Split </a:t>
            </a:r>
            <a:r>
              <a:rPr lang="en-US" sz="1800" b="1" dirty="0"/>
              <a:t>(Difficulty)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0D87D4-78C2-1D21-A2EF-A70E94419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9" y="1981432"/>
            <a:ext cx="6672948" cy="352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B08E79-346F-189A-69D1-4944F339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639" y="3431406"/>
            <a:ext cx="4272164" cy="2890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7170BF-E781-44D0-3A72-0F8EAB5F2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222" y="685154"/>
            <a:ext cx="3754998" cy="259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3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C2110-DBBA-0194-4FE4-DB7BFC52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E50-6A2E-7000-F9C2-688FF274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0" y="1726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SFT Val Split </a:t>
            </a:r>
            <a:r>
              <a:rPr lang="en-US" sz="1800" b="1" dirty="0"/>
              <a:t>(Difficulty)</a:t>
            </a:r>
            <a:endParaRPr lang="en-US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C3F87-AC20-9661-2000-562119EB2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639" y="3431406"/>
            <a:ext cx="4272164" cy="2890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673508-ABE7-C637-B859-0F3231CCC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222" y="685154"/>
            <a:ext cx="3754998" cy="2592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F2AF5D-0887-37FE-CF97-C440CC43B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28" y="1882885"/>
            <a:ext cx="6486186" cy="34302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58F4DF-805D-CBA5-5F3C-C05B5F44F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647" y="535656"/>
            <a:ext cx="3950148" cy="2789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043244-2638-8AF1-CD36-903771EA4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292" y="3426594"/>
            <a:ext cx="4335680" cy="29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7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297B-35F9-45E9-01FE-ADD0A759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D58A-9A97-8F1A-9BBC-AA69FEC8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0" y="1726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RL Train Split </a:t>
            </a:r>
            <a:r>
              <a:rPr lang="en-US" sz="1800" b="1" dirty="0"/>
              <a:t>(Difficulty)</a:t>
            </a:r>
            <a:endParaRPr lang="en-US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45D846-AD12-2A11-87F9-E3307CC4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639" y="3431406"/>
            <a:ext cx="4272164" cy="2890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736950-36BD-DFE2-8480-50070D060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222" y="685154"/>
            <a:ext cx="3754998" cy="2592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8AB991-70CA-21A3-CEF5-3D01290B4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28" y="1882885"/>
            <a:ext cx="6486186" cy="34302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1E7832-69FE-EBBE-5503-B8A02D9E5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647" y="535656"/>
            <a:ext cx="3950148" cy="2789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0F99A-F5B1-46EA-E0D3-0E5609A13C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292" y="3426594"/>
            <a:ext cx="4335680" cy="2995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07CD01-7BAB-DAEB-AC84-18CF698B77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78" y="1930552"/>
            <a:ext cx="6486186" cy="3430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E39D19-6D40-0759-3E44-C59DD3B6B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3554" y="3481622"/>
            <a:ext cx="4183830" cy="2890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501AB6-07FF-5765-874B-E627121A13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3222" y="560605"/>
            <a:ext cx="3950148" cy="278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D2244-5AB4-E016-E795-A9652927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75CF-A6FC-392E-5D43-9FC56570B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0" y="1726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RL Val Split </a:t>
            </a:r>
            <a:r>
              <a:rPr lang="en-US" sz="1800" b="1" dirty="0"/>
              <a:t>(Difficulty)</a:t>
            </a:r>
            <a:endParaRPr lang="en-US" sz="3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CAE1EE-7FE0-1196-8A60-66372DD0F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222" y="685154"/>
            <a:ext cx="3754998" cy="2592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775311-53E3-3ECA-0CAD-A977EAE77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28" y="1882885"/>
            <a:ext cx="6486186" cy="34302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4FD5DD-3007-8B5C-32D0-837AD867A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647" y="535656"/>
            <a:ext cx="3950148" cy="2789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9DDA0E-51E3-CB74-2CCD-6973BEE47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10" y="1746985"/>
            <a:ext cx="6743156" cy="356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4BFC25-F810-4683-AA7C-CC9C644F5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242" y="535656"/>
            <a:ext cx="3882553" cy="27420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AE15BA-68F5-CDD7-2AF0-742A01A3E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8184" y="3325448"/>
            <a:ext cx="4683927" cy="323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5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A43D-BFC5-2B57-6A23-5A3980B7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000" b="1" dirty="0"/>
              <a:t>SFT Training Run: Configuration &amp; Curves </a:t>
            </a:r>
            <a:r>
              <a:rPr lang="en-US" sz="1600" b="1" dirty="0"/>
              <a:t>(Qwen SFT CKPT-4000)</a:t>
            </a:r>
            <a:endParaRPr lang="en-US" sz="3000" b="1" dirty="0"/>
          </a:p>
        </p:txBody>
      </p:sp>
      <p:graphicFrame>
        <p:nvGraphicFramePr>
          <p:cNvPr id="4" name="ConfigTable">
            <a:extLst>
              <a:ext uri="{FF2B5EF4-FFF2-40B4-BE49-F238E27FC236}">
                <a16:creationId xmlns:a16="http://schemas.microsoft.com/office/drawing/2014/main" id="{926056AC-3D5B-084E-8199-95102AB3A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307418"/>
              </p:ext>
            </p:extLst>
          </p:nvPr>
        </p:nvGraphicFramePr>
        <p:xfrm>
          <a:off x="488749" y="1976677"/>
          <a:ext cx="5842000" cy="393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78599957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6100756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19494707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749622285"/>
                    </a:ext>
                  </a:extLst>
                </a:gridCol>
              </a:tblGrid>
              <a:tr h="616856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21858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Qwen3.5-4B, full fine-tune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Final step train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172A"/>
                          </a:solidFill>
                        </a:rPr>
                        <a:t>0.0166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102040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Train / Val rows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96,000 / 1,024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Final overall train loss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172A"/>
                          </a:solidFill>
                        </a:rPr>
                        <a:t>0.0269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564242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Epochs /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172A"/>
                          </a:solidFill>
                        </a:rPr>
                        <a:t>2 / 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Final token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172A"/>
                          </a:solidFill>
                        </a:rPr>
                        <a:t>99.4%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648995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LR / Warmup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172A"/>
                          </a:solidFill>
                        </a:rPr>
                        <a:t>1e-5 / 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Best eval label-correctness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F172A"/>
                          </a:solidFill>
                        </a:rPr>
                        <a:t>95.08% (step 1,920)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489878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Global batch / Max seq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48 / 3,072 </a:t>
                      </a:r>
                      <a:r>
                        <a:rPr lang="en-US" sz="1400" b="1" dirty="0" err="1">
                          <a:solidFill>
                            <a:srgbClr val="0F172A"/>
                          </a:solidFill>
                        </a:rPr>
                        <a:t>tok</a:t>
                      </a:r>
                      <a:endParaRPr lang="en-US" sz="1400" b="1" dirty="0">
                        <a:solidFill>
                          <a:srgbClr val="0F172A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F172A"/>
                          </a:solidFill>
                        </a:rPr>
                        <a:t>Eval unsafe P / R / 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96.4% / 93.3% / 94.8%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71479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FA0CA75-EE77-BCC9-577D-4F9970582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709" y="1621670"/>
            <a:ext cx="4854582" cy="2334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12AF44-B4CA-1188-D715-871D399F4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485" y="3941909"/>
            <a:ext cx="4854582" cy="233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69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DA65-C403-5B31-B4EE-5FACA2E5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FPR and FNR convergence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63107-D731-7B78-7B8F-238EA2053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91" y="2577379"/>
            <a:ext cx="4686727" cy="2258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3F39B-1AAE-3E86-A22E-71D43368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84" y="2604295"/>
            <a:ext cx="4608945" cy="223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55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57A3-F5F8-9AFF-8A5B-1E349A0F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000" b="1" dirty="0"/>
              <a:t>Test Set: Overall Comparison </a:t>
            </a:r>
            <a:r>
              <a:rPr lang="en-US" sz="1800" dirty="0"/>
              <a:t>(Claude + Public labels)</a:t>
            </a:r>
            <a:endParaRPr lang="en-US" sz="3000" dirty="0"/>
          </a:p>
        </p:txBody>
      </p:sp>
      <p:sp>
        <p:nvSpPr>
          <p:cNvPr id="3" name="Callout">
            <a:extLst>
              <a:ext uri="{FF2B5EF4-FFF2-40B4-BE49-F238E27FC236}">
                <a16:creationId xmlns:a16="http://schemas.microsoft.com/office/drawing/2014/main" id="{23357397-A3FA-5643-BAC7-A4CFF29090F0}"/>
              </a:ext>
            </a:extLst>
          </p:cNvPr>
          <p:cNvSpPr txBox="1"/>
          <p:nvPr/>
        </p:nvSpPr>
        <p:spPr>
          <a:xfrm>
            <a:off x="838200" y="1319290"/>
            <a:ext cx="1117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334155"/>
                </a:solidFill>
              </a:rPr>
              <a:t>31,201 held-out rows • positive = unsafe</a:t>
            </a:r>
          </a:p>
        </p:txBody>
      </p:sp>
      <p:sp>
        <p:nvSpPr>
          <p:cNvPr id="7" name="RLNote">
            <a:extLst>
              <a:ext uri="{FF2B5EF4-FFF2-40B4-BE49-F238E27FC236}">
                <a16:creationId xmlns:a16="http://schemas.microsoft.com/office/drawing/2014/main" id="{AFCA3BFD-D76B-254A-B77C-6F939B43474B}"/>
              </a:ext>
            </a:extLst>
          </p:cNvPr>
          <p:cNvSpPr txBox="1"/>
          <p:nvPr/>
        </p:nvSpPr>
        <p:spPr>
          <a:xfrm>
            <a:off x="4321208" y="5999371"/>
            <a:ext cx="445569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F172A"/>
                </a:solidFill>
              </a:rPr>
              <a:t>SFT+RL checkpoint (SFT, ckpt1894): </a:t>
            </a:r>
            <a:r>
              <a:rPr lang="en-US" sz="1400" b="1" dirty="0">
                <a:solidFill>
                  <a:srgbClr val="0E9F6E"/>
                </a:solidFill>
              </a:rPr>
              <a:t>86.8% acc, 87.7% F1</a:t>
            </a:r>
            <a:endParaRPr lang="en-US" sz="1400" dirty="0">
              <a:solidFill>
                <a:srgbClr val="0F172A"/>
              </a:solidFill>
            </a:endParaRP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045644198"/>
              </p:ext>
            </p:extLst>
          </p:nvPr>
        </p:nvGraphicFramePr>
        <p:xfrm>
          <a:off x="447040" y="2091815"/>
          <a:ext cx="5588000" cy="370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14EA172D-AA2C-7759-9ACC-2348EC028D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950883"/>
              </p:ext>
            </p:extLst>
          </p:nvPr>
        </p:nvGraphicFramePr>
        <p:xfrm>
          <a:off x="5982903" y="2091815"/>
          <a:ext cx="5588000" cy="370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45ACACB-E2B6-55A1-8CB7-64D0C6C5AF6C}"/>
              </a:ext>
            </a:extLst>
          </p:cNvPr>
          <p:cNvSpPr txBox="1"/>
          <p:nvPr/>
        </p:nvSpPr>
        <p:spPr>
          <a:xfrm>
            <a:off x="8463048" y="836953"/>
            <a:ext cx="2587568" cy="95410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Nemotron3 Base</a:t>
            </a:r>
          </a:p>
          <a:p>
            <a:r>
              <a:rPr lang="en-US" sz="1400" dirty="0">
                <a:solidFill>
                  <a:srgbClr val="0070C0"/>
                </a:solidFill>
              </a:rPr>
              <a:t>Qwen3.5-4B Base (Non Thinking)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Qwen3.5-4B Base (Thinking)</a:t>
            </a:r>
          </a:p>
          <a:p>
            <a:r>
              <a:rPr lang="en-US" sz="1400" dirty="0">
                <a:solidFill>
                  <a:srgbClr val="00B050"/>
                </a:solidFill>
              </a:rPr>
              <a:t>Qwen3.5-4B SFT CKPT-4000</a:t>
            </a:r>
          </a:p>
        </p:txBody>
      </p:sp>
    </p:spTree>
    <p:extLst>
      <p:ext uri="{BB962C8B-B14F-4D97-AF65-F5344CB8AC3E}">
        <p14:creationId xmlns:p14="http://schemas.microsoft.com/office/powerpoint/2010/main" val="3333307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903E8-C649-B131-5C51-E506715E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000" b="1" dirty="0"/>
              <a:t>Per-Dataset F1 (sorted by SFT F1) </a:t>
            </a:r>
            <a:r>
              <a:rPr lang="en-US" sz="1800" dirty="0"/>
              <a:t>(Just Claude)</a:t>
            </a:r>
            <a:endParaRPr lang="en-US" sz="3000" dirty="0"/>
          </a:p>
        </p:txBody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B09AF701-EB77-8A47-A9B5-6877F3B70E90}"/>
              </a:ext>
            </a:extLst>
          </p:cNvPr>
          <p:cNvSpPr txBox="1"/>
          <p:nvPr/>
        </p:nvSpPr>
        <p:spPr>
          <a:xfrm>
            <a:off x="508000" y="5943600"/>
            <a:ext cx="11176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F172A"/>
                </a:solidFill>
              </a:rPr>
              <a:t>SFT leads on 9 of 12 datasets.</a:t>
            </a:r>
            <a:r>
              <a:rPr lang="en-US" sz="1400" dirty="0">
                <a:solidFill>
                  <a:srgbClr val="334155"/>
                </a:solidFill>
              </a:rPr>
              <a:t> Largest gain vs. Nemotron: redteaming-vlm </a:t>
            </a:r>
            <a:r>
              <a:rPr lang="en-US" sz="1400" b="1" dirty="0">
                <a:solidFill>
                  <a:srgbClr val="0E9F6E"/>
                </a:solidFill>
              </a:rPr>
              <a:t>+54.1 pp</a:t>
            </a:r>
            <a:r>
              <a:rPr lang="en-US" sz="1400" dirty="0">
                <a:solidFill>
                  <a:srgbClr val="334155"/>
                </a:solidFill>
              </a:rPr>
              <a:t> (0.327 → 0.868). Qwen-thinking leads on vlsbench, salad, siuo.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08000" y="1841500"/>
          <a:ext cx="11176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337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517A-5699-5D89-97EE-F5471BD4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600" b="1" dirty="0"/>
              <a:t>Over-Refusal Benchmark: MMMU + </a:t>
            </a:r>
            <a:r>
              <a:rPr lang="en-US" sz="2600" b="1" dirty="0" err="1"/>
              <a:t>MultiModal-RewardBench</a:t>
            </a:r>
            <a:endParaRPr lang="en-US" sz="2600" b="1" dirty="0"/>
          </a:p>
        </p:txBody>
      </p:sp>
      <p:sp>
        <p:nvSpPr>
          <p:cNvPr id="3" name="Callout">
            <a:extLst>
              <a:ext uri="{FF2B5EF4-FFF2-40B4-BE49-F238E27FC236}">
                <a16:creationId xmlns:a16="http://schemas.microsoft.com/office/drawing/2014/main" id="{E55BF367-7D01-3F48-BBC6-D13C2A139E3C}"/>
              </a:ext>
            </a:extLst>
          </p:cNvPr>
          <p:cNvSpPr txBox="1"/>
          <p:nvPr/>
        </p:nvSpPr>
        <p:spPr>
          <a:xfrm>
            <a:off x="838200" y="1483092"/>
            <a:ext cx="1117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/>
              <a:t>15,211 benign rows</a:t>
            </a:r>
            <a:r>
              <a:rPr lang="en-US" sz="1600" dirty="0"/>
              <a:t> (MMMU 10,500 + Multimodal-RewardBench 4,711)</a:t>
            </a:r>
          </a:p>
          <a:p>
            <a:pPr>
              <a:buNone/>
            </a:pPr>
            <a:r>
              <a:rPr lang="en-US" sz="1600" dirty="0"/>
              <a:t>Precision = 1.0 by construction.</a:t>
            </a:r>
          </a:p>
        </p:txBody>
      </p:sp>
      <p:graphicFrame>
        <p:nvGraphicFramePr>
          <p:cNvPr id="101" name="Chart F1"/>
          <p:cNvGraphicFramePr/>
          <p:nvPr>
            <p:extLst>
              <p:ext uri="{D42A27DB-BD31-4B8C-83A1-F6EECF244321}">
                <p14:modId xmlns:p14="http://schemas.microsoft.com/office/powerpoint/2010/main" val="3187896930"/>
              </p:ext>
            </p:extLst>
          </p:nvPr>
        </p:nvGraphicFramePr>
        <p:xfrm>
          <a:off x="838200" y="2309127"/>
          <a:ext cx="355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FP"/>
          <p:cNvGraphicFramePr/>
          <p:nvPr>
            <p:extLst>
              <p:ext uri="{D42A27DB-BD31-4B8C-83A1-F6EECF244321}">
                <p14:modId xmlns:p14="http://schemas.microsoft.com/office/powerpoint/2010/main" val="2426634269"/>
              </p:ext>
            </p:extLst>
          </p:nvPr>
        </p:nvGraphicFramePr>
        <p:xfrm>
          <a:off x="4775200" y="2309127"/>
          <a:ext cx="629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63535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F36E-0E79-F40D-EF58-8715310A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Observations on MMMU and MMRewardBench outputs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F97F9-8008-F28F-2C10-5F93FB478E35}"/>
              </a:ext>
            </a:extLst>
          </p:cNvPr>
          <p:cNvSpPr txBox="1"/>
          <p:nvPr/>
        </p:nvSpPr>
        <p:spPr>
          <a:xfrm>
            <a:off x="1097280" y="1521411"/>
            <a:ext cx="10389326" cy="297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Reviewed about ~100 samples, where SFT model had false positive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/>
              <a:t>P3 – Captchas. Roads were flagged unsafe.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/>
              <a:t>P5 – Copyright. Websites or any work with Logos or anything marked unsafe.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/>
              <a:t>P18 – Medical advices and financial documents marked unsafe. Fine with medical advices but for financial docs, a high false positive rate.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- Mainly these three in terms of failure modes.</a:t>
            </a:r>
          </a:p>
        </p:txBody>
      </p:sp>
    </p:spTree>
    <p:extLst>
      <p:ext uri="{BB962C8B-B14F-4D97-AF65-F5344CB8AC3E}">
        <p14:creationId xmlns:p14="http://schemas.microsoft.com/office/powerpoint/2010/main" val="220436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B66A-1F22-6A18-D50A-8E886254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762C-B531-FBB5-01CC-8AEB697D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Observations on Qwen3.5-4B-SFT on Test 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2D9EB-3010-8D25-10CC-F1405F4E04F4}"/>
              </a:ext>
            </a:extLst>
          </p:cNvPr>
          <p:cNvSpPr txBox="1"/>
          <p:nvPr/>
        </p:nvSpPr>
        <p:spPr>
          <a:xfrm>
            <a:off x="1097280" y="1521411"/>
            <a:ext cx="10389326" cy="3378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Reviewed about ~80 samples, where SFT model had False Positive as well as False Negative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False Positive (40 samples). </a:t>
            </a: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sz="1600" dirty="0"/>
              <a:t>About 60% of the time, Qwen flagging something Unsafe is genuinely Unsafe, as well as Policies selected were Fairly correct</a:t>
            </a: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sz="1600" dirty="0"/>
              <a:t>Issue with Roads is still constant here too.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False Negative (40 samples). </a:t>
            </a: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sz="1600" dirty="0"/>
              <a:t>About 95% of the time, Claude flagging something Unsafe is genuinely Unsafe, as well as Policies selected were Fairly correct here as well.</a:t>
            </a: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sz="1600" dirty="0"/>
              <a:t>Some of the most straightforward ones from policies that had gaps, were flagged incorrectly by Qwen.</a:t>
            </a:r>
          </a:p>
        </p:txBody>
      </p:sp>
    </p:spTree>
    <p:extLst>
      <p:ext uri="{BB962C8B-B14F-4D97-AF65-F5344CB8AC3E}">
        <p14:creationId xmlns:p14="http://schemas.microsoft.com/office/powerpoint/2010/main" val="2025623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7A45-C9B5-42CF-EBE3-A26A7FBD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99BB-51B3-95B5-EAC4-A8066794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Observations on Qwen Base Thinking on Test 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63025-79C0-AC5F-CB58-6BC7AD13C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36" y="1345243"/>
            <a:ext cx="6213409" cy="5147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7E275-0F53-B47F-6D88-7B1580BC4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6" y="1027906"/>
            <a:ext cx="3563450" cy="514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40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1932-38B8-45CA-CE00-BC6D9DAE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0" y="18961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/>
              <a:t>Observations on Qwen Base Thinking on Test Set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E3AD77-7170-4729-1FEF-282840C98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256"/>
            <a:ext cx="7772400" cy="3331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432B4D-040D-3053-D178-A91E589F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379" y="302704"/>
            <a:ext cx="4727990" cy="62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26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913730762]">
  <a:themeElements>
    <a:clrScheme name="Office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0E9F6E"/>
      </a:accent1>
      <a:accent2>
        <a:srgbClr val="2563EB"/>
      </a:accent2>
      <a:accent3>
        <a:srgbClr val="7C3AED"/>
      </a:accent3>
      <a:accent4>
        <a:srgbClr val="94A3B8"/>
      </a:accent4>
      <a:accent5>
        <a:srgbClr val="F59E0B"/>
      </a:accent5>
      <a:accent6>
        <a:srgbClr val="64748B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F32057-88CF-1545-B602-7228494A15F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d4cd0a9-65cc-4dac-95fc-b94d4f8143e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723</Words>
  <Application>Microsoft Macintosh PowerPoint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Inter</vt:lpstr>
      <vt:lpstr>Office Theme [1782913730762]</vt:lpstr>
      <vt:lpstr>Multimodal Input Guardrail (MMIG): Progress Update</vt:lpstr>
      <vt:lpstr>Agenda</vt:lpstr>
      <vt:lpstr>Synthetic Compositional-Harm Data (129k + 45k (new data) – 13k (deduplication)) = 161k</vt:lpstr>
      <vt:lpstr>Pass@5 for the Training DS</vt:lpstr>
      <vt:lpstr>Split Map</vt:lpstr>
      <vt:lpstr>SFT Train Split (Difficulty)</vt:lpstr>
      <vt:lpstr>SFT Val Split (Difficulty)</vt:lpstr>
      <vt:lpstr>RL Train Split (Difficulty)</vt:lpstr>
      <vt:lpstr>RL Val Split (Difficulty)</vt:lpstr>
      <vt:lpstr>SFT Training Run: Configuration &amp; Curves (Qwen SFT CKPT-4000)</vt:lpstr>
      <vt:lpstr>FPR and FNR convergence</vt:lpstr>
      <vt:lpstr>Test Set: Overall Comparison (Claude + Public labels)</vt:lpstr>
      <vt:lpstr>Per-Dataset F1 (sorted by SFT F1) (Just Claude)</vt:lpstr>
      <vt:lpstr>Over-Refusal Benchmark: MMMU + MultiModal-RewardBench</vt:lpstr>
      <vt:lpstr>Observations on MMMU and MMRewardBench outputs</vt:lpstr>
      <vt:lpstr>Observations on Qwen3.5-4B-SFT on Test Set</vt:lpstr>
      <vt:lpstr>Observations on Qwen Base Thinking on Test Set</vt:lpstr>
      <vt:lpstr>Observations on Qwen Base Thinking on Test 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Kunj Shah</dc:creator>
  <cp:lastModifiedBy>Kunj Shah</cp:lastModifiedBy>
  <cp:revision>17</cp:revision>
  <dcterms:created xsi:type="dcterms:W3CDTF">2026-07-01T13:40:41Z</dcterms:created>
  <dcterms:modified xsi:type="dcterms:W3CDTF">2026-07-01T22:36:32Z</dcterms:modified>
</cp:coreProperties>
</file>