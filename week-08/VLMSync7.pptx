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71" r:id="rId4"/>
    <p:sldId id="260" r:id="rId5"/>
    <p:sldId id="261" r:id="rId6"/>
    <p:sldId id="262" r:id="rId7"/>
    <p:sldId id="263" r:id="rId8"/>
    <p:sldId id="264" r:id="rId9"/>
    <p:sldId id="265" r:id="rId10"/>
    <p:sldId id="274" r:id="rId11"/>
    <p:sldId id="266" r:id="rId12"/>
    <p:sldId id="267" r:id="rId13"/>
    <p:sldId id="269" r:id="rId14"/>
    <p:sldId id="270" r:id="rId15"/>
    <p:sldId id="272" r:id="rId16"/>
    <p:sldId id="273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47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2980252-9CFF-C446-8761-43058CDF35F3}" type="doc">
      <dgm:prSet loTypeId="urn:microsoft.com/office/officeart/2005/8/layout/vProcess5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2D09B3-DA34-694E-A9D4-F0F7E1FA8E02}">
      <dgm:prSet phldrT="[Text]" custT="1"/>
      <dgm:spPr>
        <a:solidFill>
          <a:schemeClr val="accent1">
            <a:lumMod val="60000"/>
            <a:lumOff val="4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sz="2400" dirty="0" err="1">
              <a:solidFill>
                <a:schemeClr val="tx1"/>
              </a:solidFill>
              <a:latin typeface="Abadi MT Condensed Light" panose="020B0306030101010103" pitchFamily="34" charset="77"/>
            </a:rPr>
            <a:t>SafeRLHF</a:t>
          </a:r>
          <a:r>
            <a:rPr lang="en-US" sz="2400" dirty="0">
              <a:solidFill>
                <a:schemeClr val="tx1"/>
              </a:solidFill>
              <a:latin typeface="Abadi MT Condensed Light" panose="020B0306030101010103" pitchFamily="34" charset="77"/>
            </a:rPr>
            <a:t> text dataset (We tested with 20k data samples)</a:t>
          </a:r>
        </a:p>
      </dgm:t>
    </dgm:pt>
    <dgm:pt modelId="{EF7A48F5-395E-AE41-A118-2DAE2B34E5BC}" type="parTrans" cxnId="{1C6B07BB-53E2-4840-B470-7482B2A185A7}">
      <dgm:prSet/>
      <dgm:spPr/>
      <dgm:t>
        <a:bodyPr/>
        <a:lstStyle/>
        <a:p>
          <a:endParaRPr lang="en-US" sz="1200">
            <a:latin typeface="Abadi MT Condensed Light" panose="020B0306030101010103" pitchFamily="34" charset="77"/>
          </a:endParaRPr>
        </a:p>
      </dgm:t>
    </dgm:pt>
    <dgm:pt modelId="{F9215612-81A1-D64B-A70B-4B6A3F13A502}" type="sibTrans" cxnId="{1C6B07BB-53E2-4840-B470-7482B2A185A7}">
      <dgm:prSet custT="1"/>
      <dgm:spPr/>
      <dgm:t>
        <a:bodyPr/>
        <a:lstStyle/>
        <a:p>
          <a:endParaRPr lang="en-US" sz="2400">
            <a:latin typeface="Abadi MT Condensed Light" panose="020B0306030101010103" pitchFamily="34" charset="77"/>
          </a:endParaRPr>
        </a:p>
      </dgm:t>
    </dgm:pt>
    <dgm:pt modelId="{428E9EB0-8A17-144E-9E50-EE22B0274362}">
      <dgm:prSet phldrT="[Text]" custT="1"/>
      <dgm:spPr>
        <a:solidFill>
          <a:schemeClr val="accent1">
            <a:lumMod val="60000"/>
            <a:lumOff val="4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sz="2400" b="1" dirty="0">
              <a:solidFill>
                <a:schemeClr val="tx1"/>
              </a:solidFill>
              <a:latin typeface="Abadi MT Condensed Light" panose="020B0306030101010103" pitchFamily="34" charset="77"/>
            </a:rPr>
            <a:t>Stage 2: </a:t>
          </a:r>
          <a:r>
            <a:rPr lang="en-US" sz="2400" dirty="0">
              <a:solidFill>
                <a:schemeClr val="tx1"/>
              </a:solidFill>
              <a:latin typeface="Abadi MT Condensed Light" panose="020B0306030101010103" pitchFamily="34" charset="77"/>
            </a:rPr>
            <a:t>Optimize synthetic visual tokens, initialized with a black image</a:t>
          </a:r>
        </a:p>
      </dgm:t>
    </dgm:pt>
    <dgm:pt modelId="{BBD74E68-E458-F04D-B468-B4A36149F0FB}" type="parTrans" cxnId="{047C177B-CB6E-504D-82F5-5269E7DACA2D}">
      <dgm:prSet/>
      <dgm:spPr/>
      <dgm:t>
        <a:bodyPr/>
        <a:lstStyle/>
        <a:p>
          <a:endParaRPr lang="en-US" sz="1200">
            <a:latin typeface="Abadi MT Condensed Light" panose="020B0306030101010103" pitchFamily="34" charset="77"/>
          </a:endParaRPr>
        </a:p>
      </dgm:t>
    </dgm:pt>
    <dgm:pt modelId="{1F769F90-EC25-664A-9D41-45F975F8D03D}" type="sibTrans" cxnId="{047C177B-CB6E-504D-82F5-5269E7DACA2D}">
      <dgm:prSet custT="1"/>
      <dgm:spPr/>
      <dgm:t>
        <a:bodyPr/>
        <a:lstStyle/>
        <a:p>
          <a:endParaRPr lang="en-US" sz="2400">
            <a:latin typeface="Abadi MT Condensed Light" panose="020B0306030101010103" pitchFamily="34" charset="77"/>
          </a:endParaRPr>
        </a:p>
      </dgm:t>
    </dgm:pt>
    <dgm:pt modelId="{D91A846A-AAA7-454B-AC06-684A6779D2F5}">
      <dgm:prSet phldrT="[Text]" custT="1"/>
      <dgm:spPr>
        <a:solidFill>
          <a:schemeClr val="accent1">
            <a:lumMod val="60000"/>
            <a:lumOff val="4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sz="2400" b="1" dirty="0">
              <a:solidFill>
                <a:schemeClr val="tx1"/>
              </a:solidFill>
              <a:latin typeface="Abadi MT Condensed Light" panose="020B0306030101010103" pitchFamily="34" charset="77"/>
            </a:rPr>
            <a:t>Stage 3:</a:t>
          </a:r>
          <a:r>
            <a:rPr lang="en-US" sz="2400" dirty="0">
              <a:solidFill>
                <a:schemeClr val="tx1"/>
              </a:solidFill>
              <a:latin typeface="Abadi MT Condensed Light" panose="020B0306030101010103" pitchFamily="34" charset="77"/>
            </a:rPr>
            <a:t> Train a guardrail on top of the synthetic embedding and training data from step 1</a:t>
          </a:r>
        </a:p>
      </dgm:t>
    </dgm:pt>
    <dgm:pt modelId="{122A29E5-0C16-DD4F-A33C-7C22AD6AF29F}" type="parTrans" cxnId="{9C74DCE3-FFC7-7E43-B971-39E506069812}">
      <dgm:prSet/>
      <dgm:spPr/>
      <dgm:t>
        <a:bodyPr/>
        <a:lstStyle/>
        <a:p>
          <a:endParaRPr lang="en-US" sz="1200">
            <a:latin typeface="Abadi MT Condensed Light" panose="020B0306030101010103" pitchFamily="34" charset="77"/>
          </a:endParaRPr>
        </a:p>
      </dgm:t>
    </dgm:pt>
    <dgm:pt modelId="{13217069-BC32-804D-850D-5D764BF1C316}" type="sibTrans" cxnId="{9C74DCE3-FFC7-7E43-B971-39E506069812}">
      <dgm:prSet/>
      <dgm:spPr/>
      <dgm:t>
        <a:bodyPr/>
        <a:lstStyle/>
        <a:p>
          <a:endParaRPr lang="en-US" sz="1200">
            <a:latin typeface="Abadi MT Condensed Light" panose="020B0306030101010103" pitchFamily="34" charset="77"/>
          </a:endParaRPr>
        </a:p>
      </dgm:t>
    </dgm:pt>
    <dgm:pt modelId="{D73090D4-B48B-A245-B239-CBEE6FEF8200}">
      <dgm:prSet phldrT="[Text]" custT="1"/>
      <dgm:spPr>
        <a:solidFill>
          <a:schemeClr val="accent1">
            <a:lumMod val="60000"/>
            <a:lumOff val="40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en-US" sz="2400" b="1" dirty="0">
              <a:solidFill>
                <a:schemeClr val="tx1"/>
              </a:solidFill>
              <a:latin typeface="Abadi MT Condensed Light" panose="020B0306030101010103" pitchFamily="34" charset="77"/>
            </a:rPr>
            <a:t>Stage 1:</a:t>
          </a:r>
          <a:r>
            <a:rPr lang="en-US" sz="2400" dirty="0">
              <a:solidFill>
                <a:schemeClr val="tx1"/>
              </a:solidFill>
              <a:latin typeface="Abadi MT Condensed Light" panose="020B0306030101010103" pitchFamily="34" charset="77"/>
            </a:rPr>
            <a:t> Visual Scene description through an LLM as well as training text data generation</a:t>
          </a:r>
        </a:p>
      </dgm:t>
    </dgm:pt>
    <dgm:pt modelId="{BD2FCF2D-6318-C84A-B775-96FB3997ED20}" type="parTrans" cxnId="{359D42F3-9EBF-564E-9572-A6CBE2BF81F3}">
      <dgm:prSet/>
      <dgm:spPr/>
      <dgm:t>
        <a:bodyPr/>
        <a:lstStyle/>
        <a:p>
          <a:endParaRPr lang="en-US" sz="1200">
            <a:latin typeface="Abadi MT Condensed Light" panose="020B0306030101010103" pitchFamily="34" charset="77"/>
          </a:endParaRPr>
        </a:p>
      </dgm:t>
    </dgm:pt>
    <dgm:pt modelId="{6BBEA471-B6AB-7346-9126-E92BC93C9AAF}" type="sibTrans" cxnId="{359D42F3-9EBF-564E-9572-A6CBE2BF81F3}">
      <dgm:prSet custT="1"/>
      <dgm:spPr/>
      <dgm:t>
        <a:bodyPr/>
        <a:lstStyle/>
        <a:p>
          <a:endParaRPr lang="en-US" sz="2400">
            <a:latin typeface="Abadi MT Condensed Light" panose="020B0306030101010103" pitchFamily="34" charset="77"/>
          </a:endParaRPr>
        </a:p>
      </dgm:t>
    </dgm:pt>
    <dgm:pt modelId="{4537BAA6-442A-E241-AF39-1F82B21A6EF4}" type="pres">
      <dgm:prSet presAssocID="{D2980252-9CFF-C446-8761-43058CDF35F3}" presName="outerComposite" presStyleCnt="0">
        <dgm:presLayoutVars>
          <dgm:chMax val="5"/>
          <dgm:dir/>
          <dgm:resizeHandles val="exact"/>
        </dgm:presLayoutVars>
      </dgm:prSet>
      <dgm:spPr/>
    </dgm:pt>
    <dgm:pt modelId="{5A5E97B4-CE97-5941-8C01-336F285B1666}" type="pres">
      <dgm:prSet presAssocID="{D2980252-9CFF-C446-8761-43058CDF35F3}" presName="dummyMaxCanvas" presStyleCnt="0">
        <dgm:presLayoutVars/>
      </dgm:prSet>
      <dgm:spPr/>
    </dgm:pt>
    <dgm:pt modelId="{CB7949C6-E977-3446-AF8B-93B455039D26}" type="pres">
      <dgm:prSet presAssocID="{D2980252-9CFF-C446-8761-43058CDF35F3}" presName="FourNodes_1" presStyleLbl="node1" presStyleIdx="0" presStyleCnt="4">
        <dgm:presLayoutVars>
          <dgm:bulletEnabled val="1"/>
        </dgm:presLayoutVars>
      </dgm:prSet>
      <dgm:spPr/>
    </dgm:pt>
    <dgm:pt modelId="{7051FB7F-31C7-0D42-96DA-ADFC04017606}" type="pres">
      <dgm:prSet presAssocID="{D2980252-9CFF-C446-8761-43058CDF35F3}" presName="FourNodes_2" presStyleLbl="node1" presStyleIdx="1" presStyleCnt="4">
        <dgm:presLayoutVars>
          <dgm:bulletEnabled val="1"/>
        </dgm:presLayoutVars>
      </dgm:prSet>
      <dgm:spPr/>
    </dgm:pt>
    <dgm:pt modelId="{0E55C0A8-67C2-C845-A52B-90B5626D0EC1}" type="pres">
      <dgm:prSet presAssocID="{D2980252-9CFF-C446-8761-43058CDF35F3}" presName="FourNodes_3" presStyleLbl="node1" presStyleIdx="2" presStyleCnt="4">
        <dgm:presLayoutVars>
          <dgm:bulletEnabled val="1"/>
        </dgm:presLayoutVars>
      </dgm:prSet>
      <dgm:spPr/>
    </dgm:pt>
    <dgm:pt modelId="{F5677FA3-FFDD-244D-9716-2C049E256E26}" type="pres">
      <dgm:prSet presAssocID="{D2980252-9CFF-C446-8761-43058CDF35F3}" presName="FourNodes_4" presStyleLbl="node1" presStyleIdx="3" presStyleCnt="4">
        <dgm:presLayoutVars>
          <dgm:bulletEnabled val="1"/>
        </dgm:presLayoutVars>
      </dgm:prSet>
      <dgm:spPr/>
    </dgm:pt>
    <dgm:pt modelId="{DFE7D0C1-11EA-B445-990A-AB0FCAD3C3B5}" type="pres">
      <dgm:prSet presAssocID="{D2980252-9CFF-C446-8761-43058CDF35F3}" presName="FourConn_1-2" presStyleLbl="fgAccFollowNode1" presStyleIdx="0" presStyleCnt="3">
        <dgm:presLayoutVars>
          <dgm:bulletEnabled val="1"/>
        </dgm:presLayoutVars>
      </dgm:prSet>
      <dgm:spPr/>
    </dgm:pt>
    <dgm:pt modelId="{9D8453E4-7FCD-CE4A-B842-1858064811CE}" type="pres">
      <dgm:prSet presAssocID="{D2980252-9CFF-C446-8761-43058CDF35F3}" presName="FourConn_2-3" presStyleLbl="fgAccFollowNode1" presStyleIdx="1" presStyleCnt="3">
        <dgm:presLayoutVars>
          <dgm:bulletEnabled val="1"/>
        </dgm:presLayoutVars>
      </dgm:prSet>
      <dgm:spPr/>
    </dgm:pt>
    <dgm:pt modelId="{64A82299-76EB-C64B-9F99-160EC6686BC0}" type="pres">
      <dgm:prSet presAssocID="{D2980252-9CFF-C446-8761-43058CDF35F3}" presName="FourConn_3-4" presStyleLbl="fgAccFollowNode1" presStyleIdx="2" presStyleCnt="3">
        <dgm:presLayoutVars>
          <dgm:bulletEnabled val="1"/>
        </dgm:presLayoutVars>
      </dgm:prSet>
      <dgm:spPr/>
    </dgm:pt>
    <dgm:pt modelId="{3FFA402B-95D3-154C-9C0B-D3C7ABFC3D33}" type="pres">
      <dgm:prSet presAssocID="{D2980252-9CFF-C446-8761-43058CDF35F3}" presName="FourNodes_1_text" presStyleLbl="node1" presStyleIdx="3" presStyleCnt="4">
        <dgm:presLayoutVars>
          <dgm:bulletEnabled val="1"/>
        </dgm:presLayoutVars>
      </dgm:prSet>
      <dgm:spPr/>
    </dgm:pt>
    <dgm:pt modelId="{577EA68B-916E-F641-81EA-F15C81C2F02E}" type="pres">
      <dgm:prSet presAssocID="{D2980252-9CFF-C446-8761-43058CDF35F3}" presName="FourNodes_2_text" presStyleLbl="node1" presStyleIdx="3" presStyleCnt="4">
        <dgm:presLayoutVars>
          <dgm:bulletEnabled val="1"/>
        </dgm:presLayoutVars>
      </dgm:prSet>
      <dgm:spPr/>
    </dgm:pt>
    <dgm:pt modelId="{EC061851-F602-7046-8068-9C6EE1935697}" type="pres">
      <dgm:prSet presAssocID="{D2980252-9CFF-C446-8761-43058CDF35F3}" presName="FourNodes_3_text" presStyleLbl="node1" presStyleIdx="3" presStyleCnt="4">
        <dgm:presLayoutVars>
          <dgm:bulletEnabled val="1"/>
        </dgm:presLayoutVars>
      </dgm:prSet>
      <dgm:spPr/>
    </dgm:pt>
    <dgm:pt modelId="{5EEDD17E-86C1-B640-B32A-2AA40C1506A2}" type="pres">
      <dgm:prSet presAssocID="{D2980252-9CFF-C446-8761-43058CDF35F3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815D5009-487E-C544-B6E3-40C05EFDC9DF}" type="presOf" srcId="{D91A846A-AAA7-454B-AC06-684A6779D2F5}" destId="{F5677FA3-FFDD-244D-9716-2C049E256E26}" srcOrd="0" destOrd="0" presId="urn:microsoft.com/office/officeart/2005/8/layout/vProcess5"/>
    <dgm:cxn modelId="{2E7D0A20-4328-5A47-95C9-1EA5083C33FB}" type="presOf" srcId="{D73090D4-B48B-A245-B239-CBEE6FEF8200}" destId="{7051FB7F-31C7-0D42-96DA-ADFC04017606}" srcOrd="0" destOrd="0" presId="urn:microsoft.com/office/officeart/2005/8/layout/vProcess5"/>
    <dgm:cxn modelId="{2F101C27-60D8-4748-9396-21BA95156C96}" type="presOf" srcId="{6BBEA471-B6AB-7346-9126-E92BC93C9AAF}" destId="{9D8453E4-7FCD-CE4A-B842-1858064811CE}" srcOrd="0" destOrd="0" presId="urn:microsoft.com/office/officeart/2005/8/layout/vProcess5"/>
    <dgm:cxn modelId="{B553C12B-AA19-044F-BE0F-0BC3954A6E6F}" type="presOf" srcId="{1F769F90-EC25-664A-9D41-45F975F8D03D}" destId="{64A82299-76EB-C64B-9F99-160EC6686BC0}" srcOrd="0" destOrd="0" presId="urn:microsoft.com/office/officeart/2005/8/layout/vProcess5"/>
    <dgm:cxn modelId="{2153AE2C-EBE5-AC4D-BBCC-A957BF5EBD44}" type="presOf" srcId="{032D09B3-DA34-694E-A9D4-F0F7E1FA8E02}" destId="{3FFA402B-95D3-154C-9C0B-D3C7ABFC3D33}" srcOrd="1" destOrd="0" presId="urn:microsoft.com/office/officeart/2005/8/layout/vProcess5"/>
    <dgm:cxn modelId="{72DC4338-AFA5-754F-AF94-458CC1D50D77}" type="presOf" srcId="{D2980252-9CFF-C446-8761-43058CDF35F3}" destId="{4537BAA6-442A-E241-AF39-1F82B21A6EF4}" srcOrd="0" destOrd="0" presId="urn:microsoft.com/office/officeart/2005/8/layout/vProcess5"/>
    <dgm:cxn modelId="{B87A356B-BADB-3F41-9F6D-B00F00331BB2}" type="presOf" srcId="{428E9EB0-8A17-144E-9E50-EE22B0274362}" destId="{0E55C0A8-67C2-C845-A52B-90B5626D0EC1}" srcOrd="0" destOrd="0" presId="urn:microsoft.com/office/officeart/2005/8/layout/vProcess5"/>
    <dgm:cxn modelId="{047C177B-CB6E-504D-82F5-5269E7DACA2D}" srcId="{D2980252-9CFF-C446-8761-43058CDF35F3}" destId="{428E9EB0-8A17-144E-9E50-EE22B0274362}" srcOrd="2" destOrd="0" parTransId="{BBD74E68-E458-F04D-B468-B4A36149F0FB}" sibTransId="{1F769F90-EC25-664A-9D41-45F975F8D03D}"/>
    <dgm:cxn modelId="{1694C9A2-CDCA-9B46-9A76-D48D071626CF}" type="presOf" srcId="{428E9EB0-8A17-144E-9E50-EE22B0274362}" destId="{EC061851-F602-7046-8068-9C6EE1935697}" srcOrd="1" destOrd="0" presId="urn:microsoft.com/office/officeart/2005/8/layout/vProcess5"/>
    <dgm:cxn modelId="{1C6B07BB-53E2-4840-B470-7482B2A185A7}" srcId="{D2980252-9CFF-C446-8761-43058CDF35F3}" destId="{032D09B3-DA34-694E-A9D4-F0F7E1FA8E02}" srcOrd="0" destOrd="0" parTransId="{EF7A48F5-395E-AE41-A118-2DAE2B34E5BC}" sibTransId="{F9215612-81A1-D64B-A70B-4B6A3F13A502}"/>
    <dgm:cxn modelId="{CA3930BF-1DFE-BB48-A6EA-58632E91543B}" type="presOf" srcId="{D91A846A-AAA7-454B-AC06-684A6779D2F5}" destId="{5EEDD17E-86C1-B640-B32A-2AA40C1506A2}" srcOrd="1" destOrd="0" presId="urn:microsoft.com/office/officeart/2005/8/layout/vProcess5"/>
    <dgm:cxn modelId="{7C6703C3-5519-5C41-A314-05C37C75F20C}" type="presOf" srcId="{032D09B3-DA34-694E-A9D4-F0F7E1FA8E02}" destId="{CB7949C6-E977-3446-AF8B-93B455039D26}" srcOrd="0" destOrd="0" presId="urn:microsoft.com/office/officeart/2005/8/layout/vProcess5"/>
    <dgm:cxn modelId="{1D8193D4-9246-9348-9834-D821F5534EAF}" type="presOf" srcId="{F9215612-81A1-D64B-A70B-4B6A3F13A502}" destId="{DFE7D0C1-11EA-B445-990A-AB0FCAD3C3B5}" srcOrd="0" destOrd="0" presId="urn:microsoft.com/office/officeart/2005/8/layout/vProcess5"/>
    <dgm:cxn modelId="{9C74DCE3-FFC7-7E43-B971-39E506069812}" srcId="{D2980252-9CFF-C446-8761-43058CDF35F3}" destId="{D91A846A-AAA7-454B-AC06-684A6779D2F5}" srcOrd="3" destOrd="0" parTransId="{122A29E5-0C16-DD4F-A33C-7C22AD6AF29F}" sibTransId="{13217069-BC32-804D-850D-5D764BF1C316}"/>
    <dgm:cxn modelId="{5EB09DE5-647D-9D4B-9BD0-263198514392}" type="presOf" srcId="{D73090D4-B48B-A245-B239-CBEE6FEF8200}" destId="{577EA68B-916E-F641-81EA-F15C81C2F02E}" srcOrd="1" destOrd="0" presId="urn:microsoft.com/office/officeart/2005/8/layout/vProcess5"/>
    <dgm:cxn modelId="{359D42F3-9EBF-564E-9572-A6CBE2BF81F3}" srcId="{D2980252-9CFF-C446-8761-43058CDF35F3}" destId="{D73090D4-B48B-A245-B239-CBEE6FEF8200}" srcOrd="1" destOrd="0" parTransId="{BD2FCF2D-6318-C84A-B775-96FB3997ED20}" sibTransId="{6BBEA471-B6AB-7346-9126-E92BC93C9AAF}"/>
    <dgm:cxn modelId="{62B54FDC-0D47-214E-9005-C3C200FBCADB}" type="presParOf" srcId="{4537BAA6-442A-E241-AF39-1F82B21A6EF4}" destId="{5A5E97B4-CE97-5941-8C01-336F285B1666}" srcOrd="0" destOrd="0" presId="urn:microsoft.com/office/officeart/2005/8/layout/vProcess5"/>
    <dgm:cxn modelId="{3A07D9DF-E0CD-A948-84F7-24AFD7B46C53}" type="presParOf" srcId="{4537BAA6-442A-E241-AF39-1F82B21A6EF4}" destId="{CB7949C6-E977-3446-AF8B-93B455039D26}" srcOrd="1" destOrd="0" presId="urn:microsoft.com/office/officeart/2005/8/layout/vProcess5"/>
    <dgm:cxn modelId="{8E308CA1-32F3-C640-995C-13C753482FBB}" type="presParOf" srcId="{4537BAA6-442A-E241-AF39-1F82B21A6EF4}" destId="{7051FB7F-31C7-0D42-96DA-ADFC04017606}" srcOrd="2" destOrd="0" presId="urn:microsoft.com/office/officeart/2005/8/layout/vProcess5"/>
    <dgm:cxn modelId="{261ADBF6-5621-0447-A366-59236A2DCBD4}" type="presParOf" srcId="{4537BAA6-442A-E241-AF39-1F82B21A6EF4}" destId="{0E55C0A8-67C2-C845-A52B-90B5626D0EC1}" srcOrd="3" destOrd="0" presId="urn:microsoft.com/office/officeart/2005/8/layout/vProcess5"/>
    <dgm:cxn modelId="{3FA3DE0A-4F40-964A-B978-94FF7EF159C0}" type="presParOf" srcId="{4537BAA6-442A-E241-AF39-1F82B21A6EF4}" destId="{F5677FA3-FFDD-244D-9716-2C049E256E26}" srcOrd="4" destOrd="0" presId="urn:microsoft.com/office/officeart/2005/8/layout/vProcess5"/>
    <dgm:cxn modelId="{4E014602-2F7F-2841-8FAF-B12CA7C0AB23}" type="presParOf" srcId="{4537BAA6-442A-E241-AF39-1F82B21A6EF4}" destId="{DFE7D0C1-11EA-B445-990A-AB0FCAD3C3B5}" srcOrd="5" destOrd="0" presId="urn:microsoft.com/office/officeart/2005/8/layout/vProcess5"/>
    <dgm:cxn modelId="{7F8CBAD7-96CD-E34F-BA55-406BBC4F8893}" type="presParOf" srcId="{4537BAA6-442A-E241-AF39-1F82B21A6EF4}" destId="{9D8453E4-7FCD-CE4A-B842-1858064811CE}" srcOrd="6" destOrd="0" presId="urn:microsoft.com/office/officeart/2005/8/layout/vProcess5"/>
    <dgm:cxn modelId="{E8805205-2CAA-DA41-A02D-B362EB39B5B0}" type="presParOf" srcId="{4537BAA6-442A-E241-AF39-1F82B21A6EF4}" destId="{64A82299-76EB-C64B-9F99-160EC6686BC0}" srcOrd="7" destOrd="0" presId="urn:microsoft.com/office/officeart/2005/8/layout/vProcess5"/>
    <dgm:cxn modelId="{4717C3DA-E376-554B-AD7C-3769AEAAA8A8}" type="presParOf" srcId="{4537BAA6-442A-E241-AF39-1F82B21A6EF4}" destId="{3FFA402B-95D3-154C-9C0B-D3C7ABFC3D33}" srcOrd="8" destOrd="0" presId="urn:microsoft.com/office/officeart/2005/8/layout/vProcess5"/>
    <dgm:cxn modelId="{51D94897-3391-4A49-AC5E-7E6B2CD4EFF9}" type="presParOf" srcId="{4537BAA6-442A-E241-AF39-1F82B21A6EF4}" destId="{577EA68B-916E-F641-81EA-F15C81C2F02E}" srcOrd="9" destOrd="0" presId="urn:microsoft.com/office/officeart/2005/8/layout/vProcess5"/>
    <dgm:cxn modelId="{D3940DE5-4232-5B40-A23B-18E5795BE08A}" type="presParOf" srcId="{4537BAA6-442A-E241-AF39-1F82B21A6EF4}" destId="{EC061851-F602-7046-8068-9C6EE1935697}" srcOrd="10" destOrd="0" presId="urn:microsoft.com/office/officeart/2005/8/layout/vProcess5"/>
    <dgm:cxn modelId="{141972EC-9CDD-3F4A-A5E5-B7F0B1D06503}" type="presParOf" srcId="{4537BAA6-442A-E241-AF39-1F82B21A6EF4}" destId="{5EEDD17E-86C1-B640-B32A-2AA40C1506A2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7949C6-E977-3446-AF8B-93B455039D26}">
      <dsp:nvSpPr>
        <dsp:cNvPr id="0" name=""/>
        <dsp:cNvSpPr/>
      </dsp:nvSpPr>
      <dsp:spPr>
        <a:xfrm>
          <a:off x="0" y="0"/>
          <a:ext cx="5528308" cy="1368710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 err="1">
              <a:solidFill>
                <a:schemeClr val="tx1"/>
              </a:solidFill>
              <a:latin typeface="Abadi MT Condensed Light" panose="020B0306030101010103" pitchFamily="34" charset="77"/>
            </a:rPr>
            <a:t>SafeRLHF</a:t>
          </a:r>
          <a:r>
            <a:rPr lang="en-US" sz="2400" kern="1200" dirty="0">
              <a:solidFill>
                <a:schemeClr val="tx1"/>
              </a:solidFill>
              <a:latin typeface="Abadi MT Condensed Light" panose="020B0306030101010103" pitchFamily="34" charset="77"/>
            </a:rPr>
            <a:t> text dataset (We tested with 20k data samples)</a:t>
          </a:r>
        </a:p>
      </dsp:txBody>
      <dsp:txXfrm>
        <a:off x="40088" y="40088"/>
        <a:ext cx="3935707" cy="1288534"/>
      </dsp:txXfrm>
    </dsp:sp>
    <dsp:sp modelId="{7051FB7F-31C7-0D42-96DA-ADFC04017606}">
      <dsp:nvSpPr>
        <dsp:cNvPr id="0" name=""/>
        <dsp:cNvSpPr/>
      </dsp:nvSpPr>
      <dsp:spPr>
        <a:xfrm>
          <a:off x="462995" y="1617566"/>
          <a:ext cx="5528308" cy="1368710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tx1"/>
              </a:solidFill>
              <a:latin typeface="Abadi MT Condensed Light" panose="020B0306030101010103" pitchFamily="34" charset="77"/>
            </a:rPr>
            <a:t>Stage 1:</a:t>
          </a:r>
          <a:r>
            <a:rPr lang="en-US" sz="2400" kern="1200" dirty="0">
              <a:solidFill>
                <a:schemeClr val="tx1"/>
              </a:solidFill>
              <a:latin typeface="Abadi MT Condensed Light" panose="020B0306030101010103" pitchFamily="34" charset="77"/>
            </a:rPr>
            <a:t> Visual Scene description through an LLM as well as training text data generation</a:t>
          </a:r>
        </a:p>
      </dsp:txBody>
      <dsp:txXfrm>
        <a:off x="503083" y="1657654"/>
        <a:ext cx="4095475" cy="1288534"/>
      </dsp:txXfrm>
    </dsp:sp>
    <dsp:sp modelId="{0E55C0A8-67C2-C845-A52B-90B5626D0EC1}">
      <dsp:nvSpPr>
        <dsp:cNvPr id="0" name=""/>
        <dsp:cNvSpPr/>
      </dsp:nvSpPr>
      <dsp:spPr>
        <a:xfrm>
          <a:off x="919081" y="3235133"/>
          <a:ext cx="5528308" cy="1368710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tx1"/>
              </a:solidFill>
              <a:latin typeface="Abadi MT Condensed Light" panose="020B0306030101010103" pitchFamily="34" charset="77"/>
            </a:rPr>
            <a:t>Stage 2: </a:t>
          </a:r>
          <a:r>
            <a:rPr lang="en-US" sz="2400" kern="1200" dirty="0">
              <a:solidFill>
                <a:schemeClr val="tx1"/>
              </a:solidFill>
              <a:latin typeface="Abadi MT Condensed Light" panose="020B0306030101010103" pitchFamily="34" charset="77"/>
            </a:rPr>
            <a:t>Optimize synthetic visual tokens, initialized with a black image</a:t>
          </a:r>
        </a:p>
      </dsp:txBody>
      <dsp:txXfrm>
        <a:off x="959169" y="3275221"/>
        <a:ext cx="4102385" cy="1288534"/>
      </dsp:txXfrm>
    </dsp:sp>
    <dsp:sp modelId="{F5677FA3-FFDD-244D-9716-2C049E256E26}">
      <dsp:nvSpPr>
        <dsp:cNvPr id="0" name=""/>
        <dsp:cNvSpPr/>
      </dsp:nvSpPr>
      <dsp:spPr>
        <a:xfrm>
          <a:off x="1382077" y="4852700"/>
          <a:ext cx="5528308" cy="1368710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tx1"/>
              </a:solidFill>
              <a:latin typeface="Abadi MT Condensed Light" panose="020B0306030101010103" pitchFamily="34" charset="77"/>
            </a:rPr>
            <a:t>Stage 3:</a:t>
          </a:r>
          <a:r>
            <a:rPr lang="en-US" sz="2400" kern="1200" dirty="0">
              <a:solidFill>
                <a:schemeClr val="tx1"/>
              </a:solidFill>
              <a:latin typeface="Abadi MT Condensed Light" panose="020B0306030101010103" pitchFamily="34" charset="77"/>
            </a:rPr>
            <a:t> Train a guardrail on top of the synthetic embedding and training data from step 1</a:t>
          </a:r>
        </a:p>
      </dsp:txBody>
      <dsp:txXfrm>
        <a:off x="1422165" y="4892788"/>
        <a:ext cx="4095475" cy="1288534"/>
      </dsp:txXfrm>
    </dsp:sp>
    <dsp:sp modelId="{DFE7D0C1-11EA-B445-990A-AB0FCAD3C3B5}">
      <dsp:nvSpPr>
        <dsp:cNvPr id="0" name=""/>
        <dsp:cNvSpPr/>
      </dsp:nvSpPr>
      <dsp:spPr>
        <a:xfrm>
          <a:off x="4638647" y="1048307"/>
          <a:ext cx="889661" cy="889661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>
            <a:latin typeface="Abadi MT Condensed Light" panose="020B0306030101010103" pitchFamily="34" charset="77"/>
          </a:endParaRPr>
        </a:p>
      </dsp:txBody>
      <dsp:txXfrm>
        <a:off x="4838821" y="1048307"/>
        <a:ext cx="489313" cy="669470"/>
      </dsp:txXfrm>
    </dsp:sp>
    <dsp:sp modelId="{9D8453E4-7FCD-CE4A-B842-1858064811CE}">
      <dsp:nvSpPr>
        <dsp:cNvPr id="0" name=""/>
        <dsp:cNvSpPr/>
      </dsp:nvSpPr>
      <dsp:spPr>
        <a:xfrm>
          <a:off x="5101642" y="2665874"/>
          <a:ext cx="889661" cy="889661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>
            <a:latin typeface="Abadi MT Condensed Light" panose="020B0306030101010103" pitchFamily="34" charset="77"/>
          </a:endParaRPr>
        </a:p>
      </dsp:txBody>
      <dsp:txXfrm>
        <a:off x="5301816" y="2665874"/>
        <a:ext cx="489313" cy="669470"/>
      </dsp:txXfrm>
    </dsp:sp>
    <dsp:sp modelId="{64A82299-76EB-C64B-9F99-160EC6686BC0}">
      <dsp:nvSpPr>
        <dsp:cNvPr id="0" name=""/>
        <dsp:cNvSpPr/>
      </dsp:nvSpPr>
      <dsp:spPr>
        <a:xfrm>
          <a:off x="5557728" y="4283441"/>
          <a:ext cx="889661" cy="889661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>
            <a:latin typeface="Abadi MT Condensed Light" panose="020B0306030101010103" pitchFamily="34" charset="77"/>
          </a:endParaRPr>
        </a:p>
      </dsp:txBody>
      <dsp:txXfrm>
        <a:off x="5757902" y="4283441"/>
        <a:ext cx="489313" cy="6694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4158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DB627-153D-CEDF-977C-EC0D16D15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D01268-10CD-1511-370E-7A3AC9DCA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DFBE3C-571D-28B3-9EEA-520A2565BB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2041F-84E5-7595-24CF-1104D3B319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6202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FCA7E-CF45-1460-A44B-3D4AD89AE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59348-213F-B51B-E92F-E36C3AC1B0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D417E5-846B-5038-7F6C-1CD12A4FC3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D6FE6-AE2E-49A5-BE91-5A653479A8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721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C443-E3DE-0607-7F4D-E9F627E47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E6D979-7F07-40F7-2748-C579FE183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59DFDB-66DA-C2EF-C16D-FA17C5C98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240FD5-5A59-21E2-B735-94652D1DAB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036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222465"/>
            <a:ext cx="15816649" cy="13352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4000" kern="0" spc="132" dirty="0">
                <a:solidFill>
                  <a:srgbClr val="B68235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MULTIMODAL INPUT GUARDRAIL</a:t>
            </a:r>
            <a:endParaRPr lang="en-US" sz="40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1067693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Two separate baseline models and One dual-mode checkpoint supports both inference modes and is the strongest final candidate.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AE664E2A-C7C9-B829-10B6-D10673427A62}"/>
              </a:ext>
            </a:extLst>
          </p:cNvPr>
          <p:cNvSpPr/>
          <p:nvPr/>
        </p:nvSpPr>
        <p:spPr>
          <a:xfrm>
            <a:off x="914400" y="5135834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V2 Dataset, 3 Model, Evals on the same, SEA Concept overview and observations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V2 dataset difficulty </a:t>
            </a:r>
            <a:r>
              <a:rPr lang="en-US" sz="14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(Pass of 5)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671251" y="2735163"/>
            <a:ext cx="2857500" cy="2857500"/>
          </a:xfrm>
          <a:prstGeom prst="ellipse">
            <a:avLst/>
          </a:prstGeom>
          <a:solidFill>
            <a:srgbClr val="BAB6B6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242751" y="3306663"/>
            <a:ext cx="1714500" cy="1714500"/>
          </a:xfrm>
          <a:prstGeom prst="ellipse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2466291" y="3691532"/>
            <a:ext cx="1394162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186,660</a:t>
            </a:r>
            <a:endParaRPr lang="en-US" sz="3150" dirty="0">
              <a:latin typeface="Abadi MT Condensed Light" panose="020B0306030101010103" pitchFamily="34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2610059" y="4311550"/>
            <a:ext cx="1055936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total rows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672589" y="5811738"/>
            <a:ext cx="3290795" cy="502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Easy — 141,170 (75.6%)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672590" y="6242149"/>
            <a:ext cx="3290794" cy="4619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Intermediate — 26,310 (14.1%)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D6E58A5-B7B5-B250-F643-BF60B92BFD28}"/>
              </a:ext>
            </a:extLst>
          </p:cNvPr>
          <p:cNvGrpSpPr/>
          <p:nvPr/>
        </p:nvGrpSpPr>
        <p:grpSpPr>
          <a:xfrm>
            <a:off x="1424940" y="5904775"/>
            <a:ext cx="152400" cy="1013222"/>
            <a:chOff x="1424940" y="5884068"/>
            <a:chExt cx="152400" cy="1013222"/>
          </a:xfrm>
        </p:grpSpPr>
        <p:sp>
          <p:nvSpPr>
            <p:cNvPr id="7" name="Shape 5"/>
            <p:cNvSpPr/>
            <p:nvPr/>
          </p:nvSpPr>
          <p:spPr>
            <a:xfrm>
              <a:off x="1424940" y="5884068"/>
              <a:ext cx="152400" cy="152400"/>
            </a:xfrm>
            <a:prstGeom prst="rect">
              <a:avLst/>
            </a:prstGeom>
            <a:solidFill>
              <a:srgbClr val="BAB6B6"/>
            </a:solidFill>
            <a:ln/>
          </p:spPr>
          <p:txBody>
            <a:bodyPr/>
            <a:lstStyle/>
            <a:p>
              <a:endParaRPr lang="en-US">
                <a:latin typeface="Abadi MT Condensed Light" panose="020B0306030101010103" pitchFamily="34" charset="77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1424940" y="6314479"/>
              <a:ext cx="152400" cy="152400"/>
            </a:xfrm>
            <a:prstGeom prst="rect">
              <a:avLst/>
            </a:prstGeom>
            <a:solidFill>
              <a:srgbClr val="605D5D"/>
            </a:solidFill>
            <a:ln/>
          </p:spPr>
          <p:txBody>
            <a:bodyPr/>
            <a:lstStyle/>
            <a:p>
              <a:endParaRPr lang="en-US">
                <a:latin typeface="Abadi MT Condensed Light" panose="020B0306030101010103" pitchFamily="34" charset="77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1424940" y="6744890"/>
              <a:ext cx="152400" cy="152400"/>
            </a:xfrm>
            <a:prstGeom prst="rect">
              <a:avLst/>
            </a:prstGeom>
            <a:solidFill>
              <a:srgbClr val="B68235"/>
            </a:solidFill>
            <a:ln/>
          </p:spPr>
          <p:txBody>
            <a:bodyPr/>
            <a:lstStyle/>
            <a:p>
              <a:endParaRPr lang="en-US">
                <a:latin typeface="Abadi MT Condensed Light" panose="020B0306030101010103" pitchFamily="34" charset="77"/>
              </a:endParaRPr>
            </a:p>
          </p:txBody>
        </p:sp>
      </p:grpSp>
      <p:sp>
        <p:nvSpPr>
          <p:cNvPr id="12" name="Text 10"/>
          <p:cNvSpPr/>
          <p:nvPr/>
        </p:nvSpPr>
        <p:spPr>
          <a:xfrm>
            <a:off x="1672590" y="6672560"/>
            <a:ext cx="2689345" cy="6674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Hard — 19,180 (10.3%)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09851" y="2735163"/>
            <a:ext cx="1303401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Vote split (of 5 labeling passes)</a:t>
            </a:r>
            <a:endParaRPr lang="en-US" sz="2100" dirty="0">
              <a:latin typeface="Abadi MT Condensed Light" panose="020B0306030101010103" pitchFamily="34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709851" y="3262759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Easy 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795701" y="3316039"/>
            <a:ext cx="939165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795701" y="3316039"/>
            <a:ext cx="9391650" cy="247650"/>
          </a:xfrm>
          <a:prstGeom prst="rect">
            <a:avLst/>
          </a:prstGeom>
          <a:solidFill>
            <a:srgbClr val="5F5F5F">
              <a:alpha val="20000"/>
            </a:srgbClr>
          </a:solidFill>
          <a:ln w="9525">
            <a:solidFill>
              <a:srgbClr val="605D5D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6320701" y="3262759"/>
            <a:ext cx="13620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141,123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709851" y="3712220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Inter.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795701" y="3765500"/>
            <a:ext cx="939165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795701" y="3765500"/>
            <a:ext cx="1748582" cy="247650"/>
          </a:xfrm>
          <a:prstGeom prst="rect">
            <a:avLst/>
          </a:prstGeom>
          <a:solidFill>
            <a:srgbClr val="5F5F5F">
              <a:alpha val="20000"/>
            </a:srgbClr>
          </a:solidFill>
          <a:ln w="9525">
            <a:solidFill>
              <a:srgbClr val="605D5D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6320701" y="3712220"/>
            <a:ext cx="13620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26,275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709851" y="4161681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Hard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795701" y="4214961"/>
            <a:ext cx="939165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795701" y="4214961"/>
            <a:ext cx="1275308" cy="247650"/>
          </a:xfrm>
          <a:prstGeom prst="rect">
            <a:avLst/>
          </a:prstGeom>
          <a:solidFill>
            <a:srgbClr val="5F5F5F">
              <a:alpha val="20000"/>
            </a:srgbClr>
          </a:solidFill>
          <a:ln w="9525">
            <a:solidFill>
              <a:srgbClr val="605D5D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6320701" y="4161681"/>
            <a:ext cx="13620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19,161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09851" y="4611141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Errors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795701" y="4664422"/>
            <a:ext cx="939165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795701" y="4664422"/>
            <a:ext cx="93911" cy="247650"/>
          </a:xfrm>
          <a:prstGeom prst="rect">
            <a:avLst/>
          </a:prstGeom>
          <a:solidFill>
            <a:srgbClr val="B78334">
              <a:alpha val="25000"/>
            </a:srgbClr>
          </a:solidFill>
          <a:ln w="9525">
            <a:solidFill>
              <a:srgbClr val="B68235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6320701" y="4611141"/>
            <a:ext cx="13620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101</a:t>
            </a:r>
          </a:p>
        </p:txBody>
      </p:sp>
      <p:sp>
        <p:nvSpPr>
          <p:cNvPr id="30" name="Text 28"/>
          <p:cNvSpPr/>
          <p:nvPr/>
        </p:nvSpPr>
        <p:spPr>
          <a:xfrm>
            <a:off x="5709851" y="5232052"/>
            <a:ext cx="1303401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Safe / unsafe rows by difficulty</a:t>
            </a:r>
            <a:endParaRPr lang="en-US" sz="2100" dirty="0">
              <a:latin typeface="Abadi MT Condensed Light" panose="020B0306030101010103" pitchFamily="34" charset="7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709851" y="5759648"/>
            <a:ext cx="13620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Easy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081451" y="5812929"/>
            <a:ext cx="3782318" cy="247650"/>
          </a:xfrm>
          <a:prstGeom prst="rect">
            <a:avLst/>
          </a:prstGeom>
          <a:solidFill>
            <a:srgbClr val="9B9696">
              <a:alpha val="20000"/>
            </a:srgbClr>
          </a:solidFill>
          <a:ln w="9525">
            <a:solidFill>
              <a:srgbClr val="9B9797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863769" y="5812929"/>
            <a:ext cx="4751933" cy="247650"/>
          </a:xfrm>
          <a:prstGeom prst="rect">
            <a:avLst/>
          </a:prstGeom>
          <a:solidFill>
            <a:srgbClr val="7D550F">
              <a:alpha val="20000"/>
            </a:srgbClr>
          </a:solidFill>
          <a:ln w="9525">
            <a:solidFill>
              <a:srgbClr val="7D5411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5749201" y="5774382"/>
            <a:ext cx="1990725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62,564 / 78,606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709851" y="6209109"/>
            <a:ext cx="15176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Inter.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C75CB37-B827-56BF-BAFC-452194373FEE}"/>
              </a:ext>
            </a:extLst>
          </p:cNvPr>
          <p:cNvGrpSpPr/>
          <p:nvPr/>
        </p:nvGrpSpPr>
        <p:grpSpPr>
          <a:xfrm>
            <a:off x="7071926" y="6262389"/>
            <a:ext cx="8543777" cy="247651"/>
            <a:chOff x="7222838" y="6262390"/>
            <a:chExt cx="8392865" cy="247650"/>
          </a:xfrm>
        </p:grpSpPr>
        <p:sp>
          <p:nvSpPr>
            <p:cNvPr id="36" name="Shape 34"/>
            <p:cNvSpPr/>
            <p:nvPr/>
          </p:nvSpPr>
          <p:spPr>
            <a:xfrm>
              <a:off x="7222838" y="6262390"/>
              <a:ext cx="4553099" cy="247650"/>
            </a:xfrm>
            <a:prstGeom prst="rect">
              <a:avLst/>
            </a:prstGeom>
            <a:solidFill>
              <a:srgbClr val="9B9696">
                <a:alpha val="20000"/>
              </a:srgbClr>
            </a:solidFill>
            <a:ln w="9525">
              <a:solidFill>
                <a:srgbClr val="9B9797"/>
              </a:solidFill>
              <a:prstDash val="solid"/>
            </a:ln>
          </p:spPr>
          <p:txBody>
            <a:bodyPr/>
            <a:lstStyle/>
            <a:p>
              <a:endParaRPr lang="en-US">
                <a:latin typeface="Abadi MT Condensed Light" panose="020B0306030101010103" pitchFamily="34" charset="77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11775937" y="6262390"/>
              <a:ext cx="3839766" cy="247650"/>
            </a:xfrm>
            <a:prstGeom prst="rect">
              <a:avLst/>
            </a:prstGeom>
            <a:solidFill>
              <a:srgbClr val="7D550F">
                <a:alpha val="20000"/>
              </a:srgbClr>
            </a:solidFill>
            <a:ln w="9525">
              <a:solidFill>
                <a:srgbClr val="7D5411"/>
              </a:solidFill>
              <a:prstDash val="solid"/>
            </a:ln>
          </p:spPr>
          <p:txBody>
            <a:bodyPr/>
            <a:lstStyle/>
            <a:p>
              <a:endParaRPr lang="en-US">
                <a:latin typeface="Abadi MT Condensed Light" panose="020B0306030101010103" pitchFamily="34" charset="77"/>
              </a:endParaRPr>
            </a:p>
          </p:txBody>
        </p:sp>
      </p:grpSp>
      <p:sp>
        <p:nvSpPr>
          <p:cNvPr id="38" name="Text 36"/>
          <p:cNvSpPr/>
          <p:nvPr/>
        </p:nvSpPr>
        <p:spPr>
          <a:xfrm>
            <a:off x="15749201" y="6223843"/>
            <a:ext cx="1990725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14,276 / 12,034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709851" y="6658570"/>
            <a:ext cx="13620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Hard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081451" y="6711850"/>
            <a:ext cx="4369594" cy="247650"/>
          </a:xfrm>
          <a:prstGeom prst="rect">
            <a:avLst/>
          </a:prstGeom>
          <a:solidFill>
            <a:srgbClr val="9B9696">
              <a:alpha val="20000"/>
            </a:srgbClr>
          </a:solidFill>
          <a:ln w="9525">
            <a:solidFill>
              <a:srgbClr val="9B9797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11451045" y="6711850"/>
            <a:ext cx="4164657" cy="247650"/>
          </a:xfrm>
          <a:prstGeom prst="rect">
            <a:avLst/>
          </a:prstGeom>
          <a:solidFill>
            <a:srgbClr val="7D550F">
              <a:alpha val="20000"/>
            </a:srgbClr>
          </a:solidFill>
          <a:ln w="9525">
            <a:solidFill>
              <a:srgbClr val="7D5411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5749201" y="6673304"/>
            <a:ext cx="1990725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9,823 / 9,357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925411" y="7064505"/>
            <a:ext cx="65529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safe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3236623" y="7032054"/>
            <a:ext cx="907554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unsafe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A large, mostly high-confidence dataset, with meaningful hard and intermediate coverage.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48" name="Text 3">
            <a:extLst>
              <a:ext uri="{FF2B5EF4-FFF2-40B4-BE49-F238E27FC236}">
                <a16:creationId xmlns:a16="http://schemas.microsoft.com/office/drawing/2014/main" id="{CAA28D7F-F51E-098B-BE14-74A7E20FA6A5}"/>
              </a:ext>
            </a:extLst>
          </p:cNvPr>
          <p:cNvSpPr/>
          <p:nvPr/>
        </p:nvSpPr>
        <p:spPr>
          <a:xfrm>
            <a:off x="2249421" y="1946151"/>
            <a:ext cx="170783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16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  <a:sym typeface="Wingdings" pitchFamily="2" charset="2"/>
              </a:rPr>
              <a:t>Safe: 	86,663</a:t>
            </a:r>
          </a:p>
          <a:p>
            <a:pPr marL="0" indent="0" algn="l">
              <a:lnSpc>
                <a:spcPct val="135625"/>
              </a:lnSpc>
              <a:buNone/>
            </a:pPr>
            <a:r>
              <a:rPr lang="en-US" sz="1600" dirty="0">
                <a:solidFill>
                  <a:srgbClr val="201F1D"/>
                </a:solidFill>
                <a:latin typeface="Abadi MT Condensed Light" panose="020B0306030101010103" pitchFamily="34" charset="77"/>
                <a:cs typeface="Arial" pitchFamily="34" charset="-120"/>
                <a:sym typeface="Wingdings" pitchFamily="2" charset="2"/>
              </a:rPr>
              <a:t>Unsafe: 	99,997</a:t>
            </a:r>
            <a:endParaRPr lang="en-US" sz="1600" dirty="0">
              <a:latin typeface="Abadi MT Condensed Light" panose="020B03060301010101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DF5DF8C-5154-2539-315C-B6E5E3A11938}"/>
              </a:ext>
            </a:extLst>
          </p:cNvPr>
          <p:cNvSpPr txBox="1"/>
          <p:nvPr/>
        </p:nvSpPr>
        <p:spPr>
          <a:xfrm>
            <a:off x="1211314" y="1271289"/>
            <a:ext cx="7332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badi MT Condensed Light" panose="020B0306030101010103" pitchFamily="34" charset="77"/>
              </a:rPr>
              <a:t>Rationale based Data labeling using Qwen 397b for a consistent reasoning trace generation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601F19-2CE9-CDBB-9E13-279FF3AB4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679" y="4912742"/>
            <a:ext cx="10178321" cy="537425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D1116DC-DA6A-791E-12BF-6178E87A6D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1222" b="2684"/>
          <a:stretch>
            <a:fillRect/>
          </a:stretch>
        </p:blipFill>
        <p:spPr>
          <a:xfrm>
            <a:off x="0" y="2"/>
            <a:ext cx="8484433" cy="50366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F363A0-8D5A-B6B3-3B89-E2C167830F27}"/>
              </a:ext>
            </a:extLst>
          </p:cNvPr>
          <p:cNvSpPr txBox="1"/>
          <p:nvPr/>
        </p:nvSpPr>
        <p:spPr>
          <a:xfrm>
            <a:off x="11731051" y="2333683"/>
            <a:ext cx="331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badi MT Condensed Light" panose="020B0306030101010103" pitchFamily="34" charset="77"/>
              </a:rPr>
              <a:t>More splits distribution in the Codebase.</a:t>
            </a:r>
          </a:p>
        </p:txBody>
      </p:sp>
    </p:spTree>
    <p:extLst>
      <p:ext uri="{BB962C8B-B14F-4D97-AF65-F5344CB8AC3E}">
        <p14:creationId xmlns:p14="http://schemas.microsoft.com/office/powerpoint/2010/main" val="2536012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Train / RL / Test split design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42975" y="2346223"/>
            <a:ext cx="1810512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Split composition of 186,660 rows</a:t>
            </a:r>
            <a:endParaRPr lang="en-US" sz="2100" dirty="0">
              <a:latin typeface="Abadi MT Condensed Light" panose="020B0306030101010103" pitchFamily="34" charset="7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42975" y="2892869"/>
            <a:ext cx="16459200" cy="533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52500" y="2902394"/>
            <a:ext cx="1145828" cy="514350"/>
          </a:xfrm>
          <a:prstGeom prst="rect">
            <a:avLst/>
          </a:prstGeom>
          <a:solidFill>
            <a:srgbClr val="9B9696">
              <a:alpha val="22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088803" y="2902394"/>
            <a:ext cx="9525" cy="514350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7" name="Text 5"/>
          <p:cNvSpPr/>
          <p:nvPr/>
        </p:nvSpPr>
        <p:spPr>
          <a:xfrm>
            <a:off x="914400" y="2902394"/>
            <a:ext cx="1212503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Test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098328" y="2902394"/>
            <a:ext cx="1321743" cy="514350"/>
          </a:xfrm>
          <a:prstGeom prst="rect">
            <a:avLst/>
          </a:prstGeom>
          <a:solidFill>
            <a:srgbClr val="84699F">
              <a:alpha val="22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410545" y="2902394"/>
            <a:ext cx="9525" cy="514350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060228" y="2902394"/>
            <a:ext cx="138841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RL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420070" y="2902394"/>
            <a:ext cx="10889903" cy="514350"/>
          </a:xfrm>
          <a:prstGeom prst="rect">
            <a:avLst/>
          </a:prstGeom>
          <a:solidFill>
            <a:srgbClr val="B78037">
              <a:alpha val="18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4300448" y="2902394"/>
            <a:ext cx="9525" cy="514350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256722" y="2902394"/>
            <a:ext cx="11207075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SFT — 123,660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4309973" y="2902394"/>
            <a:ext cx="3082528" cy="514350"/>
          </a:xfrm>
          <a:prstGeom prst="rect">
            <a:avLst/>
          </a:prstGeom>
          <a:solidFill>
            <a:srgbClr val="D7D2D2">
              <a:alpha val="40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4263735" y="2902394"/>
            <a:ext cx="3175004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Unused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42975" y="3521519"/>
            <a:ext cx="1180207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Test 13,000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89882" y="3521519"/>
            <a:ext cx="1014859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RL 15,000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671441" y="3521519"/>
            <a:ext cx="2622010" cy="9371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SFT 123,660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162996" y="3521519"/>
            <a:ext cx="1618283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Unused 35,000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42975" y="4265362"/>
            <a:ext cx="1810512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Difficulty composition within each split</a:t>
            </a:r>
            <a:endParaRPr lang="en-US" sz="2100" dirty="0">
              <a:latin typeface="Abadi MT Condensed Light" panose="020B0306030101010103" pitchFamily="34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42975" y="4831057"/>
            <a:ext cx="13620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Test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371725" y="4846238"/>
            <a:ext cx="10287000" cy="323850"/>
          </a:xfrm>
          <a:prstGeom prst="rect">
            <a:avLst/>
          </a:prstGeom>
          <a:solidFill>
            <a:srgbClr val="B9B6B6">
              <a:alpha val="30000"/>
            </a:srgbClr>
          </a:solidFill>
          <a:ln w="9525">
            <a:solidFill>
              <a:srgbClr val="BAB6B6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2849225" y="4845791"/>
            <a:ext cx="2619375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13,000 easy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942975" y="5394818"/>
            <a:ext cx="13620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RL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371725" y="5409999"/>
            <a:ext cx="1893689" cy="323850"/>
          </a:xfrm>
          <a:prstGeom prst="rect">
            <a:avLst/>
          </a:prstGeom>
          <a:solidFill>
            <a:srgbClr val="605C5C">
              <a:alpha val="25000"/>
            </a:srgbClr>
          </a:solidFill>
          <a:ln w="9525">
            <a:solidFill>
              <a:srgbClr val="605D5D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265414" y="5409999"/>
            <a:ext cx="8393162" cy="323850"/>
          </a:xfrm>
          <a:prstGeom prst="rect">
            <a:avLst/>
          </a:prstGeom>
          <a:solidFill>
            <a:srgbClr val="B78334">
              <a:alpha val="25000"/>
            </a:srgbClr>
          </a:solidFill>
          <a:ln w="9525">
            <a:solidFill>
              <a:srgbClr val="B68235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2849225" y="5409552"/>
            <a:ext cx="2619375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2,762 inter. / 12,238 hard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42975" y="6106217"/>
            <a:ext cx="13620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SFT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2371725" y="6121397"/>
            <a:ext cx="7751564" cy="323850"/>
          </a:xfrm>
          <a:prstGeom prst="rect">
            <a:avLst/>
          </a:prstGeom>
          <a:solidFill>
            <a:srgbClr val="B9B6B6">
              <a:alpha val="30000"/>
            </a:srgbClr>
          </a:solidFill>
          <a:ln w="9525">
            <a:solidFill>
              <a:srgbClr val="BAB6B6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23289" y="6121397"/>
            <a:ext cx="1958429" cy="323850"/>
          </a:xfrm>
          <a:prstGeom prst="rect">
            <a:avLst/>
          </a:prstGeom>
          <a:solidFill>
            <a:srgbClr val="605C5C">
              <a:alpha val="25000"/>
            </a:srgbClr>
          </a:solidFill>
          <a:ln w="9525">
            <a:solidFill>
              <a:srgbClr val="605D5D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2081718" y="6121397"/>
            <a:ext cx="577007" cy="323850"/>
          </a:xfrm>
          <a:prstGeom prst="rect">
            <a:avLst/>
          </a:prstGeom>
          <a:solidFill>
            <a:srgbClr val="B78334">
              <a:alpha val="25000"/>
            </a:srgbClr>
          </a:solidFill>
          <a:ln w="9525">
            <a:solidFill>
              <a:srgbClr val="B68235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2849225" y="6077939"/>
            <a:ext cx="4379955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93,170 easy / 23,548 inter. / 6,942 hard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42975" y="6817615"/>
            <a:ext cx="13620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Unused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2371725" y="6832796"/>
            <a:ext cx="10287000" cy="323850"/>
          </a:xfrm>
          <a:prstGeom prst="rect">
            <a:avLst/>
          </a:prstGeom>
          <a:solidFill>
            <a:srgbClr val="B9B6B6">
              <a:alpha val="30000"/>
            </a:srgbClr>
          </a:solidFill>
          <a:ln w="9525">
            <a:solidFill>
              <a:srgbClr val="BAB6B6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2849224" y="6784278"/>
            <a:ext cx="2619375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35,000 easy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52500" y="7347591"/>
            <a:ext cx="695771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easy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800671" y="7347591"/>
            <a:ext cx="1590124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intermediate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474839" y="7347591"/>
            <a:ext cx="71497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hard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42975" y="8792713"/>
            <a:ext cx="18105120" cy="121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Test is balanced and easy-only; RL emphasizes harder examples; SFT is large and mixed-difficulty. </a:t>
            </a:r>
          </a:p>
          <a:p>
            <a:pPr marL="0" indent="0" algn="l">
              <a:lnSpc>
                <a:spcPct val="130000"/>
              </a:lnSpc>
              <a:buNone/>
            </a:pPr>
            <a:r>
              <a:rPr lang="en-US" sz="1950" b="1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All 50/50 in Verdicts and balanced in Policy distribution.</a:t>
            </a:r>
            <a:endParaRPr lang="en-US" sz="1950" b="1" dirty="0">
              <a:latin typeface="Abadi MT Condensed Light" panose="020B0306030101010103" pitchFamily="34" charset="7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model configs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1421011"/>
            <a:ext cx="16952976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Both: Qwen/Qwen3.5-4B base, full-parameter SFT (no LoRA), 4,539,2655M trainable params (100%), bf16, Adam, LR 1e-5, cosine schedule, warmup 0.03, seed 17, policy permutations on. Source SFT split: 123,660 rows. Validation: 1,024 rows (512 safe / 512 unsafe).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2434233"/>
            <a:ext cx="28575" cy="6783139"/>
          </a:xfrm>
          <a:prstGeom prst="rect">
            <a:avLst/>
          </a:prstGeom>
          <a:solidFill>
            <a:srgbClr val="5E7EA3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209675" y="2434233"/>
            <a:ext cx="8434387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dirty="0">
                <a:solidFill>
                  <a:srgbClr val="5E7EA3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Non-thinking · checkpoint-512</a:t>
            </a:r>
            <a:endParaRPr lang="en-US" sz="2400" dirty="0">
              <a:latin typeface="Abadi MT Condensed Light" panose="020B0306030101010103" pitchFamily="34" charset="7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209675" y="3584674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09675" y="3135213"/>
            <a:ext cx="7689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Target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7197194" y="3150988"/>
            <a:ext cx="24684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qwen_xml_tool_call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209675" y="4138910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09675" y="3689449"/>
            <a:ext cx="114582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Max steps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431411" y="3689449"/>
            <a:ext cx="522089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512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209675" y="4693146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209675" y="4243685"/>
            <a:ext cx="66496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GPUs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728621" y="4243685"/>
            <a:ext cx="224879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4 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209675" y="5247382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09675" y="4797921"/>
            <a:ext cx="681782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Batch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681280" y="4773215"/>
            <a:ext cx="2872829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 × 16 × 4 = 512 effective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209675" y="5801618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209675" y="5352157"/>
            <a:ext cx="1262063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Max length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208615" y="5352157"/>
            <a:ext cx="74488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3,072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209675" y="6355854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209675" y="5906393"/>
            <a:ext cx="1574899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Samples seen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995664" y="5881687"/>
            <a:ext cx="27490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262,144 (~2.1 epochs)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209675" y="6910090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209675" y="6460629"/>
            <a:ext cx="159634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Final eval loss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059936" y="6460629"/>
            <a:ext cx="89356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0.0171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209675" y="7014865"/>
            <a:ext cx="23240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Eval token accuracy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059936" y="7014865"/>
            <a:ext cx="89356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99.37%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9410700" y="2434233"/>
            <a:ext cx="28575" cy="6783139"/>
          </a:xfrm>
          <a:prstGeom prst="rect">
            <a:avLst/>
          </a:prstGeom>
          <a:solidFill>
            <a:srgbClr val="4F8F8A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705975" y="2434233"/>
            <a:ext cx="8434387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Thinking · checkpoint-1095</a:t>
            </a:r>
            <a:endParaRPr lang="en-US" sz="2400" dirty="0">
              <a:latin typeface="Abadi MT Condensed Light" panose="020B0306030101010103" pitchFamily="34" charset="7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705975" y="3584674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705975" y="3135213"/>
            <a:ext cx="7689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Target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4556975" y="2996288"/>
            <a:ext cx="4327699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qwen_xml_tool_call_with_thinking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705975" y="4138910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705975" y="3689449"/>
            <a:ext cx="1145828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Max steps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6704915" y="3689449"/>
            <a:ext cx="74488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1,095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705975" y="4693146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705975" y="4243685"/>
            <a:ext cx="66496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GPUs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24921" y="4243685"/>
            <a:ext cx="224879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7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705975" y="5247382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705975" y="4797921"/>
            <a:ext cx="681782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Batch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5203974" y="4712115"/>
            <a:ext cx="321168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2 × 16 × 7 = 224 effective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9705975" y="5801618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705975" y="5352157"/>
            <a:ext cx="1262063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Max length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6704915" y="5352157"/>
            <a:ext cx="74488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7,168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9705975" y="6355854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9705975" y="5906393"/>
            <a:ext cx="1574899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Samples seen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5484947" y="5807868"/>
            <a:ext cx="274903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245,280 (~2.0 epochs)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9705975" y="6910090"/>
            <a:ext cx="766762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705975" y="6460629"/>
            <a:ext cx="159634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Final eval loss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6556236" y="6460629"/>
            <a:ext cx="89356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0.3134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705975" y="7014865"/>
            <a:ext cx="23240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Eval token accuracy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6556236" y="7014865"/>
            <a:ext cx="893564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90.51%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tested separate full-SFT models with comparable sample exposure. Validation was taken out dynamically during the runtime.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dual-mode training setup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829756" y="2315394"/>
            <a:ext cx="3238500" cy="2153091"/>
          </a:xfrm>
          <a:prstGeom prst="roundRect">
            <a:avLst>
              <a:gd name="adj" fmla="val 4022"/>
            </a:avLst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 sz="3600">
              <a:latin typeface="Abadi MT Condensed Light" panose="020B0306030101010103" pitchFamily="34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2822865" y="2635737"/>
            <a:ext cx="3252281" cy="52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Dual-mode checkpoint-1280</a:t>
            </a:r>
            <a:endParaRPr lang="en-US" sz="2400" dirty="0">
              <a:latin typeface="Abadi MT Condensed Light" panose="020B0306030101010103" pitchFamily="34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2977948" y="3448576"/>
            <a:ext cx="3045318" cy="9586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333"/>
              </a:lnSpc>
              <a:buNone/>
            </a:pPr>
            <a:r>
              <a:rPr lang="en-US" sz="1400" dirty="0">
                <a:solidFill>
                  <a:srgbClr val="201F1D">
                    <a:alpha val="8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One Qwen3.5-4B checkpoint, per-request mode switch</a:t>
            </a:r>
            <a:endParaRPr lang="en-US" sz="1400" dirty="0">
              <a:latin typeface="Abadi MT Condensed Light" panose="020B0306030101010103" pitchFamily="34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6718857" y="2868443"/>
            <a:ext cx="1425781" cy="11602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34054"/>
              </a:lnSpc>
              <a:buNone/>
            </a:pPr>
            <a:r>
              <a:rPr lang="en-US" sz="4400" dirty="0">
                <a:solidFill>
                  <a:srgbClr val="B68235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→</a:t>
            </a:r>
            <a:endParaRPr lang="en-US" sz="4400" dirty="0">
              <a:latin typeface="Abadi MT Condensed Light" panose="020B0306030101010103" pitchFamily="34" charset="7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795239" y="1572889"/>
            <a:ext cx="7618970" cy="1611181"/>
          </a:xfrm>
          <a:prstGeom prst="roundRect">
            <a:avLst>
              <a:gd name="adj" fmla="val 5375"/>
            </a:avLst>
          </a:prstGeom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 sz="3600">
              <a:latin typeface="Abadi MT Condensed Light" panose="020B0306030101010103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8936179" y="1893231"/>
            <a:ext cx="13562141" cy="422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909"/>
              </a:lnSpc>
              <a:buNone/>
            </a:pPr>
            <a:r>
              <a:rPr lang="en-US" sz="1100" kern="0" spc="75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ENABLE_THINKING = FALSE</a:t>
            </a:r>
            <a:endParaRPr lang="en-US" sz="1100" dirty="0">
              <a:latin typeface="Abadi MT Condensed Light" panose="020B0306030101010103" pitchFamily="34" charset="77"/>
            </a:endParaRPr>
          </a:p>
        </p:txBody>
      </p:sp>
      <p:sp>
        <p:nvSpPr>
          <p:cNvPr id="9" name="Text 7"/>
          <p:cNvSpPr/>
          <p:nvPr/>
        </p:nvSpPr>
        <p:spPr>
          <a:xfrm>
            <a:off x="8936179" y="2427699"/>
            <a:ext cx="13562141" cy="522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400" dirty="0">
                <a:solidFill>
                  <a:srgbClr val="201F1D">
                    <a:alpha val="8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Empty open and closed think block as prefix, direct input_guardrail tool call</a:t>
            </a:r>
            <a:endParaRPr lang="en-US" sz="1400" dirty="0">
              <a:latin typeface="Abadi MT Condensed Light" panose="020B0306030101010103" pitchFamily="34" charset="7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795239" y="3530459"/>
            <a:ext cx="7618970" cy="1611181"/>
          </a:xfrm>
          <a:prstGeom prst="roundRect">
            <a:avLst>
              <a:gd name="adj" fmla="val 5375"/>
            </a:avLst>
          </a:prstGeom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 sz="3600" dirty="0">
              <a:latin typeface="Abadi MT Condensed Light" panose="020B0306030101010103" pitchFamily="34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936179" y="3850803"/>
            <a:ext cx="13562141" cy="422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909"/>
              </a:lnSpc>
              <a:buNone/>
            </a:pPr>
            <a:r>
              <a:rPr lang="en-US" sz="1100" kern="0" spc="75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ENABLE_THINKING = TRUE</a:t>
            </a:r>
            <a:endParaRPr lang="en-US" sz="1100" dirty="0">
              <a:latin typeface="Abadi MT Condensed Light" panose="020B0306030101010103" pitchFamily="34" charset="7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936179" y="4385269"/>
            <a:ext cx="13562141" cy="5226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400" dirty="0">
                <a:solidFill>
                  <a:srgbClr val="201F1D">
                    <a:alpha val="8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Open think tag as prefix, Visible reasoning trace, then input_guardrail tool call</a:t>
            </a:r>
            <a:endParaRPr lang="en-US" sz="1400" dirty="0">
              <a:latin typeface="Abadi MT Condensed Light" panose="020B0306030101010103" pitchFamily="34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07509" y="5858025"/>
            <a:ext cx="871728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Training run</a:t>
            </a:r>
            <a:endParaRPr lang="en-US" sz="2100" dirty="0">
              <a:latin typeface="Abadi MT Condensed Light" panose="020B0306030101010103" pitchFamily="34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07509" y="6404670"/>
            <a:ext cx="8784580" cy="23301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714"/>
              </a:lnSpc>
              <a:buNone/>
            </a:pPr>
            <a:r>
              <a:rPr lang="en-US" sz="1800" dirty="0">
                <a:solidFill>
                  <a:srgbClr val="1F1F1C">
                    <a:alpha val="7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Full-parameter SFT, max steps 1,280, LR 1e-5, max length 7,168</a:t>
            </a:r>
            <a:r>
              <a:rPr lang="en-US" dirty="0">
                <a:solidFill>
                  <a:srgbClr val="1F1F1C">
                    <a:alpha val="7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 algn="l">
              <a:lnSpc>
                <a:spcPct val="145714"/>
              </a:lnSpc>
              <a:buNone/>
            </a:pPr>
            <a:r>
              <a:rPr lang="en-US" dirty="0">
                <a:solidFill>
                  <a:srgbClr val="1F1F1C">
                    <a:alpha val="7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P</a:t>
            </a:r>
            <a:r>
              <a:rPr lang="en-US" sz="1800" dirty="0">
                <a:solidFill>
                  <a:srgbClr val="1F1F1C">
                    <a:alpha val="7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er-device batch 1, gradient accumulation 32, 4 GPUs </a:t>
            </a:r>
            <a:r>
              <a:rPr lang="en-US" sz="1800" dirty="0">
                <a:solidFill>
                  <a:srgbClr val="1F1F1C">
                    <a:alpha val="7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  <a:sym typeface="Wingdings" pitchFamily="2" charset="2"/>
              </a:rPr>
              <a:t> 128 effective batch size</a:t>
            </a:r>
          </a:p>
          <a:p>
            <a:pPr marL="0" indent="0" algn="l">
              <a:lnSpc>
                <a:spcPct val="145714"/>
              </a:lnSpc>
              <a:buNone/>
            </a:pPr>
            <a:r>
              <a:rPr lang="en-US" sz="1800" dirty="0">
                <a:solidFill>
                  <a:srgbClr val="1F1F1C">
                    <a:alpha val="7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7k Max length </a:t>
            </a:r>
            <a:r>
              <a:rPr lang="en-US" sz="1800" dirty="0">
                <a:solidFill>
                  <a:srgbClr val="1F1F1C">
                    <a:alpha val="7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  <a:sym typeface="Wingdings" pitchFamily="2" charset="2"/>
              </a:rPr>
              <a:t> 0.97 Million tokens/batch</a:t>
            </a:r>
            <a:endParaRPr lang="en-US" sz="1800" dirty="0">
              <a:solidFill>
                <a:srgbClr val="1F1F1C">
                  <a:alpha val="70000"/>
                </a:srgbClr>
              </a:solidFill>
              <a:latin typeface="Abadi MT Condensed Light" panose="020B0306030101010103" pitchFamily="34" charset="77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45714"/>
              </a:lnSpc>
              <a:buNone/>
            </a:pPr>
            <a:r>
              <a:rPr lang="en-US" sz="1800" dirty="0">
                <a:solidFill>
                  <a:srgbClr val="1F1F1C">
                    <a:alpha val="7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2,048 validation rows (1024 each mode).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441909" y="5769740"/>
            <a:ext cx="871728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Mode split (137,636 pooled rows, 50/50 safe/unsafe, RL+SFT)</a:t>
            </a:r>
            <a:endParaRPr lang="en-US" sz="2100" dirty="0">
              <a:latin typeface="Abadi MT Condensed Light" panose="020B0306030101010103" pitchFamily="34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441909" y="6404670"/>
            <a:ext cx="22002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Pooled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1594559" y="6448426"/>
            <a:ext cx="4667250" cy="26670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1594559" y="6448426"/>
            <a:ext cx="4667250" cy="266700"/>
          </a:xfrm>
          <a:prstGeom prst="rect">
            <a:avLst/>
          </a:prstGeom>
          <a:solidFill>
            <a:srgbClr val="9B9696">
              <a:alpha val="22000"/>
            </a:srgbClr>
          </a:solidFill>
          <a:ln w="9525">
            <a:solidFill>
              <a:srgbClr val="9B9797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6414209" y="6419404"/>
            <a:ext cx="102870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137,636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451383" y="7038743"/>
            <a:ext cx="2076450" cy="4875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Non-thinking train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1594559" y="7113092"/>
            <a:ext cx="4667250" cy="26670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1594559" y="7113092"/>
            <a:ext cx="2764780" cy="266700"/>
          </a:xfrm>
          <a:prstGeom prst="rect">
            <a:avLst/>
          </a:prstGeom>
          <a:solidFill>
            <a:srgbClr val="83689F">
              <a:alpha val="25000"/>
            </a:srgbClr>
          </a:solidFill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6414209" y="7084071"/>
            <a:ext cx="102870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81,520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9441909" y="7734003"/>
            <a:ext cx="220027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Thinking train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1594559" y="7777759"/>
            <a:ext cx="4667250" cy="26670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1594559" y="7777759"/>
            <a:ext cx="1902321" cy="266700"/>
          </a:xfrm>
          <a:prstGeom prst="rect">
            <a:avLst/>
          </a:prstGeom>
          <a:solidFill>
            <a:srgbClr val="BB6C3C">
              <a:alpha val="25000"/>
            </a:srgbClr>
          </a:solidFill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6414209" y="7748737"/>
            <a:ext cx="102870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56,116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merges both modes into one model.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mode split difficulty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1933277"/>
            <a:ext cx="1810512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Difficulty composition — pooled / non-thinking / thinking</a:t>
            </a:r>
            <a:endParaRPr lang="en-US" sz="2100" dirty="0">
              <a:latin typeface="Abadi MT Condensed Light" panose="020B0306030101010103" pitchFamily="34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914400" y="2646610"/>
            <a:ext cx="23050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Pooled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0" y="2652266"/>
            <a:ext cx="6587430" cy="342900"/>
          </a:xfrm>
          <a:prstGeom prst="rect">
            <a:avLst/>
          </a:prstGeom>
          <a:solidFill>
            <a:srgbClr val="B9B6B6">
              <a:alpha val="30000"/>
            </a:srgbClr>
          </a:solidFill>
          <a:ln w="9525">
            <a:solidFill>
              <a:srgbClr val="BAB6B6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787830" y="2652266"/>
            <a:ext cx="1859905" cy="342900"/>
          </a:xfrm>
          <a:prstGeom prst="rect">
            <a:avLst/>
          </a:prstGeom>
          <a:solidFill>
            <a:srgbClr val="605C5C">
              <a:alpha val="25000"/>
            </a:srgbClr>
          </a:solidFill>
          <a:ln w="9525">
            <a:solidFill>
              <a:srgbClr val="605D5D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647736" y="2652266"/>
            <a:ext cx="1363414" cy="342900"/>
          </a:xfrm>
          <a:prstGeom prst="rect">
            <a:avLst/>
          </a:prstGeom>
          <a:solidFill>
            <a:srgbClr val="B78334">
              <a:alpha val="25000"/>
            </a:srgbClr>
          </a:solidFill>
          <a:ln w="9525">
            <a:solidFill>
              <a:srgbClr val="B68235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3188950" y="2651373"/>
            <a:ext cx="25527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92,395 / 26,094 / 19,147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9" name="Text 7"/>
          <p:cNvSpPr/>
          <p:nvPr/>
        </p:nvSpPr>
        <p:spPr>
          <a:xfrm>
            <a:off x="914400" y="3315592"/>
            <a:ext cx="23050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Non-thinking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00400" y="3321248"/>
            <a:ext cx="6585942" cy="342900"/>
          </a:xfrm>
          <a:prstGeom prst="rect">
            <a:avLst/>
          </a:prstGeom>
          <a:solidFill>
            <a:srgbClr val="B9B6B6">
              <a:alpha val="30000"/>
            </a:srgbClr>
          </a:solidFill>
          <a:ln w="9525">
            <a:solidFill>
              <a:srgbClr val="BAB6B6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9786342" y="3321248"/>
            <a:ext cx="1860054" cy="342900"/>
          </a:xfrm>
          <a:prstGeom prst="rect">
            <a:avLst/>
          </a:prstGeom>
          <a:solidFill>
            <a:srgbClr val="605C5C">
              <a:alpha val="25000"/>
            </a:srgbClr>
          </a:solidFill>
          <a:ln w="9525">
            <a:solidFill>
              <a:srgbClr val="605D5D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1646396" y="3321248"/>
            <a:ext cx="1364605" cy="342900"/>
          </a:xfrm>
          <a:prstGeom prst="rect">
            <a:avLst/>
          </a:prstGeom>
          <a:solidFill>
            <a:srgbClr val="B78334">
              <a:alpha val="25000"/>
            </a:srgbClr>
          </a:solidFill>
          <a:ln w="9525">
            <a:solidFill>
              <a:srgbClr val="B68235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188950" y="3320355"/>
            <a:ext cx="25527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54,722 / 15,457 / 11,341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14400" y="4020888"/>
            <a:ext cx="23050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200400" y="4026543"/>
            <a:ext cx="6586835" cy="342900"/>
          </a:xfrm>
          <a:prstGeom prst="rect">
            <a:avLst/>
          </a:prstGeom>
          <a:solidFill>
            <a:srgbClr val="B9B6B6">
              <a:alpha val="30000"/>
            </a:srgbClr>
          </a:solidFill>
          <a:ln w="9525">
            <a:solidFill>
              <a:srgbClr val="BAB6B6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787235" y="4026543"/>
            <a:ext cx="1859012" cy="342900"/>
          </a:xfrm>
          <a:prstGeom prst="rect">
            <a:avLst/>
          </a:prstGeom>
          <a:solidFill>
            <a:srgbClr val="605C5C">
              <a:alpha val="25000"/>
            </a:srgbClr>
          </a:solidFill>
          <a:ln w="9525">
            <a:solidFill>
              <a:srgbClr val="605D5D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1646247" y="4026543"/>
            <a:ext cx="1364605" cy="342900"/>
          </a:xfrm>
          <a:prstGeom prst="rect">
            <a:avLst/>
          </a:prstGeom>
          <a:solidFill>
            <a:srgbClr val="B78334">
              <a:alpha val="25000"/>
            </a:srgbClr>
          </a:solidFill>
          <a:ln w="9525">
            <a:solidFill>
              <a:srgbClr val="B68235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188950" y="4025651"/>
            <a:ext cx="25527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37,673 / 10,637 / 7,806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14400" y="4665612"/>
            <a:ext cx="695771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easy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762571" y="4665612"/>
            <a:ext cx="1063228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medium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978200" y="4665612"/>
            <a:ext cx="71497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hard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14400" y="5830341"/>
            <a:ext cx="1810512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Label balance</a:t>
            </a:r>
            <a:endParaRPr lang="en-US" sz="2100" dirty="0">
              <a:latin typeface="Abadi MT Condensed Light" panose="020B0306030101010103" pitchFamily="34" charset="7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14400" y="6396037"/>
            <a:ext cx="23050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Non-thinking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200400" y="6401693"/>
            <a:ext cx="3429000" cy="342900"/>
          </a:xfrm>
          <a:prstGeom prst="rect">
            <a:avLst/>
          </a:prstGeom>
          <a:solidFill>
            <a:srgbClr val="84699F">
              <a:alpha val="22000"/>
            </a:srgbClr>
          </a:solidFill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629400" y="6401693"/>
            <a:ext cx="3429000" cy="342900"/>
          </a:xfrm>
          <a:prstGeom prst="rect">
            <a:avLst/>
          </a:prstGeom>
          <a:solidFill>
            <a:srgbClr val="896C9D">
              <a:alpha val="10000"/>
            </a:srgbClr>
          </a:solidFill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0248900" y="6410771"/>
            <a:ext cx="230505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40,760 / 40,760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914400" y="6940748"/>
            <a:ext cx="23050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00400" y="6946404"/>
            <a:ext cx="3429000" cy="342900"/>
          </a:xfrm>
          <a:prstGeom prst="rect">
            <a:avLst/>
          </a:prstGeom>
          <a:solidFill>
            <a:srgbClr val="BF693B">
              <a:alpha val="22000"/>
            </a:srgbClr>
          </a:solidFill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629400" y="6946404"/>
            <a:ext cx="3429000" cy="342900"/>
          </a:xfrm>
          <a:prstGeom prst="rect">
            <a:avLst/>
          </a:prstGeom>
          <a:solidFill>
            <a:srgbClr val="BA6C3B">
              <a:alpha val="10000"/>
            </a:srgbClr>
          </a:solidFill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48900" y="6955482"/>
            <a:ext cx="230505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28,058 / 28,058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914400" y="7390209"/>
            <a:ext cx="1810512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darker = safe, lighter = unsafe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Both mode-specific training splits preserve label balance and difficulty diversity.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Final training and validation metrics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B60E0C-10BC-0A12-E43A-CF56EEE420D3}"/>
              </a:ext>
            </a:extLst>
          </p:cNvPr>
          <p:cNvGrpSpPr/>
          <p:nvPr/>
        </p:nvGrpSpPr>
        <p:grpSpPr>
          <a:xfrm>
            <a:off x="914400" y="1535311"/>
            <a:ext cx="16823471" cy="4066579"/>
            <a:chOff x="914400" y="1535311"/>
            <a:chExt cx="16823471" cy="1092547"/>
          </a:xfrm>
        </p:grpSpPr>
        <p:sp>
          <p:nvSpPr>
            <p:cNvPr id="3" name="Shape 1"/>
            <p:cNvSpPr/>
            <p:nvPr/>
          </p:nvSpPr>
          <p:spPr>
            <a:xfrm>
              <a:off x="914400" y="1535311"/>
              <a:ext cx="5334000" cy="1092547"/>
            </a:xfrm>
            <a:prstGeom prst="roundRect">
              <a:avLst>
                <a:gd name="adj" fmla="val 3487"/>
              </a:avLst>
            </a:prstGeom>
            <a:ln w="9525">
              <a:solidFill>
                <a:srgbClr val="5E7EA3"/>
              </a:solidFill>
              <a:prstDash val="solid"/>
            </a:ln>
          </p:spPr>
          <p:txBody>
            <a:bodyPr/>
            <a:lstStyle/>
            <a:p>
              <a:endParaRPr lang="en-US" sz="4800">
                <a:latin typeface="Abadi MT Condensed Light" panose="020B0306030101010103" pitchFamily="34" charset="77"/>
              </a:endParaRPr>
            </a:p>
          </p:txBody>
        </p:sp>
        <p:sp>
          <p:nvSpPr>
            <p:cNvPr id="4" name="Text 2"/>
            <p:cNvSpPr/>
            <p:nvPr/>
          </p:nvSpPr>
          <p:spPr>
            <a:xfrm>
              <a:off x="1055340" y="1676251"/>
              <a:ext cx="5557331" cy="185738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140909"/>
                </a:lnSpc>
                <a:buNone/>
              </a:pPr>
              <a:r>
                <a:rPr lang="en-US" sz="1600" kern="0" spc="75" dirty="0">
                  <a:solidFill>
                    <a:srgbClr val="5E7EA3"/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WEEK 7 NON-THINKING</a:t>
              </a:r>
              <a:endParaRPr lang="en-US" sz="1600" dirty="0">
                <a:latin typeface="Abadi MT Condensed Light" panose="020B0306030101010103" pitchFamily="34" charset="77"/>
              </a:endParaRPr>
            </a:p>
          </p:txBody>
        </p:sp>
        <p:sp>
          <p:nvSpPr>
            <p:cNvPr id="5" name="Text 3"/>
            <p:cNvSpPr/>
            <p:nvPr/>
          </p:nvSpPr>
          <p:spPr>
            <a:xfrm>
              <a:off x="1055340" y="1911400"/>
              <a:ext cx="5203683" cy="613618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10000"/>
            </a:bodyPr>
            <a:lstStyle/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Train loss 0.0223 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step loss 0.0142 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Eval loss 0.0171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eval token acc 99.37% 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Runtime ~5h14m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peak mem 74.38 GiB</a:t>
              </a:r>
              <a:endParaRPr lang="en-US" sz="2000" dirty="0">
                <a:latin typeface="Abadi MT Condensed Light" panose="020B0306030101010103" pitchFamily="34" charset="77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6477000" y="1535311"/>
              <a:ext cx="5334000" cy="1092547"/>
            </a:xfrm>
            <a:prstGeom prst="roundRect">
              <a:avLst>
                <a:gd name="adj" fmla="val 3487"/>
              </a:avLst>
            </a:prstGeom>
            <a:ln w="9525">
              <a:solidFill>
                <a:srgbClr val="4F8F8A"/>
              </a:solidFill>
              <a:prstDash val="solid"/>
            </a:ln>
          </p:spPr>
          <p:txBody>
            <a:bodyPr/>
            <a:lstStyle/>
            <a:p>
              <a:endParaRPr lang="en-US" sz="4800">
                <a:latin typeface="Abadi MT Condensed Light" panose="020B0306030101010103" pitchFamily="34" charset="77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6617940" y="1676251"/>
              <a:ext cx="5557331" cy="185738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140909"/>
                </a:lnSpc>
                <a:buNone/>
              </a:pPr>
              <a:r>
                <a:rPr lang="en-US" sz="1600" kern="0" spc="75" dirty="0">
                  <a:solidFill>
                    <a:srgbClr val="4F8F8A"/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WEEK 7 THINKING</a:t>
              </a:r>
              <a:endParaRPr lang="en-US" sz="1600" dirty="0">
                <a:latin typeface="Abadi MT Condensed Light" panose="020B0306030101010103" pitchFamily="34" charset="77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6617940" y="1911400"/>
              <a:ext cx="5203683" cy="613618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10000"/>
            </a:bodyPr>
            <a:lstStyle/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Train loss 0.3255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step loss 0.3701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Eval loss 0.3134 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eval token acc 90.51% 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Runtime ~4h10m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peak mem 62.16 GiB</a:t>
              </a:r>
              <a:endParaRPr lang="en-US" sz="2000" dirty="0">
                <a:latin typeface="Abadi MT Condensed Light" panose="020B0306030101010103" pitchFamily="34" charset="77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12039600" y="1535311"/>
              <a:ext cx="5334000" cy="1092547"/>
            </a:xfrm>
            <a:prstGeom prst="roundRect">
              <a:avLst>
                <a:gd name="adj" fmla="val 3487"/>
              </a:avLst>
            </a:prstGeom>
            <a:ln w="9525">
              <a:solidFill>
                <a:srgbClr val="B68235"/>
              </a:solidFill>
              <a:prstDash val="solid"/>
            </a:ln>
          </p:spPr>
          <p:txBody>
            <a:bodyPr/>
            <a:lstStyle/>
            <a:p>
              <a:endParaRPr lang="en-US" sz="4800">
                <a:latin typeface="Abadi MT Condensed Light" panose="020B0306030101010103" pitchFamily="34" charset="77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2180540" y="1676251"/>
              <a:ext cx="5557331" cy="185738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lnSpc>
                  <a:spcPct val="140909"/>
                </a:lnSpc>
                <a:buNone/>
              </a:pPr>
              <a:r>
                <a:rPr lang="en-US" sz="1600" kern="0" spc="75" dirty="0">
                  <a:solidFill>
                    <a:srgbClr val="7D5411"/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WEEK 8 DUAL-MODE</a:t>
              </a:r>
              <a:endParaRPr lang="en-US" sz="1600" dirty="0">
                <a:latin typeface="Abadi MT Condensed Light" panose="020B0306030101010103" pitchFamily="34" charset="77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12180540" y="1911400"/>
              <a:ext cx="5203683" cy="613618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10000"/>
            </a:bodyPr>
            <a:lstStyle/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Train loss 0.2558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step loss 0.2108 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Eval loss 0.2480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eval token acc 91.90% 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Runtime ~8h</a:t>
              </a:r>
            </a:p>
            <a:p>
              <a:pPr marL="0" indent="0" algn="l">
                <a:lnSpc>
                  <a:spcPct val="134333"/>
                </a:lnSpc>
                <a:buNone/>
              </a:pPr>
              <a:r>
                <a:rPr lang="en-US" sz="2000" dirty="0">
                  <a:solidFill>
                    <a:srgbClr val="201F1D">
                      <a:alpha val="80000"/>
                    </a:srgbClr>
                  </a:solidFill>
                  <a:latin typeface="Abadi MT Condensed Light" panose="020B0306030101010103" pitchFamily="34" charset="77"/>
                  <a:ea typeface="Arial" pitchFamily="34" charset="-122"/>
                  <a:cs typeface="Arial" pitchFamily="34" charset="-120"/>
                </a:rPr>
                <a:t>peak mem 60.56 GiB</a:t>
              </a:r>
              <a:endParaRPr lang="en-US" sz="2000" dirty="0">
                <a:latin typeface="Abadi MT Condensed Light" panose="020B0306030101010103" pitchFamily="34" charset="77"/>
              </a:endParaRPr>
            </a:p>
          </p:txBody>
        </p:sp>
      </p:grpSp>
      <p:sp>
        <p:nvSpPr>
          <p:cNvPr id="12" name="Text 10"/>
          <p:cNvSpPr/>
          <p:nvPr/>
        </p:nvSpPr>
        <p:spPr>
          <a:xfrm>
            <a:off x="1036320" y="5922738"/>
            <a:ext cx="871728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Eval token accuracy</a:t>
            </a:r>
            <a:endParaRPr lang="en-US" sz="2100" dirty="0">
              <a:latin typeface="Abadi MT Condensed Light" panose="020B0306030101010103" pitchFamily="34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36320" y="6469384"/>
            <a:ext cx="23050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5E7EA3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non-thinking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84220" y="6522664"/>
            <a:ext cx="466725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284220" y="6522664"/>
            <a:ext cx="4637782" cy="247650"/>
          </a:xfrm>
          <a:prstGeom prst="rect">
            <a:avLst/>
          </a:prstGeom>
          <a:solidFill>
            <a:srgbClr val="6080A4">
              <a:alpha val="22000"/>
            </a:srgbClr>
          </a:solidFill>
          <a:ln w="9525">
            <a:solidFill>
              <a:srgbClr val="5E7EA3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103870" y="6484118"/>
            <a:ext cx="93345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99.37%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36320" y="6956945"/>
            <a:ext cx="23050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284220" y="7010225"/>
            <a:ext cx="466725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284220" y="7010225"/>
            <a:ext cx="4224189" cy="247650"/>
          </a:xfrm>
          <a:prstGeom prst="rect">
            <a:avLst/>
          </a:prstGeom>
          <a:solidFill>
            <a:srgbClr val="4D8D89">
              <a:alpha val="22000"/>
            </a:srgbClr>
          </a:solidFill>
          <a:ln w="9525">
            <a:solidFill>
              <a:srgbClr val="4F8F8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103870" y="6971679"/>
            <a:ext cx="93345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90.51%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36320" y="7444506"/>
            <a:ext cx="23050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dual-mode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284220" y="7497786"/>
            <a:ext cx="466725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84220" y="7497786"/>
            <a:ext cx="4289078" cy="247650"/>
          </a:xfrm>
          <a:prstGeom prst="rect">
            <a:avLst/>
          </a:prstGeom>
          <a:solidFill>
            <a:srgbClr val="B68437">
              <a:alpha val="22000"/>
            </a:srgbClr>
          </a:solidFill>
          <a:ln w="9525">
            <a:solidFill>
              <a:srgbClr val="B68235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103870" y="7459240"/>
            <a:ext cx="93345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91.90%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570720" y="5922738"/>
            <a:ext cx="871728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validation by mode</a:t>
            </a:r>
            <a:endParaRPr lang="en-US" sz="2100" dirty="0">
              <a:latin typeface="Abadi MT Condensed Light" panose="020B0306030101010103" pitchFamily="34" charset="7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570720" y="6469384"/>
            <a:ext cx="27241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Thinking verdict acc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2199620" y="6522664"/>
            <a:ext cx="4258121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2199620" y="6522664"/>
            <a:ext cx="4258121" cy="247650"/>
          </a:xfrm>
          <a:prstGeom prst="rect">
            <a:avLst/>
          </a:prstGeom>
          <a:solidFill>
            <a:srgbClr val="BF693B">
              <a:alpha val="22000"/>
            </a:srgbClr>
          </a:solidFill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6610141" y="6437075"/>
            <a:ext cx="961579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99.8%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70720" y="6956945"/>
            <a:ext cx="2552700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Non-thinking verdict acc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2199620" y="7187331"/>
            <a:ext cx="428625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2199620" y="7187331"/>
            <a:ext cx="3713113" cy="247650"/>
          </a:xfrm>
          <a:prstGeom prst="rect">
            <a:avLst/>
          </a:prstGeom>
          <a:solidFill>
            <a:srgbClr val="84699F">
              <a:alpha val="22000"/>
            </a:srgbClr>
          </a:solidFill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6638270" y="7148784"/>
            <a:ext cx="933450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86.63%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70720" y="7855867"/>
            <a:ext cx="8162544" cy="11268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Exact match: thinking 99.80%, non-thinking 79.94%. </a:t>
            </a:r>
          </a:p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Format validity: thinking 100.00%, non-thinking 92.72%. </a:t>
            </a:r>
          </a:p>
          <a:p>
            <a:pPr marL="0" indent="0" algn="l">
              <a:lnSpc>
                <a:spcPct val="131154"/>
              </a:lnSpc>
              <a:buNone/>
            </a:pPr>
            <a:r>
              <a:rPr lang="en-US" sz="16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Overall: 93.31% verdict acc, 96.36% format validity.</a:t>
            </a:r>
            <a:endParaRPr lang="en-US" sz="1650" dirty="0">
              <a:latin typeface="Abadi MT Condensed Light" panose="020B0306030101010103" pitchFamily="34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Final dual-mode validation is strong, with especially clean thinking-mode validation.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Internal test: verdict accuracy leaderboard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1325761"/>
            <a:ext cx="1810512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201C">
                    <a:alpha val="6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13k internal test set — 6,500 safe / 6,500 unsafe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463540" y="2522414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non-thinking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87840" y="2575694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87840" y="2575694"/>
            <a:ext cx="11158240" cy="247650"/>
          </a:xfrm>
          <a:prstGeom prst="rect">
            <a:avLst/>
          </a:prstGeom>
          <a:solidFill>
            <a:srgbClr val="83689F">
              <a:alpha val="25000"/>
            </a:srgbClr>
          </a:solidFill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7" name="Text 5"/>
          <p:cNvSpPr/>
          <p:nvPr/>
        </p:nvSpPr>
        <p:spPr>
          <a:xfrm>
            <a:off x="16313140" y="2522414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94.78%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63540" y="2981400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87840" y="3034680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87840" y="3034680"/>
            <a:ext cx="11120586" cy="247650"/>
          </a:xfrm>
          <a:prstGeom prst="rect">
            <a:avLst/>
          </a:prstGeom>
          <a:solidFill>
            <a:srgbClr val="BB6C3C">
              <a:alpha val="25000"/>
            </a:srgbClr>
          </a:solidFill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6313140" y="2981400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94.46%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3540" y="3440386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5E7EA3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v2 non-thinking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387840" y="3493666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87840" y="3493666"/>
            <a:ext cx="11101834" cy="247650"/>
          </a:xfrm>
          <a:prstGeom prst="rect">
            <a:avLst/>
          </a:prstGeom>
          <a:solidFill>
            <a:srgbClr val="6080A3">
              <a:alpha val="25000"/>
            </a:srgbClr>
          </a:solidFill>
          <a:ln w="9525">
            <a:solidFill>
              <a:srgbClr val="5E7EA3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6313140" y="3440386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94.30%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63540" y="3899372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</a:t>
            </a:r>
            <a:r>
              <a:rPr lang="en-US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7</a:t>
            </a:r>
            <a:r>
              <a:rPr lang="en-US" sz="1800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 v2 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387840" y="3952652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387840" y="3952652"/>
            <a:ext cx="11015811" cy="247650"/>
          </a:xfrm>
          <a:prstGeom prst="rect">
            <a:avLst/>
          </a:prstGeom>
          <a:solidFill>
            <a:srgbClr val="508F8B">
              <a:alpha val="25000"/>
            </a:srgbClr>
          </a:solidFill>
          <a:ln w="9525">
            <a:solidFill>
              <a:srgbClr val="4F8F8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6313140" y="3899372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93.57%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63540" y="4358358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v1 thinking LoRA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387840" y="4411638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387840" y="4411638"/>
            <a:ext cx="10615613" cy="247650"/>
          </a:xfrm>
          <a:prstGeom prst="rect">
            <a:avLst/>
          </a:prstGeom>
          <a:solidFill>
            <a:srgbClr val="8C8782">
              <a:alpha val="2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6313140" y="4358358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90.17%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63540" y="4817344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v1 thinking full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387840" y="4870624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387840" y="4870624"/>
            <a:ext cx="10142339" cy="247650"/>
          </a:xfrm>
          <a:prstGeom prst="rect">
            <a:avLst/>
          </a:prstGeom>
          <a:solidFill>
            <a:srgbClr val="8C8782">
              <a:alpha val="2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6313140" y="4817344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86.15%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63540" y="5276330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Qwen3.5-4B base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7840" y="5329610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387840" y="5329610"/>
            <a:ext cx="10135195" cy="247650"/>
          </a:xfrm>
          <a:prstGeom prst="rect">
            <a:avLst/>
          </a:prstGeom>
          <a:solidFill>
            <a:srgbClr val="8C8782">
              <a:alpha val="2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6313140" y="5276330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86.09%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63540" y="5735315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v0 full SFT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387840" y="5788596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87840" y="5788596"/>
            <a:ext cx="9986814" cy="247650"/>
          </a:xfrm>
          <a:prstGeom prst="rect">
            <a:avLst/>
          </a:prstGeom>
          <a:solidFill>
            <a:srgbClr val="8C8782">
              <a:alpha val="2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6313140" y="5735315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84.83%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63540" y="6194301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Nemotron-3.5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387840" y="6247582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87840" y="6247582"/>
            <a:ext cx="9480649" cy="247650"/>
          </a:xfrm>
          <a:prstGeom prst="rect">
            <a:avLst/>
          </a:prstGeom>
          <a:solidFill>
            <a:srgbClr val="8C8782">
              <a:alpha val="2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6313140" y="6194301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80.53%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63540" y="6653287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LlamaGuard-4-12B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387840" y="6706568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87840" y="6706568"/>
            <a:ext cx="8889653" cy="247650"/>
          </a:xfrm>
          <a:prstGeom prst="rect">
            <a:avLst/>
          </a:prstGeom>
          <a:solidFill>
            <a:srgbClr val="8C8782">
              <a:alpha val="2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6313140" y="6653287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75.51%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63540" y="7112273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VLGuard-LLaVA-13B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387840" y="7165554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4387840" y="7165554"/>
            <a:ext cx="7314456" cy="247650"/>
          </a:xfrm>
          <a:prstGeom prst="rect">
            <a:avLst/>
          </a:prstGeom>
          <a:solidFill>
            <a:srgbClr val="8C8782">
              <a:alpha val="2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6313140" y="7112273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62.13%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463540" y="7571259"/>
            <a:ext cx="37719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Qwen3.5 base-thinking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387840" y="7624540"/>
            <a:ext cx="11772900" cy="2476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387840" y="7624540"/>
            <a:ext cx="137666" cy="247650"/>
          </a:xfrm>
          <a:prstGeom prst="rect">
            <a:avLst/>
          </a:prstGeom>
          <a:solidFill>
            <a:srgbClr val="8C8782">
              <a:alpha val="2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6313140" y="7571259"/>
            <a:ext cx="10287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1.17%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dual-mode is the strongest internal-test performer, in either inference mode.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1D8D25-74A1-8671-6FAC-42E27A25C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A64B48-FDD4-03C6-8B7F-7C38E97F07A3}"/>
              </a:ext>
            </a:extLst>
          </p:cNvPr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cs typeface="Arial" pitchFamily="34" charset="-120"/>
              </a:rPr>
              <a:t>Internal Test on more models against our Think-</a:t>
            </a:r>
            <a:r>
              <a:rPr lang="en-US" sz="4500" kern="0" spc="-45" dirty="0" err="1">
                <a:solidFill>
                  <a:srgbClr val="201F1D"/>
                </a:solidFill>
                <a:latin typeface="Abadi MT Condensed Light" panose="020B0306030101010103" pitchFamily="34" charset="77"/>
                <a:cs typeface="Arial" pitchFamily="34" charset="-120"/>
              </a:rPr>
              <a:t>NoThink</a:t>
            </a: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cs typeface="Arial" pitchFamily="34" charset="-120"/>
              </a:rPr>
              <a:t> model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553106C-97AF-5599-CAA1-9381791FB17A}"/>
              </a:ext>
            </a:extLst>
          </p:cNvPr>
          <p:cNvSpPr/>
          <p:nvPr/>
        </p:nvSpPr>
        <p:spPr>
          <a:xfrm>
            <a:off x="914400" y="1325761"/>
            <a:ext cx="1810512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201C">
                    <a:alpha val="60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13k internal test set — 6,500 safe / 6,500 unsafe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5F75D371-0C67-63A7-97D6-CCDB153A1222}"/>
              </a:ext>
            </a:extLst>
          </p:cNvPr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Overall our model performs the best among all existing Text-Image guardrails.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45499E60-3CFA-1AD9-242D-4E5C986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63" y="2124114"/>
            <a:ext cx="17375473" cy="6649183"/>
          </a:xfrm>
          <a:prstGeom prst="rect">
            <a:avLst/>
          </a:prstGeom>
          <a:effectLst>
            <a:softEdge rad="93245"/>
          </a:effectLst>
        </p:spPr>
      </p:pic>
    </p:spTree>
    <p:extLst>
      <p:ext uri="{BB962C8B-B14F-4D97-AF65-F5344CB8AC3E}">
        <p14:creationId xmlns:p14="http://schemas.microsoft.com/office/powerpoint/2010/main" val="4061636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Internal test: safe / unsafe F1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28650" y="1658243"/>
            <a:ext cx="31432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LlamaGuard-4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943350" y="1587698"/>
            <a:ext cx="10385524" cy="152400"/>
          </a:xfrm>
          <a:prstGeom prst="rect">
            <a:avLst/>
          </a:prstGeom>
          <a:solidFill>
            <a:srgbClr val="8B8884">
              <a:alpha val="3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4424124" y="1516261"/>
            <a:ext cx="107156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safe 77.33%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943350" y="1930598"/>
            <a:ext cx="9852422" cy="152400"/>
          </a:xfrm>
          <a:prstGeom prst="rect">
            <a:avLst/>
          </a:prstGeom>
          <a:solidFill>
            <a:srgbClr val="8C8C84">
              <a:alpha val="12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891022" y="1859161"/>
            <a:ext cx="13810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unsafe 73.36%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628650" y="2448818"/>
            <a:ext cx="31432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VLGuard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943350" y="2378273"/>
            <a:ext cx="6210002" cy="152400"/>
          </a:xfrm>
          <a:prstGeom prst="rect">
            <a:avLst/>
          </a:prstGeom>
          <a:solidFill>
            <a:srgbClr val="8B8884">
              <a:alpha val="3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248602" y="2306836"/>
            <a:ext cx="110683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safe 46.24%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943350" y="2721173"/>
            <a:ext cx="9504462" cy="152400"/>
          </a:xfrm>
          <a:prstGeom prst="rect">
            <a:avLst/>
          </a:prstGeom>
          <a:solidFill>
            <a:srgbClr val="8C8C84">
              <a:alpha val="12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543062" y="2649736"/>
            <a:ext cx="133981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unsafe 70.77%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28650" y="3239393"/>
            <a:ext cx="31432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Nemotron-3.5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943350" y="3168848"/>
            <a:ext cx="10740033" cy="152400"/>
          </a:xfrm>
          <a:prstGeom prst="rect">
            <a:avLst/>
          </a:prstGeom>
          <a:solidFill>
            <a:srgbClr val="8B8884">
              <a:alpha val="3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4778633" y="3097411"/>
            <a:ext cx="108034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safe 79.97%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43350" y="3511748"/>
            <a:ext cx="10887819" cy="152400"/>
          </a:xfrm>
          <a:prstGeom prst="rect">
            <a:avLst/>
          </a:prstGeom>
          <a:solidFill>
            <a:srgbClr val="8C8C84">
              <a:alpha val="12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926419" y="3440311"/>
            <a:ext cx="134292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unsafe 81.07%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28650" y="4029968"/>
            <a:ext cx="31432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Qwen3.5 base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943350" y="3959423"/>
            <a:ext cx="11669464" cy="152400"/>
          </a:xfrm>
          <a:prstGeom prst="rect">
            <a:avLst/>
          </a:prstGeom>
          <a:solidFill>
            <a:srgbClr val="8B8884">
              <a:alpha val="30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5708064" y="3887986"/>
            <a:ext cx="11251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safe 86.89%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943350" y="4302323"/>
            <a:ext cx="11441162" cy="152400"/>
          </a:xfrm>
          <a:prstGeom prst="rect">
            <a:avLst/>
          </a:prstGeom>
          <a:solidFill>
            <a:srgbClr val="8C8C84">
              <a:alpha val="12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5479762" y="4230886"/>
            <a:ext cx="135929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unsafe 85.19%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28650" y="5115818"/>
            <a:ext cx="31432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5E7EA3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v2 non-thinking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43350" y="4897636"/>
            <a:ext cx="12324755" cy="152400"/>
          </a:xfrm>
          <a:prstGeom prst="rect">
            <a:avLst/>
          </a:prstGeom>
          <a:solidFill>
            <a:srgbClr val="5D7EA2">
              <a:alpha val="30000"/>
            </a:srgbClr>
          </a:solidFill>
          <a:ln w="9525">
            <a:solidFill>
              <a:srgbClr val="5E7EA3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6363355" y="4678561"/>
            <a:ext cx="108644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safe 94.34%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943350" y="5535811"/>
            <a:ext cx="12137827" cy="152400"/>
          </a:xfrm>
          <a:prstGeom prst="rect">
            <a:avLst/>
          </a:prstGeom>
          <a:solidFill>
            <a:srgbClr val="5A7BA5">
              <a:alpha val="12000"/>
            </a:srgbClr>
          </a:solidFill>
          <a:ln w="9525">
            <a:solidFill>
              <a:srgbClr val="5E7EA3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6176427" y="5316736"/>
            <a:ext cx="1273373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unsafe 94.27%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8650" y="6496943"/>
            <a:ext cx="31432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v2 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943350" y="6278761"/>
            <a:ext cx="12313295" cy="152400"/>
          </a:xfrm>
          <a:prstGeom prst="rect">
            <a:avLst/>
          </a:prstGeom>
          <a:solidFill>
            <a:srgbClr val="4F8E8B">
              <a:alpha val="30000"/>
            </a:srgbClr>
          </a:solidFill>
          <a:ln w="9525">
            <a:solidFill>
              <a:srgbClr val="4F8F8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6351895" y="6059686"/>
            <a:ext cx="109790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safe 93.64%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943350" y="6916936"/>
            <a:ext cx="12112526" cy="152400"/>
          </a:xfrm>
          <a:prstGeom prst="rect">
            <a:avLst/>
          </a:prstGeom>
          <a:solidFill>
            <a:srgbClr val="528C8C">
              <a:alpha val="12000"/>
            </a:srgbClr>
          </a:solidFill>
          <a:ln w="9525">
            <a:solidFill>
              <a:srgbClr val="4F8F8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6151126" y="6697861"/>
            <a:ext cx="129867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unsafe 93.52%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28650" y="7878068"/>
            <a:ext cx="31432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non-thinking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3943350" y="7659886"/>
            <a:ext cx="12344846" cy="152400"/>
          </a:xfrm>
          <a:prstGeom prst="rect">
            <a:avLst/>
          </a:prstGeom>
          <a:solidFill>
            <a:srgbClr val="84679F">
              <a:alpha val="30000"/>
            </a:srgbClr>
          </a:solidFill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6383446" y="7440811"/>
            <a:ext cx="1066354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safe 94.79%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3943350" y="8298061"/>
            <a:ext cx="12144821" cy="152400"/>
          </a:xfrm>
          <a:prstGeom prst="rect">
            <a:avLst/>
          </a:prstGeom>
          <a:solidFill>
            <a:srgbClr val="846B9C">
              <a:alpha val="12000"/>
            </a:srgbClr>
          </a:solidFill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6183421" y="8078986"/>
            <a:ext cx="126637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unsafe 94.78%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28650" y="9259193"/>
            <a:ext cx="314325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2857"/>
              </a:lnSpc>
              <a:buNone/>
            </a:pPr>
            <a:r>
              <a:rPr lang="en-US" sz="18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thinking</a:t>
            </a:r>
            <a:endParaRPr lang="en-US" sz="1800" dirty="0">
              <a:latin typeface="Abadi MT Condensed Light" panose="020B0306030101010103" pitchFamily="34" charset="77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943350" y="9041011"/>
            <a:ext cx="12327731" cy="152400"/>
          </a:xfrm>
          <a:prstGeom prst="rect">
            <a:avLst/>
          </a:prstGeom>
          <a:solidFill>
            <a:srgbClr val="BD6A3C">
              <a:alpha val="30000"/>
            </a:srgbClr>
          </a:solidFill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6366331" y="8821936"/>
            <a:ext cx="108346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safe 94.45%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3943350" y="9679186"/>
            <a:ext cx="12139315" cy="152400"/>
          </a:xfrm>
          <a:prstGeom prst="rect">
            <a:avLst/>
          </a:prstGeom>
          <a:solidFill>
            <a:srgbClr val="BD6B3A">
              <a:alpha val="12000"/>
            </a:srgbClr>
          </a:solidFill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6177915" y="9460111"/>
            <a:ext cx="127188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unsafe 94.47%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14400" y="10203061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Dual-mode is balanced: both safe and unsafe F1 sit around 94.5–94.8%.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679219C5-E50F-A467-E1B1-2315364D1657}"/>
              </a:ext>
            </a:extLst>
          </p:cNvPr>
          <p:cNvSpPr/>
          <p:nvPr/>
        </p:nvSpPr>
        <p:spPr>
          <a:xfrm flipV="1">
            <a:off x="1238324" y="4656316"/>
            <a:ext cx="16297869" cy="45719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5" name="Shape 7">
            <a:extLst>
              <a:ext uri="{FF2B5EF4-FFF2-40B4-BE49-F238E27FC236}">
                <a16:creationId xmlns:a16="http://schemas.microsoft.com/office/drawing/2014/main" id="{359F3E43-6D2C-2FC5-080E-045A6E7FD5B5}"/>
              </a:ext>
            </a:extLst>
          </p:cNvPr>
          <p:cNvSpPr/>
          <p:nvPr/>
        </p:nvSpPr>
        <p:spPr>
          <a:xfrm flipV="1">
            <a:off x="1238324" y="5933957"/>
            <a:ext cx="16297869" cy="45719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6" name="Shape 7">
            <a:extLst>
              <a:ext uri="{FF2B5EF4-FFF2-40B4-BE49-F238E27FC236}">
                <a16:creationId xmlns:a16="http://schemas.microsoft.com/office/drawing/2014/main" id="{9E16CC4A-B938-CDCF-0980-EED492FC9682}"/>
              </a:ext>
            </a:extLst>
          </p:cNvPr>
          <p:cNvSpPr/>
          <p:nvPr/>
        </p:nvSpPr>
        <p:spPr>
          <a:xfrm flipV="1">
            <a:off x="1238324" y="7338403"/>
            <a:ext cx="16297869" cy="45719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7" name="Shape 7">
            <a:extLst>
              <a:ext uri="{FF2B5EF4-FFF2-40B4-BE49-F238E27FC236}">
                <a16:creationId xmlns:a16="http://schemas.microsoft.com/office/drawing/2014/main" id="{7A3928B7-FC25-F5DE-F70A-78734D555DCC}"/>
              </a:ext>
            </a:extLst>
          </p:cNvPr>
          <p:cNvSpPr/>
          <p:nvPr/>
        </p:nvSpPr>
        <p:spPr>
          <a:xfrm flipV="1">
            <a:off x="1238324" y="8734308"/>
            <a:ext cx="16297869" cy="45719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8" name="Shape 7">
            <a:extLst>
              <a:ext uri="{FF2B5EF4-FFF2-40B4-BE49-F238E27FC236}">
                <a16:creationId xmlns:a16="http://schemas.microsoft.com/office/drawing/2014/main" id="{90D1E80F-585E-33F4-9DE3-8E2ADC0BF8F1}"/>
              </a:ext>
            </a:extLst>
          </p:cNvPr>
          <p:cNvSpPr/>
          <p:nvPr/>
        </p:nvSpPr>
        <p:spPr>
          <a:xfrm flipV="1">
            <a:off x="1238324" y="2211645"/>
            <a:ext cx="16297869" cy="45719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9" name="Shape 7">
            <a:extLst>
              <a:ext uri="{FF2B5EF4-FFF2-40B4-BE49-F238E27FC236}">
                <a16:creationId xmlns:a16="http://schemas.microsoft.com/office/drawing/2014/main" id="{346BEDF5-3C77-A171-D848-8D66F54028DC}"/>
              </a:ext>
            </a:extLst>
          </p:cNvPr>
          <p:cNvSpPr/>
          <p:nvPr/>
        </p:nvSpPr>
        <p:spPr>
          <a:xfrm flipV="1">
            <a:off x="1238324" y="3003392"/>
            <a:ext cx="16297869" cy="45719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0" name="Shape 7">
            <a:extLst>
              <a:ext uri="{FF2B5EF4-FFF2-40B4-BE49-F238E27FC236}">
                <a16:creationId xmlns:a16="http://schemas.microsoft.com/office/drawing/2014/main" id="{C6DE4C19-18EC-6A1D-410F-2BFBFBB7B555}"/>
              </a:ext>
            </a:extLst>
          </p:cNvPr>
          <p:cNvSpPr/>
          <p:nvPr/>
        </p:nvSpPr>
        <p:spPr>
          <a:xfrm flipV="1">
            <a:off x="1238324" y="3774739"/>
            <a:ext cx="16297869" cy="45719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Internal test: policy prediction metrics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1974428"/>
            <a:ext cx="875919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Exact set match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733425" y="2453506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Nemotron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838450" y="2515418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38450" y="2515418"/>
            <a:ext cx="1399431" cy="171450"/>
          </a:xfrm>
          <a:prstGeom prst="rect">
            <a:avLst/>
          </a:prstGeom>
          <a:solidFill>
            <a:srgbClr val="8B8783">
              <a:alpha val="25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7" name="Text 5"/>
          <p:cNvSpPr/>
          <p:nvPr/>
        </p:nvSpPr>
        <p:spPr>
          <a:xfrm>
            <a:off x="8115300" y="2453506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27.11%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3425" y="2824981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Qwen3.5 base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838450" y="2886893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838450" y="2886893"/>
            <a:ext cx="1716435" cy="171450"/>
          </a:xfrm>
          <a:prstGeom prst="rect">
            <a:avLst/>
          </a:prstGeom>
          <a:solidFill>
            <a:srgbClr val="8B8783">
              <a:alpha val="25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115300" y="2824981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33.25%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33425" y="3196456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5E7EA3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838450" y="3258368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838450" y="3258368"/>
            <a:ext cx="2974628" cy="171450"/>
          </a:xfrm>
          <a:prstGeom prst="rect">
            <a:avLst/>
          </a:prstGeom>
          <a:solidFill>
            <a:srgbClr val="6080A3">
              <a:alpha val="25000"/>
            </a:srgbClr>
          </a:solidFill>
          <a:ln w="9525">
            <a:solidFill>
              <a:srgbClr val="5E7EA3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115300" y="3196456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57.62%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33425" y="3567931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838450" y="3629843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838450" y="3629843"/>
            <a:ext cx="2923431" cy="171450"/>
          </a:xfrm>
          <a:prstGeom prst="rect">
            <a:avLst/>
          </a:prstGeom>
          <a:solidFill>
            <a:srgbClr val="508F8B">
              <a:alpha val="25000"/>
            </a:srgbClr>
          </a:solidFill>
          <a:ln w="9525">
            <a:solidFill>
              <a:srgbClr val="4F8F8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115300" y="3567931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56.63%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38200" y="3939406"/>
            <a:ext cx="18859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838450" y="4148956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838450" y="4148956"/>
            <a:ext cx="3091309" cy="171450"/>
          </a:xfrm>
          <a:prstGeom prst="rect">
            <a:avLst/>
          </a:prstGeom>
          <a:solidFill>
            <a:srgbClr val="83689F">
              <a:alpha val="25000"/>
            </a:srgbClr>
          </a:solidFill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115300" y="4087043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59.88%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33425" y="4606156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838450" y="4668068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838450" y="4668068"/>
            <a:ext cx="3094881" cy="171450"/>
          </a:xfrm>
          <a:prstGeom prst="rect">
            <a:avLst/>
          </a:prstGeom>
          <a:solidFill>
            <a:srgbClr val="BB6C3C">
              <a:alpha val="25000"/>
            </a:srgbClr>
          </a:solidFill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115300" y="4606156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59.95%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410700" y="1974428"/>
            <a:ext cx="875919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Any-overlap match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229725" y="2453506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Nemotron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1334750" y="2515418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1334750" y="2515418"/>
            <a:ext cx="3588990" cy="171450"/>
          </a:xfrm>
          <a:prstGeom prst="rect">
            <a:avLst/>
          </a:prstGeom>
          <a:solidFill>
            <a:srgbClr val="8B8783">
              <a:alpha val="25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6611600" y="2453506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69.52%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229725" y="2824981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Qwen3.5 base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1334750" y="2886893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1334750" y="2886893"/>
            <a:ext cx="3609529" cy="171450"/>
          </a:xfrm>
          <a:prstGeom prst="rect">
            <a:avLst/>
          </a:prstGeom>
          <a:solidFill>
            <a:srgbClr val="8B8783">
              <a:alpha val="25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6611600" y="2824981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69.92%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229725" y="3196456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5E7EA3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11334750" y="3258368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11334750" y="3258368"/>
            <a:ext cx="4642098" cy="171450"/>
          </a:xfrm>
          <a:prstGeom prst="rect">
            <a:avLst/>
          </a:prstGeom>
          <a:solidFill>
            <a:srgbClr val="6080A3">
              <a:alpha val="25000"/>
            </a:srgbClr>
          </a:solidFill>
          <a:ln w="9525">
            <a:solidFill>
              <a:srgbClr val="5E7EA3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6611600" y="3196456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89.92%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229725" y="3567931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11334750" y="3629843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11334750" y="3629843"/>
            <a:ext cx="4679752" cy="171450"/>
          </a:xfrm>
          <a:prstGeom prst="rect">
            <a:avLst/>
          </a:prstGeom>
          <a:solidFill>
            <a:srgbClr val="508F8B">
              <a:alpha val="25000"/>
            </a:srgbClr>
          </a:solidFill>
          <a:ln w="9525">
            <a:solidFill>
              <a:srgbClr val="4F8F8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6611600" y="3567931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90.65%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334500" y="3939406"/>
            <a:ext cx="18859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11334750" y="4148956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11334750" y="4148956"/>
            <a:ext cx="4774257" cy="171450"/>
          </a:xfrm>
          <a:prstGeom prst="rect">
            <a:avLst/>
          </a:prstGeom>
          <a:solidFill>
            <a:srgbClr val="83689F">
              <a:alpha val="25000"/>
            </a:srgbClr>
          </a:solidFill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6611600" y="4087043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92.48%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9229725" y="4606156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11334750" y="4668068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11334750" y="4668068"/>
            <a:ext cx="4792266" cy="171450"/>
          </a:xfrm>
          <a:prstGeom prst="rect">
            <a:avLst/>
          </a:prstGeom>
          <a:solidFill>
            <a:srgbClr val="BB6C3C">
              <a:alpha val="25000"/>
            </a:srgbClr>
          </a:solidFill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6611600" y="4606156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92.83%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914400" y="5509617"/>
            <a:ext cx="875919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Micro F1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733425" y="5988695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Nemotron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2838450" y="6050607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2838450" y="6050607"/>
            <a:ext cx="2793355" cy="171450"/>
          </a:xfrm>
          <a:prstGeom prst="rect">
            <a:avLst/>
          </a:prstGeom>
          <a:solidFill>
            <a:srgbClr val="8B8783">
              <a:alpha val="25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115300" y="5988695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54.11%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733425" y="6360170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Qwen3.5 base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2838450" y="6422082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2838450" y="6422082"/>
            <a:ext cx="3040112" cy="171450"/>
          </a:xfrm>
          <a:prstGeom prst="rect">
            <a:avLst/>
          </a:prstGeom>
          <a:solidFill>
            <a:srgbClr val="8B8783">
              <a:alpha val="25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115300" y="636017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58.89%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733425" y="6731645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5E7EA3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2838450" y="6793557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2838450" y="6793557"/>
            <a:ext cx="4179987" cy="171450"/>
          </a:xfrm>
          <a:prstGeom prst="rect">
            <a:avLst/>
          </a:prstGeom>
          <a:solidFill>
            <a:srgbClr val="6080A3">
              <a:alpha val="25000"/>
            </a:srgbClr>
          </a:solidFill>
          <a:ln w="9525">
            <a:solidFill>
              <a:srgbClr val="5E7EA3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8115300" y="6731645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80.97%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733425" y="7103120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67" name="Shape 65"/>
          <p:cNvSpPr/>
          <p:nvPr/>
        </p:nvSpPr>
        <p:spPr>
          <a:xfrm>
            <a:off x="2838450" y="7165032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2838450" y="7165032"/>
            <a:ext cx="4185791" cy="171450"/>
          </a:xfrm>
          <a:prstGeom prst="rect">
            <a:avLst/>
          </a:prstGeom>
          <a:solidFill>
            <a:srgbClr val="508F8B">
              <a:alpha val="25000"/>
            </a:srgbClr>
          </a:solidFill>
          <a:ln w="9525">
            <a:solidFill>
              <a:srgbClr val="4F8F8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8115300" y="710312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81.08%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838200" y="7474595"/>
            <a:ext cx="18859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71" name="Shape 69"/>
          <p:cNvSpPr/>
          <p:nvPr/>
        </p:nvSpPr>
        <p:spPr>
          <a:xfrm>
            <a:off x="2838450" y="7684145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2838450" y="7684145"/>
            <a:ext cx="4205288" cy="171450"/>
          </a:xfrm>
          <a:prstGeom prst="rect">
            <a:avLst/>
          </a:prstGeom>
          <a:solidFill>
            <a:srgbClr val="83689F">
              <a:alpha val="25000"/>
            </a:srgbClr>
          </a:solidFill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8115300" y="7622232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81.46%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74" name="Text 72"/>
          <p:cNvSpPr/>
          <p:nvPr/>
        </p:nvSpPr>
        <p:spPr>
          <a:xfrm>
            <a:off x="733425" y="8141345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75" name="Shape 73"/>
          <p:cNvSpPr/>
          <p:nvPr/>
        </p:nvSpPr>
        <p:spPr>
          <a:xfrm>
            <a:off x="2838450" y="8203257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76" name="Shape 74"/>
          <p:cNvSpPr/>
          <p:nvPr/>
        </p:nvSpPr>
        <p:spPr>
          <a:xfrm>
            <a:off x="2838450" y="8203257"/>
            <a:ext cx="4255889" cy="171450"/>
          </a:xfrm>
          <a:prstGeom prst="rect">
            <a:avLst/>
          </a:prstGeom>
          <a:solidFill>
            <a:srgbClr val="BB6C3C">
              <a:alpha val="25000"/>
            </a:srgbClr>
          </a:solidFill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8115300" y="8141345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82.44%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9410700" y="5509617"/>
            <a:ext cx="875919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Macro F1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9229725" y="5988695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Nemotron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80" name="Shape 78"/>
          <p:cNvSpPr/>
          <p:nvPr/>
        </p:nvSpPr>
        <p:spPr>
          <a:xfrm>
            <a:off x="11334750" y="6050607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81" name="Shape 79"/>
          <p:cNvSpPr/>
          <p:nvPr/>
        </p:nvSpPr>
        <p:spPr>
          <a:xfrm>
            <a:off x="11334750" y="6050607"/>
            <a:ext cx="2633365" cy="171450"/>
          </a:xfrm>
          <a:prstGeom prst="rect">
            <a:avLst/>
          </a:prstGeom>
          <a:solidFill>
            <a:srgbClr val="8B8783">
              <a:alpha val="25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16611600" y="5988695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51.01%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9229725" y="6360170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Qwen3.5 base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11334750" y="6422082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85" name="Shape 83"/>
          <p:cNvSpPr/>
          <p:nvPr/>
        </p:nvSpPr>
        <p:spPr>
          <a:xfrm>
            <a:off x="11334750" y="6422082"/>
            <a:ext cx="2935932" cy="171450"/>
          </a:xfrm>
          <a:prstGeom prst="rect">
            <a:avLst/>
          </a:prstGeom>
          <a:solidFill>
            <a:srgbClr val="8B8783">
              <a:alpha val="25000"/>
            </a:srgbClr>
          </a:solidFill>
          <a:ln w="9525">
            <a:solidFill>
              <a:srgbClr val="8C8884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86" name="Text 84"/>
          <p:cNvSpPr/>
          <p:nvPr/>
        </p:nvSpPr>
        <p:spPr>
          <a:xfrm>
            <a:off x="16611600" y="636017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56.87%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9229725" y="6731645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5E7EA3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88" name="Shape 86"/>
          <p:cNvSpPr/>
          <p:nvPr/>
        </p:nvSpPr>
        <p:spPr>
          <a:xfrm>
            <a:off x="11334750" y="6793557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89" name="Shape 87"/>
          <p:cNvSpPr/>
          <p:nvPr/>
        </p:nvSpPr>
        <p:spPr>
          <a:xfrm>
            <a:off x="11334750" y="6793557"/>
            <a:ext cx="4172248" cy="171450"/>
          </a:xfrm>
          <a:prstGeom prst="rect">
            <a:avLst/>
          </a:prstGeom>
          <a:solidFill>
            <a:srgbClr val="6080A3">
              <a:alpha val="25000"/>
            </a:srgbClr>
          </a:solidFill>
          <a:ln w="9525">
            <a:solidFill>
              <a:srgbClr val="5E7EA3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90" name="Text 88"/>
          <p:cNvSpPr/>
          <p:nvPr/>
        </p:nvSpPr>
        <p:spPr>
          <a:xfrm>
            <a:off x="16611600" y="6731645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80.82%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9229725" y="7103120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11334750" y="7165032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93" name="Shape 91"/>
          <p:cNvSpPr/>
          <p:nvPr/>
        </p:nvSpPr>
        <p:spPr>
          <a:xfrm>
            <a:off x="11334750" y="7165032"/>
            <a:ext cx="4203204" cy="171450"/>
          </a:xfrm>
          <a:prstGeom prst="rect">
            <a:avLst/>
          </a:prstGeom>
          <a:solidFill>
            <a:srgbClr val="508F8B">
              <a:alpha val="25000"/>
            </a:srgbClr>
          </a:solidFill>
          <a:ln w="9525">
            <a:solidFill>
              <a:srgbClr val="4F8F8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16611600" y="710312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81.42%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95" name="Text 93"/>
          <p:cNvSpPr/>
          <p:nvPr/>
        </p:nvSpPr>
        <p:spPr>
          <a:xfrm>
            <a:off x="9334500" y="7474595"/>
            <a:ext cx="18859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96" name="Shape 94"/>
          <p:cNvSpPr/>
          <p:nvPr/>
        </p:nvSpPr>
        <p:spPr>
          <a:xfrm>
            <a:off x="11334750" y="7684145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97" name="Shape 95"/>
          <p:cNvSpPr/>
          <p:nvPr/>
        </p:nvSpPr>
        <p:spPr>
          <a:xfrm>
            <a:off x="11334750" y="7684145"/>
            <a:ext cx="4209008" cy="171450"/>
          </a:xfrm>
          <a:prstGeom prst="rect">
            <a:avLst/>
          </a:prstGeom>
          <a:solidFill>
            <a:srgbClr val="83689F">
              <a:alpha val="25000"/>
            </a:srgbClr>
          </a:solidFill>
          <a:ln w="9525">
            <a:solidFill>
              <a:srgbClr val="8567A0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98" name="Text 96"/>
          <p:cNvSpPr/>
          <p:nvPr/>
        </p:nvSpPr>
        <p:spPr>
          <a:xfrm>
            <a:off x="16611600" y="7622232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81.53%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99" name="Text 97"/>
          <p:cNvSpPr/>
          <p:nvPr/>
        </p:nvSpPr>
        <p:spPr>
          <a:xfrm>
            <a:off x="9229725" y="8141345"/>
            <a:ext cx="19907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134783"/>
              </a:lnSpc>
              <a:buNone/>
            </a:pPr>
            <a:r>
              <a:rPr lang="en-US" sz="15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00" name="Shape 98"/>
          <p:cNvSpPr/>
          <p:nvPr/>
        </p:nvSpPr>
        <p:spPr>
          <a:xfrm>
            <a:off x="11334750" y="8203257"/>
            <a:ext cx="5162550" cy="1714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01" name="Shape 99"/>
          <p:cNvSpPr/>
          <p:nvPr/>
        </p:nvSpPr>
        <p:spPr>
          <a:xfrm>
            <a:off x="11334750" y="8203257"/>
            <a:ext cx="4268837" cy="171450"/>
          </a:xfrm>
          <a:prstGeom prst="rect">
            <a:avLst/>
          </a:prstGeom>
          <a:solidFill>
            <a:srgbClr val="BB6C3C">
              <a:alpha val="25000"/>
            </a:srgbClr>
          </a:solidFill>
          <a:ln w="9525">
            <a:solidFill>
              <a:srgbClr val="BD6A3A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16611600" y="8141345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82.69%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Dual-mode improves policy quality, especially policy overlap and thinking-mode micro/macro F1.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External benchmarks: MMMU and MMRewardBench FPR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28700" y="2232140"/>
            <a:ext cx="88011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MMMU (n = 10,500)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28700" y="2673118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Base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28700" y="3034472"/>
            <a:ext cx="48667" cy="133350"/>
          </a:xfrm>
          <a:prstGeom prst="rect">
            <a:avLst/>
          </a:prstGeom>
          <a:solidFill>
            <a:srgbClr val="8C8884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53567" y="2968393"/>
            <a:ext cx="880914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0.61%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28700" y="3338826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Base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068586" y="3688721"/>
            <a:ext cx="7102227" cy="133350"/>
          </a:xfrm>
          <a:prstGeom prst="rect">
            <a:avLst/>
          </a:prstGeom>
          <a:solidFill>
            <a:srgbClr val="8C8884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47013" y="3489738"/>
            <a:ext cx="898773" cy="569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99.52%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28700" y="3920446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5E7EA3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086594" y="4330475"/>
            <a:ext cx="39886" cy="133350"/>
          </a:xfrm>
          <a:prstGeom prst="rect">
            <a:avLst/>
          </a:prstGeom>
          <a:solidFill>
            <a:srgbClr val="5E7EA3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02680" y="4264395"/>
            <a:ext cx="920948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0.50%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86594" y="4634828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086594" y="4996183"/>
            <a:ext cx="200025" cy="133350"/>
          </a:xfrm>
          <a:prstGeom prst="rect">
            <a:avLst/>
          </a:prstGeom>
          <a:solidFill>
            <a:srgbClr val="4F8F8A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62819" y="4930103"/>
            <a:ext cx="909340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2.50%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86594" y="5300537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086594" y="5661891"/>
            <a:ext cx="46286" cy="133350"/>
          </a:xfrm>
          <a:prstGeom prst="rect">
            <a:avLst/>
          </a:prstGeom>
          <a:solidFill>
            <a:srgbClr val="8567A0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09080" y="5595812"/>
            <a:ext cx="910828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0.58%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86594" y="5966245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086594" y="6327600"/>
            <a:ext cx="74265" cy="133350"/>
          </a:xfrm>
          <a:prstGeom prst="rect">
            <a:avLst/>
          </a:prstGeom>
          <a:solidFill>
            <a:srgbClr val="BD6A3A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237059" y="6261520"/>
            <a:ext cx="915739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0.93%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486900" y="2232140"/>
            <a:ext cx="88011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MMRewardBench (n = 4,711)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486900" y="2673118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Base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486900" y="3034472"/>
            <a:ext cx="1452116" cy="133350"/>
          </a:xfrm>
          <a:prstGeom prst="rect">
            <a:avLst/>
          </a:prstGeom>
          <a:solidFill>
            <a:srgbClr val="8C8884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015216" y="2968393"/>
            <a:ext cx="931962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18.15%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486900" y="3338826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Base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486900" y="3700181"/>
            <a:ext cx="5239792" cy="133350"/>
          </a:xfrm>
          <a:prstGeom prst="rect">
            <a:avLst/>
          </a:prstGeom>
          <a:solidFill>
            <a:srgbClr val="8C8884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4802892" y="3634101"/>
            <a:ext cx="1001911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65.49%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486900" y="4004534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5E7EA3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486900" y="4365889"/>
            <a:ext cx="193477" cy="133350"/>
          </a:xfrm>
          <a:prstGeom prst="rect">
            <a:avLst/>
          </a:prstGeom>
          <a:solidFill>
            <a:srgbClr val="5E7EA3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9756577" y="4299809"/>
            <a:ext cx="894457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2.42%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486900" y="4670242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9486900" y="5031597"/>
            <a:ext cx="839242" cy="133350"/>
          </a:xfrm>
          <a:prstGeom prst="rect">
            <a:avLst/>
          </a:prstGeom>
          <a:solidFill>
            <a:srgbClr val="4F8F8A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402342" y="4965517"/>
            <a:ext cx="975568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10.49%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486900" y="5335950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non-thinking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9486900" y="5697305"/>
            <a:ext cx="243185" cy="133350"/>
          </a:xfrm>
          <a:prstGeom prst="rect">
            <a:avLst/>
          </a:prstGeom>
          <a:solidFill>
            <a:srgbClr val="8567A0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806285" y="5631225"/>
            <a:ext cx="909638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3.04%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486900" y="6001659"/>
            <a:ext cx="88011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783"/>
              </a:lnSpc>
              <a:buNone/>
            </a:pPr>
            <a:r>
              <a:rPr lang="en-US" sz="1500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thinking</a:t>
            </a:r>
            <a:endParaRPr lang="en-US" sz="1500" dirty="0">
              <a:latin typeface="Abadi MT Condensed Light" panose="020B0306030101010103" pitchFamily="34" charset="77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9486900" y="6363013"/>
            <a:ext cx="261491" cy="133350"/>
          </a:xfrm>
          <a:prstGeom prst="rect">
            <a:avLst/>
          </a:prstGeom>
          <a:solidFill>
            <a:srgbClr val="BD6A3A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824591" y="6296934"/>
            <a:ext cx="884039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FPR 3.27%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201F1D">
                    <a:alpha val="6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Dual-mode keeps MMMU false positives below 1% and brings RewardBench FPR down to ~3% in both modes.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r>
              <a:rPr lang="en-US" sz="4500" kern="0" spc="-4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OCRBench_v2 and final takeaways</a:t>
            </a: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3216200"/>
            <a:ext cx="88011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OCRBench_v2 — exact / relaxed / ANLS</a:t>
            </a: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914400" y="3695278"/>
            <a:ext cx="8801100" cy="318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64"/>
              </a:lnSpc>
              <a:buNone/>
            </a:pPr>
            <a:r>
              <a:rPr lang="en-US" sz="1425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Base non-thinking</a:t>
            </a:r>
            <a:endParaRPr lang="en-US" sz="1425" dirty="0">
              <a:latin typeface="Abadi MT Condensed Light" panose="020B0306030101010103" pitchFamily="34" charset="7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14400" y="3975670"/>
            <a:ext cx="1937445" cy="114300"/>
          </a:xfrm>
          <a:prstGeom prst="rect">
            <a:avLst/>
          </a:prstGeom>
          <a:solidFill>
            <a:srgbClr val="8C8884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908995" y="3975670"/>
            <a:ext cx="2422773" cy="114300"/>
          </a:xfrm>
          <a:prstGeom prst="rect">
            <a:avLst/>
          </a:prstGeom>
          <a:solidFill>
            <a:srgbClr val="8C8983">
              <a:alpha val="5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388918" y="3975670"/>
            <a:ext cx="3526482" cy="114300"/>
          </a:xfrm>
          <a:prstGeom prst="rect">
            <a:avLst/>
          </a:prstGeom>
          <a:solidFill>
            <a:srgbClr val="8B8783">
              <a:alpha val="2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4400" y="4175695"/>
            <a:ext cx="8801100" cy="318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64"/>
              </a:lnSpc>
              <a:buNone/>
            </a:pPr>
            <a:r>
              <a:rPr lang="en-US" sz="1425" dirty="0">
                <a:solidFill>
                  <a:srgbClr val="8C8884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Base thinking</a:t>
            </a:r>
            <a:endParaRPr lang="en-US" sz="1425" dirty="0">
              <a:latin typeface="Abadi MT Condensed Light" panose="020B0306030101010103" pitchFamily="34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14400" y="4456087"/>
            <a:ext cx="2181820" cy="114300"/>
          </a:xfrm>
          <a:prstGeom prst="rect">
            <a:avLst/>
          </a:prstGeom>
          <a:solidFill>
            <a:srgbClr val="8C8884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153370" y="4456087"/>
            <a:ext cx="2526655" cy="114300"/>
          </a:xfrm>
          <a:prstGeom prst="rect">
            <a:avLst/>
          </a:prstGeom>
          <a:solidFill>
            <a:srgbClr val="8C8983">
              <a:alpha val="5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737175" y="4456087"/>
            <a:ext cx="3127474" cy="114300"/>
          </a:xfrm>
          <a:prstGeom prst="rect">
            <a:avLst/>
          </a:prstGeom>
          <a:solidFill>
            <a:srgbClr val="8B8783">
              <a:alpha val="2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14400" y="4656112"/>
            <a:ext cx="8801100" cy="318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64"/>
              </a:lnSpc>
              <a:buNone/>
            </a:pPr>
            <a:r>
              <a:rPr lang="en-US" sz="1425" dirty="0">
                <a:solidFill>
                  <a:srgbClr val="5E7EA3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non-thinking</a:t>
            </a:r>
            <a:endParaRPr lang="en-US" sz="1425" dirty="0">
              <a:latin typeface="Abadi MT Condensed Light" panose="020B0306030101010103" pitchFamily="34" charset="7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14400" y="4936504"/>
            <a:ext cx="1941463" cy="114300"/>
          </a:xfrm>
          <a:prstGeom prst="rect">
            <a:avLst/>
          </a:prstGeom>
          <a:solidFill>
            <a:srgbClr val="5E7EA3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913013" y="4936504"/>
            <a:ext cx="2393900" cy="114300"/>
          </a:xfrm>
          <a:prstGeom prst="rect">
            <a:avLst/>
          </a:prstGeom>
          <a:solidFill>
            <a:srgbClr val="5F7EA2">
              <a:alpha val="5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364063" y="4936504"/>
            <a:ext cx="3551337" cy="114300"/>
          </a:xfrm>
          <a:prstGeom prst="rect">
            <a:avLst/>
          </a:prstGeom>
          <a:solidFill>
            <a:srgbClr val="6080A3">
              <a:alpha val="2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14400" y="5136529"/>
            <a:ext cx="8801100" cy="318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64"/>
              </a:lnSpc>
              <a:buNone/>
            </a:pPr>
            <a:r>
              <a:rPr lang="en-US" sz="1425" dirty="0">
                <a:solidFill>
                  <a:srgbClr val="4F8F8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thinking</a:t>
            </a:r>
            <a:endParaRPr lang="en-US" sz="1425" dirty="0">
              <a:latin typeface="Abadi MT Condensed Light" panose="020B0306030101010103" pitchFamily="34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14400" y="5416921"/>
            <a:ext cx="1966764" cy="114300"/>
          </a:xfrm>
          <a:prstGeom prst="rect">
            <a:avLst/>
          </a:prstGeom>
          <a:solidFill>
            <a:srgbClr val="4F8F8A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938314" y="5416921"/>
            <a:ext cx="2793057" cy="114300"/>
          </a:xfrm>
          <a:prstGeom prst="rect">
            <a:avLst/>
          </a:prstGeom>
          <a:solidFill>
            <a:srgbClr val="4E908A">
              <a:alpha val="5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788521" y="5416921"/>
            <a:ext cx="3126879" cy="114300"/>
          </a:xfrm>
          <a:prstGeom prst="rect">
            <a:avLst/>
          </a:prstGeom>
          <a:solidFill>
            <a:srgbClr val="508F8B">
              <a:alpha val="2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4400" y="5616946"/>
            <a:ext cx="8801100" cy="318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64"/>
              </a:lnSpc>
              <a:buNone/>
            </a:pPr>
            <a:r>
              <a:rPr lang="en-US" sz="1425" dirty="0">
                <a:solidFill>
                  <a:srgbClr val="8567A0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non-thinking</a:t>
            </a:r>
            <a:endParaRPr lang="en-US" sz="1425" dirty="0">
              <a:latin typeface="Abadi MT Condensed Light" panose="020B0306030101010103" pitchFamily="34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14400" y="5897339"/>
            <a:ext cx="1937296" cy="114300"/>
          </a:xfrm>
          <a:prstGeom prst="rect">
            <a:avLst/>
          </a:prstGeom>
          <a:solidFill>
            <a:srgbClr val="8567A0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908846" y="5897339"/>
            <a:ext cx="2380059" cy="114300"/>
          </a:xfrm>
          <a:prstGeom prst="rect">
            <a:avLst/>
          </a:prstGeom>
          <a:solidFill>
            <a:srgbClr val="8568A0">
              <a:alpha val="5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46055" y="5897339"/>
            <a:ext cx="3569345" cy="114300"/>
          </a:xfrm>
          <a:prstGeom prst="rect">
            <a:avLst/>
          </a:prstGeom>
          <a:solidFill>
            <a:srgbClr val="83689F">
              <a:alpha val="2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914400" y="6097364"/>
            <a:ext cx="8801100" cy="318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64"/>
              </a:lnSpc>
              <a:buNone/>
            </a:pPr>
            <a:r>
              <a:rPr lang="en-US" sz="1425" dirty="0">
                <a:solidFill>
                  <a:srgbClr val="BD6A3A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 thinking</a:t>
            </a:r>
            <a:endParaRPr lang="en-US" sz="1425" dirty="0">
              <a:latin typeface="Abadi MT Condensed Light" panose="020B0306030101010103" pitchFamily="34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914400" y="6377756"/>
            <a:ext cx="1921818" cy="114300"/>
          </a:xfrm>
          <a:prstGeom prst="rect">
            <a:avLst/>
          </a:prstGeom>
          <a:solidFill>
            <a:srgbClr val="BD6A3A"/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893368" y="6377756"/>
            <a:ext cx="2664023" cy="114300"/>
          </a:xfrm>
          <a:prstGeom prst="rect">
            <a:avLst/>
          </a:prstGeom>
          <a:solidFill>
            <a:srgbClr val="BD6A3A">
              <a:alpha val="5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614541" y="6377756"/>
            <a:ext cx="3300859" cy="114300"/>
          </a:xfrm>
          <a:prstGeom prst="rect">
            <a:avLst/>
          </a:prstGeom>
          <a:solidFill>
            <a:srgbClr val="BB6C3C">
              <a:alpha val="25000"/>
            </a:srgbClr>
          </a:solidFill>
          <a:ln/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14400" y="6587306"/>
            <a:ext cx="700683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exact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691283" y="6587306"/>
            <a:ext cx="858292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relaxed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2625775" y="6587306"/>
            <a:ext cx="706934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350" dirty="0">
                <a:solidFill>
                  <a:srgbClr val="211F1D">
                    <a:alpha val="55000"/>
                  </a:srgbClr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ANLS</a:t>
            </a:r>
            <a:endParaRPr lang="en-US" sz="1350" dirty="0">
              <a:latin typeface="Abadi MT Condensed Light" panose="020B0306030101010103" pitchFamily="34" charset="7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505027" y="2291358"/>
            <a:ext cx="8001000" cy="2852142"/>
          </a:xfrm>
          <a:prstGeom prst="roundRect">
            <a:avLst>
              <a:gd name="adj" fmla="val 1336"/>
            </a:avLst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645967" y="2432298"/>
            <a:ext cx="8491031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909"/>
              </a:lnSpc>
              <a:buNone/>
            </a:pPr>
            <a:r>
              <a:rPr lang="en-US" sz="750" kern="0" spc="75" dirty="0">
                <a:solidFill>
                  <a:srgbClr val="B68235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FINAL TAKEAWAYS</a:t>
            </a:r>
            <a:endParaRPr lang="en-US" sz="750" dirty="0">
              <a:latin typeface="Abadi MT Condensed Light" panose="020B0306030101010103" pitchFamily="34" charset="7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715500" y="2762697"/>
            <a:ext cx="7725787" cy="2277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V2 dataset: 186,660 rows, balanced SFT / RL / test construction</a:t>
            </a:r>
            <a:endParaRPr lang="en-US" sz="1575" dirty="0">
              <a:latin typeface="Abadi MT Condensed Light" panose="020B0306030101010103" pitchFamily="34" charset="77"/>
            </a:endParaRPr>
          </a:p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7 proved separate full-SFT thinking and non-thinking models work</a:t>
            </a:r>
            <a:endParaRPr lang="en-US" sz="1575" dirty="0">
              <a:latin typeface="Abadi MT Condensed Light" panose="020B0306030101010103" pitchFamily="34" charset="77"/>
            </a:endParaRPr>
          </a:p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Week 8 dual-mode is the best final form: one checkpoint, two modes</a:t>
            </a:r>
            <a:endParaRPr lang="en-US" sz="1575" dirty="0">
              <a:latin typeface="Abadi MT Condensed Light" panose="020B0306030101010103" pitchFamily="34" charset="77"/>
            </a:endParaRPr>
          </a:p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Internal test: 94.78% non-thinking, 94.46% thinking verdict accuracy</a:t>
            </a:r>
            <a:endParaRPr lang="en-US" sz="1575" dirty="0">
              <a:latin typeface="Abadi MT Condensed Light" panose="020B0306030101010103" pitchFamily="34" charset="77"/>
            </a:endParaRPr>
          </a:p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Policy micro F1: 81.46% non-thinking, 82.44% thinking</a:t>
            </a:r>
            <a:endParaRPr lang="en-US" sz="1575" dirty="0">
              <a:latin typeface="Abadi MT Condensed Light" panose="020B0306030101010103" pitchFamily="34" charset="77"/>
            </a:endParaRPr>
          </a:p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Parse errors: zero in both dual modes</a:t>
            </a:r>
            <a:endParaRPr lang="en-US" sz="1575" dirty="0">
              <a:latin typeface="Abadi MT Condensed Light" panose="020B0306030101010103" pitchFamily="34" charset="77"/>
            </a:endParaRPr>
          </a:p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External: MMMU FPR &lt;1% in both dual modes; RewardBench FPR ~3%</a:t>
            </a:r>
            <a:endParaRPr lang="en-US" sz="1575" dirty="0">
              <a:latin typeface="Abadi MT Condensed Light" panose="020B0306030101010103" pitchFamily="34" charset="7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505027" y="5334000"/>
            <a:ext cx="8001000" cy="2532162"/>
          </a:xfrm>
          <a:prstGeom prst="roundRect">
            <a:avLst>
              <a:gd name="adj" fmla="val 1505"/>
            </a:avLst>
          </a:prstGeom>
          <a:ln w="9525">
            <a:solidFill>
              <a:srgbClr val="B68235"/>
            </a:solidFill>
            <a:prstDash val="solid"/>
          </a:ln>
        </p:spPr>
        <p:txBody>
          <a:bodyPr/>
          <a:lstStyle/>
          <a:p>
            <a:endParaRPr lang="en-US">
              <a:latin typeface="Abadi MT Condensed Light" panose="020B0306030101010103" pitchFamily="34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645967" y="5474940"/>
            <a:ext cx="8491031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909"/>
              </a:lnSpc>
              <a:buNone/>
            </a:pPr>
            <a:r>
              <a:rPr lang="en-US" sz="750" kern="0" spc="75" dirty="0">
                <a:solidFill>
                  <a:srgbClr val="7D5411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RECOMMENDED NEXT STEPS</a:t>
            </a:r>
            <a:endParaRPr lang="en-US" sz="750" dirty="0">
              <a:latin typeface="Abadi MT Condensed Light" panose="020B0306030101010103" pitchFamily="34" charset="7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715500" y="5805339"/>
            <a:ext cx="7725787" cy="1957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Use Week 8 dual-mode checkpoint-1280 as the current final candidate</a:t>
            </a:r>
            <a:endParaRPr lang="en-US" sz="1575" dirty="0">
              <a:latin typeface="Abadi MT Condensed Light" panose="020B0306030101010103" pitchFamily="34" charset="77"/>
            </a:endParaRPr>
          </a:p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Run a harder eval set beyond easy-only test</a:t>
            </a:r>
            <a:endParaRPr lang="en-US" sz="1575" dirty="0">
              <a:latin typeface="Abadi MT Condensed Light" panose="020B0306030101010103" pitchFamily="34" charset="77"/>
            </a:endParaRPr>
          </a:p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Analyze exact-set policy misses where any-overlap is correct</a:t>
            </a:r>
            <a:endParaRPr lang="en-US" sz="1575" dirty="0">
              <a:latin typeface="Abadi MT Condensed Light" panose="020B0306030101010103" pitchFamily="34" charset="77"/>
            </a:endParaRPr>
          </a:p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Compare latency / cost of thinking vs non-thinking inference</a:t>
            </a:r>
            <a:endParaRPr lang="en-US" sz="1575" dirty="0">
              <a:latin typeface="Abadi MT Condensed Light" panose="020B0306030101010103" pitchFamily="34" charset="77"/>
            </a:endParaRPr>
          </a:p>
          <a:p>
            <a:pPr marL="140017" indent="-140017" algn="l">
              <a:lnSpc>
                <a:spcPct val="140000"/>
              </a:lnSpc>
              <a:buSzPct val="100000"/>
              <a:buChar char="•"/>
              <a:tabLst>
                <a:tab pos="140017" algn="l"/>
              </a:tabLst>
            </a:pPr>
            <a:r>
              <a:rPr lang="en-US" sz="1575" dirty="0">
                <a:solidFill>
                  <a:srgbClr val="201F1D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Default to non-thinking for latency; use thinking when the rationale trace matters</a:t>
            </a:r>
            <a:endParaRPr lang="en-US" sz="1575" dirty="0">
              <a:latin typeface="Abadi MT Condensed Light" panose="020B0306030101010103" pitchFamily="34" charset="7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092499-5F82-F356-2532-85ACA4F2A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E62C474-D2E6-A04C-1DD1-00C2084D2F81}"/>
              </a:ext>
            </a:extLst>
          </p:cNvPr>
          <p:cNvSpPr/>
          <p:nvPr/>
        </p:nvSpPr>
        <p:spPr>
          <a:xfrm>
            <a:off x="914400" y="4475851"/>
            <a:ext cx="15816649" cy="13352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4000" kern="0" spc="132" dirty="0">
                <a:solidFill>
                  <a:srgbClr val="B68235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Guardrail Demo</a:t>
            </a:r>
            <a:endParaRPr lang="en-US" sz="40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71C5DE-FFEB-46BE-ACDA-CAB763D4A28A}"/>
              </a:ext>
            </a:extLst>
          </p:cNvPr>
          <p:cNvSpPr/>
          <p:nvPr/>
        </p:nvSpPr>
        <p:spPr>
          <a:xfrm>
            <a:off x="914400" y="1067693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2BEEBC0-3593-96EF-E0A9-64DACF0C148F}"/>
              </a:ext>
            </a:extLst>
          </p:cNvPr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B3C58009-80E7-FAF9-30EA-0E4F792A080F}"/>
              </a:ext>
            </a:extLst>
          </p:cNvPr>
          <p:cNvSpPr/>
          <p:nvPr/>
        </p:nvSpPr>
        <p:spPr>
          <a:xfrm>
            <a:off x="914400" y="5389220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>
              <a:lnSpc>
                <a:spcPct val="130000"/>
              </a:lnSpc>
            </a:pPr>
            <a:r>
              <a:rPr lang="en-US" sz="2000" dirty="0" err="1">
                <a:latin typeface="Abadi MT Condensed Light" panose="020B0306030101010103" pitchFamily="34" charset="77"/>
              </a:rPr>
              <a:t>uv</a:t>
            </a:r>
            <a:r>
              <a:rPr lang="en-US" sz="2000" dirty="0">
                <a:latin typeface="Abadi MT Condensed Light" panose="020B0306030101010103" pitchFamily="34" charset="77"/>
              </a:rPr>
              <a:t> run -m </a:t>
            </a:r>
            <a:r>
              <a:rPr lang="en-US" sz="2000" dirty="0" err="1">
                <a:latin typeface="Abadi MT Condensed Light" panose="020B0306030101010103" pitchFamily="34" charset="77"/>
              </a:rPr>
              <a:t>scripts.input_guardrail_judge.try_qwen_guardrail</a:t>
            </a:r>
            <a:endParaRPr lang="en-US" sz="2000" dirty="0">
              <a:latin typeface="Abadi MT Condensed Light" panose="020B0306030101010103" pitchFamily="34" charset="77"/>
            </a:endParaRPr>
          </a:p>
          <a:p>
            <a:pPr marL="0" indent="0" algn="l">
              <a:lnSpc>
                <a:spcPct val="130000"/>
              </a:lnSpc>
              <a:buNone/>
            </a:pPr>
            <a:endParaRPr lang="en-US" sz="1950" dirty="0">
              <a:latin typeface="Abadi MT Condensed Light" panose="020B03060301010101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303773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C79F49-AA85-BCB4-445B-D394F68B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DAAE680-5282-D58A-E610-402746E46991}"/>
              </a:ext>
            </a:extLst>
          </p:cNvPr>
          <p:cNvSpPr/>
          <p:nvPr/>
        </p:nvSpPr>
        <p:spPr>
          <a:xfrm>
            <a:off x="815546" y="495300"/>
            <a:ext cx="15816649" cy="9627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154"/>
              </a:lnSpc>
              <a:buNone/>
            </a:pPr>
            <a:r>
              <a:rPr lang="en-US" sz="4000" kern="0" spc="132" dirty="0">
                <a:solidFill>
                  <a:srgbClr val="B68235"/>
                </a:solidFill>
                <a:latin typeface="Abadi MT Condensed Light" panose="020B0306030101010103" pitchFamily="34" charset="77"/>
                <a:ea typeface="Arial" pitchFamily="34" charset="-122"/>
                <a:cs typeface="Arial" pitchFamily="34" charset="-120"/>
              </a:rPr>
              <a:t>Synthetic Embeddings Alignment</a:t>
            </a:r>
            <a:endParaRPr lang="en-US" sz="4000" dirty="0">
              <a:latin typeface="Abadi MT Condensed Light" panose="020B0306030101010103" pitchFamily="34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4BAC3D4-96E0-00EC-96C0-E712B1E433B8}"/>
              </a:ext>
            </a:extLst>
          </p:cNvPr>
          <p:cNvSpPr/>
          <p:nvPr/>
        </p:nvSpPr>
        <p:spPr>
          <a:xfrm>
            <a:off x="914400" y="1067693"/>
            <a:ext cx="1810512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91"/>
              </a:lnSpc>
              <a:buNone/>
            </a:pPr>
            <a:endParaRPr lang="en-US" sz="4500" dirty="0">
              <a:latin typeface="Abadi MT Condensed Light" panose="020B0306030101010103" pitchFamily="34" charset="77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2936F633-A06B-682C-C8CD-17016A6E9842}"/>
              </a:ext>
            </a:extLst>
          </p:cNvPr>
          <p:cNvSpPr/>
          <p:nvPr/>
        </p:nvSpPr>
        <p:spPr>
          <a:xfrm>
            <a:off x="914400" y="9369772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2308607A-BD09-9455-A47E-0C72F52CE7DA}"/>
              </a:ext>
            </a:extLst>
          </p:cNvPr>
          <p:cNvSpPr/>
          <p:nvPr/>
        </p:nvSpPr>
        <p:spPr>
          <a:xfrm>
            <a:off x="1136822" y="1309477"/>
            <a:ext cx="1810512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>
              <a:lnSpc>
                <a:spcPct val="130000"/>
              </a:lnSpc>
            </a:pPr>
            <a:r>
              <a:rPr lang="en-US" sz="2000" dirty="0">
                <a:latin typeface="Abadi MT Condensed Light" panose="020B0306030101010103" pitchFamily="34" charset="77"/>
              </a:rPr>
              <a:t>What are they doing?</a:t>
            </a:r>
          </a:p>
          <a:p>
            <a:pPr marL="0" indent="0" algn="l">
              <a:lnSpc>
                <a:spcPct val="130000"/>
              </a:lnSpc>
              <a:buNone/>
            </a:pPr>
            <a:endParaRPr lang="en-US" sz="1950" dirty="0">
              <a:latin typeface="Abadi MT Condensed Light" panose="020B0306030101010103" pitchFamily="34" charset="77"/>
            </a:endParaRPr>
          </a:p>
        </p:txBody>
      </p:sp>
      <p:sp>
        <p:nvSpPr>
          <p:cNvPr id="4" name="Text 31">
            <a:extLst>
              <a:ext uri="{FF2B5EF4-FFF2-40B4-BE49-F238E27FC236}">
                <a16:creationId xmlns:a16="http://schemas.microsoft.com/office/drawing/2014/main" id="{16C5719E-6DFE-DA35-2177-90D1820ABCE1}"/>
              </a:ext>
            </a:extLst>
          </p:cNvPr>
          <p:cNvSpPr/>
          <p:nvPr/>
        </p:nvSpPr>
        <p:spPr>
          <a:xfrm>
            <a:off x="914400" y="1819525"/>
            <a:ext cx="16731049" cy="78558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342900" indent="-342900" algn="l">
              <a:lnSpc>
                <a:spcPct val="130000"/>
              </a:lnSpc>
              <a:buFontTx/>
              <a:buChar char="-"/>
            </a:pPr>
            <a:r>
              <a:rPr lang="en-US" sz="2000" dirty="0">
                <a:latin typeface="Abadi MT Condensed Light" panose="020B0306030101010103" pitchFamily="34" charset="77"/>
              </a:rPr>
              <a:t>SEA creates synthetic visual features from text, to train Multimodal guardrails without actually using harmful image training data.</a:t>
            </a: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9A112191-75C3-7418-7325-C3613B952C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47289152"/>
              </p:ext>
            </p:extLst>
          </p:nvPr>
        </p:nvGraphicFramePr>
        <p:xfrm>
          <a:off x="11029950" y="3148361"/>
          <a:ext cx="6910386" cy="62214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Picture 7" descr="Refer to caption">
            <a:extLst>
              <a:ext uri="{FF2B5EF4-FFF2-40B4-BE49-F238E27FC236}">
                <a16:creationId xmlns:a16="http://schemas.microsoft.com/office/drawing/2014/main" id="{36C5C0EE-24A4-37D8-B900-8298CE7945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6822" y="3573075"/>
            <a:ext cx="9488163" cy="48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645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403DA5-4756-DB4C-8412-002E838B2BFA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77df4bf4-8aab-495c-99cf-9ee57d5beeb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1257</TotalTime>
  <Words>1513</Words>
  <Application>Microsoft Macintosh PowerPoint</Application>
  <PresentationFormat>Custom</PresentationFormat>
  <Paragraphs>357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Abadi MT Condensed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Kunj Shah</cp:lastModifiedBy>
  <cp:revision>18</cp:revision>
  <dcterms:created xsi:type="dcterms:W3CDTF">2026-07-14T21:06:16Z</dcterms:created>
  <dcterms:modified xsi:type="dcterms:W3CDTF">2026-07-16T23:34:55Z</dcterms:modified>
</cp:coreProperties>
</file>