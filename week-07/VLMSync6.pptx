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75" r:id="rId6"/>
    <p:sldId id="276" r:id="rId7"/>
    <p:sldId id="269" r:id="rId8"/>
    <p:sldId id="264" r:id="rId9"/>
    <p:sldId id="265" r:id="rId10"/>
    <p:sldId id="266" r:id="rId11"/>
    <p:sldId id="267" r:id="rId12"/>
    <p:sldId id="268" r:id="rId1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88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0454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AA584-AEF0-093B-41D5-D1AE06903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CE8C0F-9152-9146-1E47-4F8957868B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584C84-1865-C539-A7E9-8814C8FFE4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A6671-25DA-8241-CD7D-9489257C6A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8291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18123-CE87-968E-964E-5B50EC025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D1899F-67F6-5AF1-004E-328009185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857F1-7820-9DAA-82C5-65A87BA8E8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5916ED-02EA-E01D-A803-93B49D3526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092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A3D27-441F-CA33-B25C-842D644C4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5AAB3A-E538-6F62-3FBF-1F0A1881A3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87E780-90BD-7A39-4C0D-4C4D5C9D8A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310358-575D-0D94-E364-E94BB0630C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3289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99franklin.github.io/ocrbench_v2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230612"/>
            <a:ext cx="163830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A8462E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VLM SYNC UP 6 · GUARDRAIL DATA REVIEW</a:t>
            </a:r>
            <a:endParaRPr lang="en-US" sz="1500" dirty="0">
              <a:latin typeface="Abadi MT Condensed Light" panose="020B0306030101010103" pitchFamily="34" charset="77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2500" y="3764012"/>
            <a:ext cx="14716125" cy="1601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5700" b="1" kern="0" spc="-85" dirty="0">
                <a:solidFill>
                  <a:srgbClr val="20160F"/>
                </a:solidFill>
                <a:latin typeface="Abadi MT Condensed Light" panose="020B0306030101010103" pitchFamily="34" charset="77"/>
                <a:ea typeface="Georgia" pitchFamily="34" charset="-122"/>
                <a:cs typeface="Georgia" pitchFamily="34" charset="-120"/>
              </a:rPr>
              <a:t>Multimodal Input-Guardrail Data: </a:t>
            </a:r>
            <a:r>
              <a:rPr lang="en-US" sz="5700" b="1" kern="0" spc="-85" dirty="0">
                <a:solidFill>
                  <a:srgbClr val="A8462E"/>
                </a:solidFill>
                <a:latin typeface="Abadi MT Condensed Light" panose="020B0306030101010103" pitchFamily="34" charset="77"/>
                <a:ea typeface="Georgia" pitchFamily="34" charset="-122"/>
                <a:cs typeface="Georgia" pitchFamily="34" charset="-120"/>
              </a:rPr>
              <a:t>v0 → v1 → v2</a:t>
            </a:r>
            <a:endParaRPr lang="en-US" sz="5700" dirty="0">
              <a:latin typeface="Abadi MT Condensed Light" panose="020B0306030101010103" pitchFamily="34" charset="7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52500" y="4819650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A8462E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2500" y="5143500"/>
            <a:ext cx="12573000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4B4038"/>
                </a:solidFill>
                <a:latin typeface="Abadi MT Condensed Light" panose="020B0306030101010103" pitchFamily="34" charset="77"/>
                <a:ea typeface="Georgia" pitchFamily="34" charset="-122"/>
                <a:cs typeface="Georgia" pitchFamily="34" charset="-120"/>
              </a:rPr>
              <a:t>Reasoning-quality relabeling + a new "nonsense" policy + Model baselines</a:t>
            </a:r>
            <a:endParaRPr lang="en-US" sz="2700" dirty="0">
              <a:latin typeface="Abadi MT Condensed Light" panose="020B0306030101010103" pitchFamily="34" charset="77"/>
            </a:endParaRPr>
          </a:p>
        </p:txBody>
      </p:sp>
      <p:sp>
        <p:nvSpPr>
          <p:cNvPr id="6" name="Text 4"/>
          <p:cNvSpPr/>
          <p:nvPr/>
        </p:nvSpPr>
        <p:spPr>
          <a:xfrm>
            <a:off x="952500" y="5995987"/>
            <a:ext cx="14576802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2665E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Judge: Qwen3.5-397B-A17B (thinking) · 20/21 Policies</a:t>
            </a:r>
            <a:endParaRPr lang="en-US" sz="1800" dirty="0">
              <a:latin typeface="Abadi MT Condensed Light" panose="020B0306030101010103" pitchFamily="34" charset="7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kern="0" spc="210" dirty="0">
                <a:solidFill>
                  <a:srgbClr val="A8462E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BACKGROUND</a:t>
            </a:r>
            <a:endParaRPr lang="en-US" sz="1600" dirty="0">
              <a:latin typeface="Abadi MT Condensed Light" panose="020B0306030101010103" pitchFamily="34" charset="77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2500" y="1181100"/>
            <a:ext cx="180213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600" b="1" kern="0" spc="-34" dirty="0">
                <a:solidFill>
                  <a:srgbClr val="20160F"/>
                </a:solidFill>
                <a:latin typeface="Abadi MT Condensed Light" panose="020B0306030101010103" pitchFamily="34" charset="77"/>
              </a:rPr>
              <a:t>In Last Sync up </a:t>
            </a:r>
            <a:r>
              <a:rPr lang="en-US" b="1" kern="0" spc="-34" dirty="0">
                <a:solidFill>
                  <a:srgbClr val="20160F"/>
                </a:solidFill>
                <a:latin typeface="Abadi MT Condensed Light" panose="020B0306030101010103" pitchFamily="34" charset="77"/>
              </a:rPr>
              <a:t>(Sync up 5)</a:t>
            </a:r>
            <a:endParaRPr lang="en-US" sz="3600" dirty="0">
              <a:latin typeface="Abadi MT Condensed Light" panose="020B0306030101010103" pitchFamily="34" charset="7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52500" y="1905000"/>
            <a:ext cx="16383000" cy="9525"/>
          </a:xfrm>
          <a:prstGeom prst="rect">
            <a:avLst/>
          </a:prstGeom>
          <a:solidFill>
            <a:srgbClr val="CEC6BC"/>
          </a:solidFill>
          <a:ln/>
        </p:spPr>
        <p:txBody>
          <a:bodyPr/>
          <a:lstStyle/>
          <a:p>
            <a:endParaRPr lang="en-US" sz="2000">
              <a:latin typeface="Abadi MT Condensed Light" panose="020B0306030101010103" pitchFamily="34" charset="77"/>
            </a:endParaRPr>
          </a:p>
        </p:txBody>
      </p:sp>
      <p:sp>
        <p:nvSpPr>
          <p:cNvPr id="5" name="Text 3"/>
          <p:cNvSpPr/>
          <p:nvPr/>
        </p:nvSpPr>
        <p:spPr>
          <a:xfrm>
            <a:off x="1665732" y="2981054"/>
            <a:ext cx="8446979" cy="16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sz="2400" dirty="0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SFT (no think) Baseline model </a:t>
            </a: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sz="2400" dirty="0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Testing and Training dataset </a:t>
            </a: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sz="2400" dirty="0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MMMU and MMRewardBench results </a:t>
            </a: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sz="2400" dirty="0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Observations on Qwen3.5-397B-A17B outputs</a:t>
            </a:r>
            <a:endParaRPr lang="en-US" sz="2400" dirty="0">
              <a:latin typeface="Abadi MT Condensed Light" panose="020B0306030101010103" pitchFamily="34" charset="7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665732" y="5337524"/>
            <a:ext cx="8446979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This time:</a:t>
            </a:r>
          </a:p>
          <a:p>
            <a:pPr marL="0" indent="0" algn="l">
              <a:buNone/>
            </a:pPr>
            <a:r>
              <a:rPr lang="en-US" sz="2400" dirty="0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Training data is relabeled by a large thinking judge, </a:t>
            </a:r>
            <a:r>
              <a:rPr lang="en-US" sz="2400" b="1" dirty="0">
                <a:solidFill>
                  <a:srgbClr val="20160F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Qwen3.5-397B-A17B </a:t>
            </a:r>
            <a:r>
              <a:rPr lang="en-US" sz="2400" dirty="0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, across three successive versions.</a:t>
            </a:r>
            <a:endParaRPr lang="en-US" sz="2400" dirty="0">
              <a:latin typeface="Abadi MT Condensed Light" panose="020B0306030101010103" pitchFamily="34" charset="7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665732" y="6637687"/>
            <a:ext cx="8200951" cy="1622078"/>
          </a:xfrm>
          <a:prstGeom prst="roundRect">
            <a:avLst>
              <a:gd name="adj" fmla="val 3523"/>
            </a:avLst>
          </a:prstGeom>
          <a:solidFill>
            <a:srgbClr val="F3ECE1"/>
          </a:solidFill>
          <a:ln/>
        </p:spPr>
        <p:txBody>
          <a:bodyPr/>
          <a:lstStyle/>
          <a:p>
            <a:endParaRPr lang="en-US" sz="2000">
              <a:latin typeface="Abadi MT Condensed Light" panose="020B0306030101010103" pitchFamily="34" charset="7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665732" y="6637687"/>
            <a:ext cx="38100" cy="1622078"/>
          </a:xfrm>
          <a:prstGeom prst="rect">
            <a:avLst/>
          </a:prstGeom>
          <a:solidFill>
            <a:srgbClr val="A8462E"/>
          </a:solidFill>
          <a:ln/>
        </p:spPr>
        <p:txBody>
          <a:bodyPr/>
          <a:lstStyle/>
          <a:p>
            <a:endParaRPr lang="en-US" sz="2000">
              <a:latin typeface="Abadi MT Condensed Light" panose="020B0306030101010103" pitchFamily="34" charset="77"/>
            </a:endParaRPr>
          </a:p>
        </p:txBody>
      </p:sp>
      <p:sp>
        <p:nvSpPr>
          <p:cNvPr id="9" name="Text 7"/>
          <p:cNvSpPr/>
          <p:nvPr/>
        </p:nvSpPr>
        <p:spPr>
          <a:xfrm>
            <a:off x="1989582" y="6904387"/>
            <a:ext cx="8350486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kern="0" spc="30" dirty="0">
                <a:solidFill>
                  <a:srgbClr val="72665E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This deck answers</a:t>
            </a:r>
            <a:endParaRPr lang="en-US" sz="1600" dirty="0">
              <a:latin typeface="Abadi MT Condensed Light" panose="020B0306030101010103" pitchFamily="34" charset="7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989582" y="7185375"/>
            <a:ext cx="7819091" cy="86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dirty="0">
                <a:solidFill>
                  <a:srgbClr val="20160F"/>
                </a:solidFill>
                <a:latin typeface="Abadi MT Condensed Light" panose="020B0306030101010103" pitchFamily="34" charset="77"/>
                <a:ea typeface="Georgia" pitchFamily="34" charset="-122"/>
                <a:cs typeface="Georgia" pitchFamily="34" charset="-120"/>
              </a:rPr>
              <a:t>How did label quality change v0 → v1 — and what is v2 fixing?</a:t>
            </a:r>
            <a:endParaRPr lang="en-US" sz="2400" dirty="0">
              <a:latin typeface="Abadi MT Condensed Light" panose="020B0306030101010103" pitchFamily="34" charset="7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2833720" y="3756374"/>
            <a:ext cx="1428750" cy="1047750"/>
          </a:xfrm>
          <a:prstGeom prst="roundRect">
            <a:avLst>
              <a:gd name="adj" fmla="val 7273"/>
            </a:avLst>
          </a:prstGeom>
          <a:solidFill>
            <a:srgbClr val="F3ECE1"/>
          </a:solidFill>
          <a:ln w="9525">
            <a:solidFill>
              <a:srgbClr val="CEC6BC"/>
            </a:solidFill>
            <a:prstDash val="solid"/>
          </a:ln>
        </p:spPr>
        <p:txBody>
          <a:bodyPr/>
          <a:lstStyle/>
          <a:p>
            <a:endParaRPr lang="en-US" sz="2000">
              <a:latin typeface="Abadi MT Condensed Light" panose="020B0306030101010103" pitchFamily="34" charset="7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805145" y="3765899"/>
            <a:ext cx="148590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4B4038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image</a:t>
            </a:r>
            <a:endParaRPr lang="en-US" sz="2000" dirty="0">
              <a:latin typeface="Abadi MT Condensed Light" panose="020B0306030101010103" pitchFamily="34" charset="7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4414870" y="3756374"/>
            <a:ext cx="1428750" cy="1047750"/>
          </a:xfrm>
          <a:prstGeom prst="roundRect">
            <a:avLst>
              <a:gd name="adj" fmla="val 7273"/>
            </a:avLst>
          </a:prstGeom>
          <a:solidFill>
            <a:srgbClr val="F3ECE1"/>
          </a:solidFill>
          <a:ln w="9525">
            <a:solidFill>
              <a:srgbClr val="CEC6BC"/>
            </a:solidFill>
            <a:prstDash val="solid"/>
          </a:ln>
        </p:spPr>
        <p:txBody>
          <a:bodyPr/>
          <a:lstStyle/>
          <a:p>
            <a:endParaRPr lang="en-US" sz="2000">
              <a:latin typeface="Abadi MT Condensed Light" panose="020B0306030101010103" pitchFamily="34" charset="7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4386295" y="3765899"/>
            <a:ext cx="148590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4B4038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text</a:t>
            </a:r>
            <a:endParaRPr lang="en-US" sz="2000" dirty="0">
              <a:latin typeface="Abadi MT Condensed Light" panose="020B0306030101010103" pitchFamily="34" charset="7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4329145" y="4804124"/>
            <a:ext cx="19050" cy="533400"/>
          </a:xfrm>
          <a:prstGeom prst="rect">
            <a:avLst/>
          </a:prstGeom>
          <a:solidFill>
            <a:srgbClr val="CEC6BC"/>
          </a:solidFill>
          <a:ln/>
        </p:spPr>
        <p:txBody>
          <a:bodyPr/>
          <a:lstStyle/>
          <a:p>
            <a:endParaRPr lang="en-US" sz="2000">
              <a:latin typeface="Abadi MT Condensed Light" panose="020B0306030101010103" pitchFamily="34" charset="7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2719420" y="5337524"/>
            <a:ext cx="3238500" cy="1033462"/>
          </a:xfrm>
          <a:prstGeom prst="roundRect">
            <a:avLst>
              <a:gd name="adj" fmla="val 7373"/>
            </a:avLst>
          </a:prstGeom>
          <a:solidFill>
            <a:srgbClr val="20160F"/>
          </a:solidFill>
          <a:ln/>
        </p:spPr>
        <p:txBody>
          <a:bodyPr/>
          <a:lstStyle/>
          <a:p>
            <a:endParaRPr lang="en-US" sz="2000">
              <a:latin typeface="Abadi MT Condensed Light" panose="020B0306030101010103" pitchFamily="34" charset="7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2829910" y="5585174"/>
            <a:ext cx="30175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kern="0" spc="72" dirty="0">
                <a:solidFill>
                  <a:srgbClr val="F9F4EC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INPUT GUARDRAIL</a:t>
            </a:r>
            <a:endParaRPr lang="en-US" dirty="0">
              <a:latin typeface="Abadi MT Condensed Light" panose="020B0306030101010103" pitchFamily="34" charset="7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829910" y="5899499"/>
            <a:ext cx="301752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B6ACA1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P1–P20 policy taxonomy</a:t>
            </a:r>
            <a:endParaRPr lang="en-US" sz="1600" dirty="0">
              <a:latin typeface="Abadi MT Condensed Light" panose="020B0306030101010103" pitchFamily="34" charset="7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4329145" y="6370987"/>
            <a:ext cx="19050" cy="533400"/>
          </a:xfrm>
          <a:prstGeom prst="rect">
            <a:avLst/>
          </a:prstGeom>
          <a:solidFill>
            <a:srgbClr val="CEC6BC"/>
          </a:solidFill>
          <a:ln/>
        </p:spPr>
        <p:txBody>
          <a:bodyPr/>
          <a:lstStyle/>
          <a:p>
            <a:endParaRPr lang="en-US" sz="2000">
              <a:latin typeface="Abadi MT Condensed Light" panose="020B0306030101010103" pitchFamily="34" charset="7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2833720" y="6904387"/>
            <a:ext cx="1428750" cy="781050"/>
          </a:xfrm>
          <a:prstGeom prst="roundRect">
            <a:avLst>
              <a:gd name="adj" fmla="val 9756"/>
            </a:avLst>
          </a:prstGeom>
          <a:solidFill>
            <a:srgbClr val="CFE9D4"/>
          </a:solidFill>
          <a:ln/>
        </p:spPr>
        <p:txBody>
          <a:bodyPr/>
          <a:lstStyle/>
          <a:p>
            <a:endParaRPr lang="en-US" sz="2000">
              <a:latin typeface="Abadi MT Condensed Light" panose="020B0306030101010103" pitchFamily="34" charset="7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2795620" y="6904387"/>
            <a:ext cx="150495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18653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safe</a:t>
            </a:r>
            <a:endParaRPr lang="en-US" sz="2000" dirty="0">
              <a:latin typeface="Abadi MT Condensed Light" panose="020B0306030101010103" pitchFamily="34" charset="7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4414870" y="6904387"/>
            <a:ext cx="1428750" cy="781050"/>
          </a:xfrm>
          <a:prstGeom prst="roundRect">
            <a:avLst>
              <a:gd name="adj" fmla="val 9756"/>
            </a:avLst>
          </a:prstGeom>
          <a:solidFill>
            <a:srgbClr val="FED6D2"/>
          </a:solidFill>
          <a:ln/>
        </p:spPr>
        <p:txBody>
          <a:bodyPr/>
          <a:lstStyle/>
          <a:p>
            <a:endParaRPr lang="en-US" sz="2000">
              <a:latin typeface="Abadi MT Condensed Light" panose="020B0306030101010103" pitchFamily="34" charset="7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4376770" y="6904387"/>
            <a:ext cx="150495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54A46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unsafe</a:t>
            </a:r>
            <a:endParaRPr lang="en-US" sz="2000" dirty="0">
              <a:latin typeface="Abadi MT Condensed Light" panose="020B0306030101010103" pitchFamily="34" charset="7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0008" y="569364"/>
            <a:ext cx="18591078" cy="33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10" dirty="0">
                <a:solidFill>
                  <a:srgbClr val="A8462E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OVERVIEW</a:t>
            </a:r>
            <a:endParaRPr lang="en-US" dirty="0">
              <a:latin typeface="Abadi MT Condensed Light" panose="020B0306030101010103" pitchFamily="34" charset="77"/>
            </a:endParaRPr>
          </a:p>
        </p:txBody>
      </p:sp>
      <p:sp>
        <p:nvSpPr>
          <p:cNvPr id="3" name="Text 1"/>
          <p:cNvSpPr/>
          <p:nvPr/>
        </p:nvSpPr>
        <p:spPr>
          <a:xfrm>
            <a:off x="690008" y="962410"/>
            <a:ext cx="18591078" cy="587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4000" b="1" kern="0" spc="-34" dirty="0">
                <a:solidFill>
                  <a:srgbClr val="20160F"/>
                </a:solidFill>
                <a:latin typeface="Abadi MT Condensed Light" panose="020B0306030101010103" pitchFamily="34" charset="77"/>
                <a:ea typeface="Georgia" pitchFamily="34" charset="-122"/>
                <a:cs typeface="Georgia" pitchFamily="34" charset="-120"/>
              </a:rPr>
              <a:t>The three versions</a:t>
            </a:r>
            <a:endParaRPr lang="en-US" sz="4000" dirty="0">
              <a:latin typeface="Abadi MT Condensed Light" panose="020B0306030101010103" pitchFamily="34" charset="7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90008" y="1709198"/>
            <a:ext cx="16900980" cy="19050"/>
          </a:xfrm>
          <a:prstGeom prst="rect">
            <a:avLst/>
          </a:prstGeom>
          <a:solidFill>
            <a:srgbClr val="CEC6BC"/>
          </a:solidFill>
          <a:ln/>
        </p:spPr>
        <p:txBody>
          <a:bodyPr/>
          <a:lstStyle/>
          <a:p>
            <a:endParaRPr lang="en-US" sz="2400">
              <a:latin typeface="Abadi MT Condensed Light" panose="020B0306030101010103" pitchFamily="34" charset="7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90008" y="2151376"/>
            <a:ext cx="5424036" cy="7517006"/>
          </a:xfrm>
          <a:prstGeom prst="roundRect">
            <a:avLst>
              <a:gd name="adj" fmla="val 3512"/>
            </a:avLst>
          </a:prstGeom>
          <a:solidFill>
            <a:srgbClr val="F3ECE1"/>
          </a:solidFill>
          <a:ln/>
        </p:spPr>
        <p:txBody>
          <a:bodyPr/>
          <a:lstStyle/>
          <a:p>
            <a:endParaRPr lang="en-US" sz="2400">
              <a:latin typeface="Abadi MT Condensed Light" panose="020B0306030101010103" pitchFamily="34" charset="7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90008" y="2151376"/>
            <a:ext cx="5424036" cy="114300"/>
          </a:xfrm>
          <a:prstGeom prst="rect">
            <a:avLst/>
          </a:prstGeom>
          <a:solidFill>
            <a:srgbClr val="9F907B"/>
          </a:solidFill>
          <a:ln/>
        </p:spPr>
        <p:txBody>
          <a:bodyPr/>
          <a:lstStyle/>
          <a:p>
            <a:endParaRPr lang="en-US" sz="2400">
              <a:latin typeface="Abadi MT Condensed Light" panose="020B0306030101010103" pitchFamily="34" charset="77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04444" y="2544422"/>
            <a:ext cx="5274678" cy="341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F907B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v0 · previous</a:t>
            </a:r>
            <a:endParaRPr lang="en-US" sz="2400" dirty="0">
              <a:latin typeface="Abadi MT Condensed Light" panose="020B0306030101010103" pitchFamily="34" charset="7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04444" y="3006250"/>
            <a:ext cx="4795162" cy="19050"/>
          </a:xfrm>
          <a:prstGeom prst="rect">
            <a:avLst/>
          </a:prstGeom>
          <a:solidFill>
            <a:srgbClr val="CEC6BC"/>
          </a:solidFill>
          <a:ln/>
        </p:spPr>
        <p:txBody>
          <a:bodyPr/>
          <a:lstStyle/>
          <a:p>
            <a:endParaRPr lang="en-US" sz="2000">
              <a:latin typeface="Abadi MT Condensed Light" panose="020B0306030101010103" pitchFamily="34" charset="77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04444" y="3212600"/>
            <a:ext cx="4795162" cy="783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20160F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Labeling: </a:t>
            </a:r>
            <a:r>
              <a:rPr lang="en-US" sz="2000" dirty="0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template-free, thinking-enabled labels</a:t>
            </a:r>
            <a:endParaRPr lang="en-US" sz="2000" dirty="0">
              <a:latin typeface="Abadi MT Condensed Light" panose="020B0306030101010103" pitchFamily="34" charset="7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04444" y="4116606"/>
            <a:ext cx="4795162" cy="42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20160F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Reasoning traces: </a:t>
            </a:r>
            <a:r>
              <a:rPr lang="en-US" sz="2000" dirty="0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not collected</a:t>
            </a:r>
            <a:endParaRPr lang="en-US" sz="2000" dirty="0">
              <a:latin typeface="Abadi MT Condensed Light" panose="020B0306030101010103" pitchFamily="34" charset="7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04444" y="4666870"/>
            <a:ext cx="4795162" cy="42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20160F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Trained: </a:t>
            </a:r>
            <a:r>
              <a:rPr lang="en-US" sz="2000" dirty="0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TRAIN targets for a no-think SFT</a:t>
            </a:r>
            <a:endParaRPr lang="en-US" sz="2000" dirty="0">
              <a:latin typeface="Abadi MT Condensed Light" panose="020B0306030101010103" pitchFamily="34" charset="7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28480" y="2151376"/>
            <a:ext cx="5424036" cy="7517006"/>
          </a:xfrm>
          <a:prstGeom prst="roundRect">
            <a:avLst>
              <a:gd name="adj" fmla="val 3512"/>
            </a:avLst>
          </a:prstGeom>
          <a:solidFill>
            <a:srgbClr val="F3ECE1"/>
          </a:solidFill>
          <a:ln/>
        </p:spPr>
        <p:txBody>
          <a:bodyPr/>
          <a:lstStyle/>
          <a:p>
            <a:endParaRPr lang="en-US" sz="2400">
              <a:latin typeface="Abadi MT Condensed Light" panose="020B0306030101010103" pitchFamily="34" charset="7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28480" y="2151376"/>
            <a:ext cx="5424036" cy="114300"/>
          </a:xfrm>
          <a:prstGeom prst="rect">
            <a:avLst/>
          </a:prstGeom>
          <a:solidFill>
            <a:srgbClr val="A8462E"/>
          </a:solidFill>
          <a:ln/>
        </p:spPr>
        <p:txBody>
          <a:bodyPr/>
          <a:lstStyle/>
          <a:p>
            <a:endParaRPr lang="en-US" sz="2400">
              <a:latin typeface="Abadi MT Condensed Light" panose="020B0306030101010103" pitchFamily="34" charset="7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742918" y="2544422"/>
            <a:ext cx="5274678" cy="341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A8462E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v1 · current</a:t>
            </a:r>
            <a:endParaRPr lang="en-US" sz="2400" dirty="0">
              <a:latin typeface="Abadi MT Condensed Light" panose="020B0306030101010103" pitchFamily="34" charset="7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742918" y="3006250"/>
            <a:ext cx="4795162" cy="19050"/>
          </a:xfrm>
          <a:prstGeom prst="rect">
            <a:avLst/>
          </a:prstGeom>
          <a:solidFill>
            <a:srgbClr val="CEC6BC"/>
          </a:solidFill>
          <a:ln/>
        </p:spPr>
        <p:txBody>
          <a:bodyPr/>
          <a:lstStyle/>
          <a:p>
            <a:endParaRPr lang="en-US" sz="2000">
              <a:latin typeface="Abadi MT Condensed Light" panose="020B0306030101010103" pitchFamily="34" charset="7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742918" y="3212600"/>
            <a:ext cx="4795162" cy="783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20160F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Labeling: </a:t>
            </a:r>
            <a:r>
              <a:rPr lang="en-US" sz="2000" dirty="0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softly-templated reasoning traces (same judge)</a:t>
            </a:r>
            <a:endParaRPr lang="en-US" sz="2000" dirty="0">
              <a:latin typeface="Abadi MT Condensed Light" panose="020B0306030101010103" pitchFamily="34" charset="7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742918" y="4116606"/>
            <a:ext cx="4795162" cy="783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20160F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Reasoning traces: </a:t>
            </a:r>
            <a:r>
              <a:rPr lang="en-US" sz="2000" dirty="0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SFT target reasoning + tool call</a:t>
            </a:r>
            <a:endParaRPr lang="en-US" sz="2000" dirty="0">
              <a:latin typeface="Abadi MT Condensed Light" panose="020B0306030101010103" pitchFamily="34" charset="7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742918" y="5020612"/>
            <a:ext cx="4795162" cy="42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20160F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Trained: </a:t>
            </a:r>
            <a:r>
              <a:rPr lang="en-US" sz="2000" dirty="0" err="1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LoRA</a:t>
            </a:r>
            <a:r>
              <a:rPr lang="en-US" sz="2000" dirty="0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 (α=32) and a full SFT</a:t>
            </a:r>
            <a:endParaRPr lang="en-US" sz="2000" dirty="0">
              <a:latin typeface="Abadi MT Condensed Light" panose="020B0306030101010103" pitchFamily="34" charset="7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2166954" y="2151376"/>
            <a:ext cx="5424034" cy="7517006"/>
          </a:xfrm>
          <a:prstGeom prst="roundRect">
            <a:avLst>
              <a:gd name="adj" fmla="val 3512"/>
            </a:avLst>
          </a:prstGeom>
          <a:solidFill>
            <a:srgbClr val="F3ECE1"/>
          </a:solidFill>
          <a:ln/>
        </p:spPr>
        <p:txBody>
          <a:bodyPr/>
          <a:lstStyle/>
          <a:p>
            <a:endParaRPr lang="en-US" sz="2400">
              <a:latin typeface="Abadi MT Condensed Light" panose="020B0306030101010103" pitchFamily="34" charset="7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2166954" y="2151376"/>
            <a:ext cx="5424034" cy="114300"/>
          </a:xfrm>
          <a:prstGeom prst="rect">
            <a:avLst/>
          </a:prstGeom>
          <a:solidFill>
            <a:srgbClr val="336A88"/>
          </a:solidFill>
          <a:ln/>
        </p:spPr>
        <p:txBody>
          <a:bodyPr/>
          <a:lstStyle/>
          <a:p>
            <a:endParaRPr lang="en-US" sz="2400">
              <a:latin typeface="Abadi MT Condensed Light" panose="020B0306030101010103" pitchFamily="34" charset="7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5989094" y="2200506"/>
            <a:ext cx="1611720" cy="339002"/>
          </a:xfrm>
          <a:prstGeom prst="rect">
            <a:avLst/>
          </a:prstGeom>
          <a:solidFill>
            <a:srgbClr val="336A88"/>
          </a:solidFill>
          <a:ln/>
        </p:spPr>
        <p:txBody>
          <a:bodyPr/>
          <a:lstStyle/>
          <a:p>
            <a:endParaRPr lang="en-US" sz="2400">
              <a:latin typeface="Abadi MT Condensed Light" panose="020B0306030101010103" pitchFamily="34" charset="7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6431130" y="2258280"/>
            <a:ext cx="1163292" cy="186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9F4EC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IN PROGRESS</a:t>
            </a:r>
            <a:endParaRPr lang="en-US" sz="1050" dirty="0">
              <a:latin typeface="Abadi MT Condensed Light" panose="020B0306030101010103" pitchFamily="34" charset="7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2481390" y="2544422"/>
            <a:ext cx="5274676" cy="341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36A88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v2 · new</a:t>
            </a:r>
            <a:endParaRPr lang="en-US" sz="2400" dirty="0">
              <a:latin typeface="Abadi MT Condensed Light" panose="020B0306030101010103" pitchFamily="34" charset="7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2481390" y="3006250"/>
            <a:ext cx="4795160" cy="19050"/>
          </a:xfrm>
          <a:prstGeom prst="rect">
            <a:avLst/>
          </a:prstGeom>
          <a:solidFill>
            <a:srgbClr val="CEC6BC"/>
          </a:solidFill>
          <a:ln/>
        </p:spPr>
        <p:txBody>
          <a:bodyPr/>
          <a:lstStyle/>
          <a:p>
            <a:endParaRPr lang="en-US" sz="2000">
              <a:latin typeface="Abadi MT Condensed Light" panose="020B0306030101010103" pitchFamily="34" charset="7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2481390" y="3212600"/>
            <a:ext cx="4795160" cy="783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20160F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Labeling: </a:t>
            </a:r>
            <a:r>
              <a:rPr lang="en-US" dirty="0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improved reasoning quality with a template, new policy P0 ("nonsense")</a:t>
            </a:r>
            <a:endParaRPr lang="en-US" dirty="0">
              <a:latin typeface="Abadi MT Condensed Light" panose="020B0306030101010103" pitchFamily="34" charset="7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2481390" y="4116606"/>
            <a:ext cx="4795160" cy="783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20160F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Reasoning traces: </a:t>
            </a:r>
            <a:r>
              <a:rPr lang="en-US" sz="2000" dirty="0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regenerated on merged ~187k set</a:t>
            </a:r>
            <a:endParaRPr lang="en-US" sz="2000" dirty="0">
              <a:latin typeface="Abadi MT Condensed Light" panose="020B0306030101010103" pitchFamily="34" charset="7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2481390" y="5020612"/>
            <a:ext cx="4795160" cy="783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20160F"/>
                </a:solidFill>
                <a:latin typeface="Abadi MT Condensed Light" panose="020B0306030101010103" pitchFamily="34" charset="77"/>
                <a:cs typeface="Arial" pitchFamily="34" charset="-120"/>
              </a:rPr>
              <a:t>Will be splitting again based on Policy and label distribution</a:t>
            </a:r>
            <a:endParaRPr lang="en-US" sz="2000" dirty="0">
              <a:latin typeface="Abadi MT Condensed Light" panose="020B0306030101010103" pitchFamily="34" charset="7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8296" y="642516"/>
            <a:ext cx="18591078" cy="33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A8462E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V0 → V1</a:t>
            </a:r>
            <a:endParaRPr lang="en-US" sz="1500" dirty="0">
              <a:latin typeface="Abadi MT Condensed Light" panose="020B0306030101010103" pitchFamily="34" charset="77"/>
            </a:endParaRPr>
          </a:p>
        </p:txBody>
      </p:sp>
      <p:sp>
        <p:nvSpPr>
          <p:cNvPr id="3" name="Text 1"/>
          <p:cNvSpPr/>
          <p:nvPr/>
        </p:nvSpPr>
        <p:spPr>
          <a:xfrm>
            <a:off x="708296" y="1035562"/>
            <a:ext cx="18591078" cy="587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kern="0" spc="-34" dirty="0">
                <a:solidFill>
                  <a:srgbClr val="20160F"/>
                </a:solidFill>
                <a:latin typeface="Abadi MT Condensed Light" panose="020B0306030101010103" pitchFamily="34" charset="77"/>
                <a:ea typeface="Georgia" pitchFamily="34" charset="-122"/>
                <a:cs typeface="Georgia" pitchFamily="34" charset="-120"/>
              </a:rPr>
              <a:t>What changed</a:t>
            </a:r>
            <a:endParaRPr lang="en-US" sz="3450" dirty="0">
              <a:latin typeface="Abadi MT Condensed Light" panose="020B0306030101010103" pitchFamily="34" charset="7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08296" y="1782350"/>
            <a:ext cx="16900980" cy="19050"/>
          </a:xfrm>
          <a:prstGeom prst="rect">
            <a:avLst/>
          </a:prstGeom>
          <a:solidFill>
            <a:srgbClr val="CEC6BC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4228" y="2073428"/>
            <a:ext cx="9046458" cy="1884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300" dirty="0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- v1 introduced </a:t>
            </a:r>
            <a:r>
              <a:rPr lang="en-US" sz="2300" b="1" dirty="0">
                <a:solidFill>
                  <a:srgbClr val="20160F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softly-templated reasoning traces </a:t>
            </a:r>
            <a:r>
              <a:rPr lang="en-US" sz="2300" dirty="0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— the same 397B thinking judge, now producing both the SFT target reasoning </a:t>
            </a:r>
            <a:r>
              <a:rPr lang="en-US" sz="2300" i="1" dirty="0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and  </a:t>
            </a:r>
            <a:r>
              <a:rPr lang="en-US" sz="2300" dirty="0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the tool call in one pass.</a:t>
            </a:r>
            <a:endParaRPr lang="en-US" sz="2300" dirty="0">
              <a:latin typeface="Abadi MT Condensed Light" panose="020B0306030101010103" pitchFamily="34" charset="77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4228" y="3209990"/>
            <a:ext cx="8917234" cy="1050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400" dirty="0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- Goal: usable reasoning supervision, and more consistent labels across the taxonomy.</a:t>
            </a:r>
            <a:endParaRPr lang="en-US" sz="2400" dirty="0">
              <a:latin typeface="Abadi MT Condensed Light" panose="020B0306030101010103" pitchFamily="34" charset="77"/>
            </a:endParaRPr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BCF62DAB-BC06-5EF5-6159-46EAE907E4B4}"/>
              </a:ext>
            </a:extLst>
          </p:cNvPr>
          <p:cNvGrpSpPr/>
          <p:nvPr/>
        </p:nvGrpSpPr>
        <p:grpSpPr>
          <a:xfrm>
            <a:off x="501441" y="4279872"/>
            <a:ext cx="4574653" cy="5170440"/>
            <a:chOff x="501441" y="5737394"/>
            <a:chExt cx="4574653" cy="371291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9071772F-B485-484A-E039-1FC28B77BA4C}"/>
                </a:ext>
              </a:extLst>
            </p:cNvPr>
            <p:cNvGrpSpPr/>
            <p:nvPr/>
          </p:nvGrpSpPr>
          <p:grpSpPr>
            <a:xfrm>
              <a:off x="501441" y="6305783"/>
              <a:ext cx="4574653" cy="3144529"/>
              <a:chOff x="665004" y="3958400"/>
              <a:chExt cx="6378342" cy="4601346"/>
            </a:xfrm>
          </p:grpSpPr>
          <p:sp>
            <p:nvSpPr>
              <p:cNvPr id="17" name="Shape 3">
                <a:extLst>
                  <a:ext uri="{FF2B5EF4-FFF2-40B4-BE49-F238E27FC236}">
                    <a16:creationId xmlns:a16="http://schemas.microsoft.com/office/drawing/2014/main" id="{EC9D37A7-BBDE-D8D4-0972-285769A9543E}"/>
                  </a:ext>
                </a:extLst>
              </p:cNvPr>
              <p:cNvSpPr/>
              <p:nvPr/>
            </p:nvSpPr>
            <p:spPr>
              <a:xfrm>
                <a:off x="665004" y="8514027"/>
                <a:ext cx="6340188" cy="45719"/>
              </a:xfrm>
              <a:prstGeom prst="rect">
                <a:avLst/>
              </a:prstGeom>
              <a:solidFill>
                <a:srgbClr val="CEC6BC"/>
              </a:solidFill>
              <a:ln/>
            </p:spPr>
            <p:txBody>
              <a:bodyPr/>
              <a:lstStyle/>
              <a:p>
                <a:endParaRPr lang="en-US">
                  <a:latin typeface="Abadi MT Condensed Light" panose="020B0306030101010103" pitchFamily="34" charset="77"/>
                </a:endParaRPr>
              </a:p>
            </p:txBody>
          </p:sp>
          <p:sp>
            <p:nvSpPr>
              <p:cNvPr id="18" name="Text 4">
                <a:extLst>
                  <a:ext uri="{FF2B5EF4-FFF2-40B4-BE49-F238E27FC236}">
                    <a16:creationId xmlns:a16="http://schemas.microsoft.com/office/drawing/2014/main" id="{72D9BC2D-2161-E9AE-91FF-B8E327B2921B}"/>
                  </a:ext>
                </a:extLst>
              </p:cNvPr>
              <p:cNvSpPr/>
              <p:nvPr/>
            </p:nvSpPr>
            <p:spPr>
              <a:xfrm>
                <a:off x="1097276" y="4410402"/>
                <a:ext cx="742122" cy="297288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1500" dirty="0">
                    <a:solidFill>
                      <a:srgbClr val="4B4038"/>
                    </a:solidFill>
                    <a:latin typeface="Abadi MT Condensed Light" panose="020B0306030101010103" pitchFamily="34" charset="77"/>
                    <a:ea typeface="Courier New" pitchFamily="34" charset="-122"/>
                    <a:cs typeface="Courier New" pitchFamily="34" charset="-120"/>
                  </a:rPr>
                  <a:t>60538</a:t>
                </a:r>
                <a:endParaRPr lang="en-US" sz="1500" dirty="0">
                  <a:latin typeface="Abadi MT Condensed Light" panose="020B0306030101010103" pitchFamily="34" charset="77"/>
                </a:endParaRPr>
              </a:p>
            </p:txBody>
          </p:sp>
          <p:sp>
            <p:nvSpPr>
              <p:cNvPr id="19" name="Shape 5">
                <a:extLst>
                  <a:ext uri="{FF2B5EF4-FFF2-40B4-BE49-F238E27FC236}">
                    <a16:creationId xmlns:a16="http://schemas.microsoft.com/office/drawing/2014/main" id="{9EA5CD9B-3EF3-477E-0259-3E473F7AC047}"/>
                  </a:ext>
                </a:extLst>
              </p:cNvPr>
              <p:cNvSpPr/>
              <p:nvPr/>
            </p:nvSpPr>
            <p:spPr>
              <a:xfrm>
                <a:off x="949962" y="4710100"/>
                <a:ext cx="884354" cy="3173846"/>
              </a:xfrm>
              <a:prstGeom prst="roundRect">
                <a:avLst>
                  <a:gd name="adj" fmla="val 8616"/>
                </a:avLst>
              </a:prstGeom>
              <a:solidFill>
                <a:srgbClr val="9F907B"/>
              </a:solidFill>
              <a:ln/>
            </p:spPr>
            <p:txBody>
              <a:bodyPr/>
              <a:lstStyle/>
              <a:p>
                <a:endParaRPr lang="en-US">
                  <a:latin typeface="Abadi MT Condensed Light" panose="020B0306030101010103" pitchFamily="34" charset="77"/>
                </a:endParaRPr>
              </a:p>
            </p:txBody>
          </p:sp>
          <p:sp>
            <p:nvSpPr>
              <p:cNvPr id="20" name="Text 6">
                <a:extLst>
                  <a:ext uri="{FF2B5EF4-FFF2-40B4-BE49-F238E27FC236}">
                    <a16:creationId xmlns:a16="http://schemas.microsoft.com/office/drawing/2014/main" id="{AEB3BCB8-770E-EBD7-49BA-E8387BD8FCC7}"/>
                  </a:ext>
                </a:extLst>
              </p:cNvPr>
              <p:cNvSpPr/>
              <p:nvPr/>
            </p:nvSpPr>
            <p:spPr>
              <a:xfrm>
                <a:off x="2138848" y="3958400"/>
                <a:ext cx="742122" cy="297288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1500" dirty="0">
                    <a:solidFill>
                      <a:srgbClr val="A8462E"/>
                    </a:solidFill>
                    <a:latin typeface="Abadi MT Condensed Light" panose="020B0306030101010103" pitchFamily="34" charset="77"/>
                    <a:ea typeface="Courier New" pitchFamily="34" charset="-122"/>
                    <a:cs typeface="Courier New" pitchFamily="34" charset="-120"/>
                  </a:rPr>
                  <a:t>69132</a:t>
                </a:r>
                <a:endParaRPr lang="en-US" sz="1500" dirty="0">
                  <a:latin typeface="Abadi MT Condensed Light" panose="020B0306030101010103" pitchFamily="34" charset="77"/>
                </a:endParaRPr>
              </a:p>
            </p:txBody>
          </p:sp>
          <p:sp>
            <p:nvSpPr>
              <p:cNvPr id="21" name="Shape 7">
                <a:extLst>
                  <a:ext uri="{FF2B5EF4-FFF2-40B4-BE49-F238E27FC236}">
                    <a16:creationId xmlns:a16="http://schemas.microsoft.com/office/drawing/2014/main" id="{139E3EB3-894B-AB43-C7AB-2FF307B96E1F}"/>
                  </a:ext>
                </a:extLst>
              </p:cNvPr>
              <p:cNvSpPr/>
              <p:nvPr/>
            </p:nvSpPr>
            <p:spPr>
              <a:xfrm>
                <a:off x="1991534" y="4258098"/>
                <a:ext cx="884354" cy="3625850"/>
              </a:xfrm>
              <a:prstGeom prst="roundRect">
                <a:avLst>
                  <a:gd name="adj" fmla="val 8616"/>
                </a:avLst>
              </a:prstGeom>
              <a:solidFill>
                <a:srgbClr val="A8462E"/>
              </a:solidFill>
              <a:ln/>
            </p:spPr>
            <p:txBody>
              <a:bodyPr/>
              <a:lstStyle/>
              <a:p>
                <a:endParaRPr lang="en-US">
                  <a:latin typeface="Abadi MT Condensed Light" panose="020B0306030101010103" pitchFamily="34" charset="77"/>
                </a:endParaRPr>
              </a:p>
            </p:txBody>
          </p:sp>
          <p:sp>
            <p:nvSpPr>
              <p:cNvPr id="22" name="Text 8">
                <a:extLst>
                  <a:ext uri="{FF2B5EF4-FFF2-40B4-BE49-F238E27FC236}">
                    <a16:creationId xmlns:a16="http://schemas.microsoft.com/office/drawing/2014/main" id="{6CE6073E-1DBC-3EE1-173C-3E2015EC077E}"/>
                  </a:ext>
                </a:extLst>
              </p:cNvPr>
              <p:cNvSpPr/>
              <p:nvPr/>
            </p:nvSpPr>
            <p:spPr>
              <a:xfrm>
                <a:off x="1621824" y="8021514"/>
                <a:ext cx="734522" cy="410288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2175" b="1" dirty="0">
                    <a:solidFill>
                      <a:srgbClr val="20160F"/>
                    </a:solidFill>
                    <a:latin typeface="Abadi MT Condensed Light" panose="020B0306030101010103" pitchFamily="34" charset="77"/>
                    <a:ea typeface="Arial" pitchFamily="34" charset="-122"/>
                    <a:cs typeface="Arial" pitchFamily="34" charset="-120"/>
                  </a:rPr>
                  <a:t>Safe</a:t>
                </a:r>
                <a:endParaRPr lang="en-US" sz="2175" dirty="0">
                  <a:latin typeface="Abadi MT Condensed Light" panose="020B0306030101010103" pitchFamily="34" charset="77"/>
                </a:endParaRPr>
              </a:p>
            </p:txBody>
          </p:sp>
          <p:sp>
            <p:nvSpPr>
              <p:cNvPr id="23" name="Text 9">
                <a:extLst>
                  <a:ext uri="{FF2B5EF4-FFF2-40B4-BE49-F238E27FC236}">
                    <a16:creationId xmlns:a16="http://schemas.microsoft.com/office/drawing/2014/main" id="{53723259-15F4-9118-A481-D1A5034B992F}"/>
                  </a:ext>
                </a:extLst>
              </p:cNvPr>
              <p:cNvSpPr/>
              <p:nvPr/>
            </p:nvSpPr>
            <p:spPr>
              <a:xfrm>
                <a:off x="3711034" y="4174574"/>
                <a:ext cx="742122" cy="297288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1500" dirty="0">
                    <a:solidFill>
                      <a:srgbClr val="4B4038"/>
                    </a:solidFill>
                    <a:latin typeface="Abadi MT Condensed Light" panose="020B0306030101010103" pitchFamily="34" charset="77"/>
                    <a:ea typeface="Courier New" pitchFamily="34" charset="-122"/>
                    <a:cs typeface="Courier New" pitchFamily="34" charset="-120"/>
                  </a:rPr>
                  <a:t>65066</a:t>
                </a:r>
                <a:endParaRPr lang="en-US" sz="1500" dirty="0">
                  <a:latin typeface="Abadi MT Condensed Light" panose="020B0306030101010103" pitchFamily="34" charset="77"/>
                </a:endParaRPr>
              </a:p>
            </p:txBody>
          </p:sp>
          <p:sp>
            <p:nvSpPr>
              <p:cNvPr id="24" name="Shape 10">
                <a:extLst>
                  <a:ext uri="{FF2B5EF4-FFF2-40B4-BE49-F238E27FC236}">
                    <a16:creationId xmlns:a16="http://schemas.microsoft.com/office/drawing/2014/main" id="{A2847F84-8598-5A99-A113-17FF112EA224}"/>
                  </a:ext>
                </a:extLst>
              </p:cNvPr>
              <p:cNvSpPr/>
              <p:nvPr/>
            </p:nvSpPr>
            <p:spPr>
              <a:xfrm>
                <a:off x="3563718" y="4474272"/>
                <a:ext cx="884354" cy="3409674"/>
              </a:xfrm>
              <a:prstGeom prst="roundRect">
                <a:avLst>
                  <a:gd name="adj" fmla="val 8616"/>
                </a:avLst>
              </a:prstGeom>
              <a:solidFill>
                <a:srgbClr val="9F907B"/>
              </a:solidFill>
              <a:ln/>
            </p:spPr>
            <p:txBody>
              <a:bodyPr/>
              <a:lstStyle/>
              <a:p>
                <a:endParaRPr lang="en-US">
                  <a:latin typeface="Abadi MT Condensed Light" panose="020B0306030101010103" pitchFamily="34" charset="77"/>
                </a:endParaRPr>
              </a:p>
            </p:txBody>
          </p:sp>
          <p:sp>
            <p:nvSpPr>
              <p:cNvPr id="25" name="Text 11">
                <a:extLst>
                  <a:ext uri="{FF2B5EF4-FFF2-40B4-BE49-F238E27FC236}">
                    <a16:creationId xmlns:a16="http://schemas.microsoft.com/office/drawing/2014/main" id="{D9036C8F-1E1D-F609-ED4B-9F20FA6A204C}"/>
                  </a:ext>
                </a:extLst>
              </p:cNvPr>
              <p:cNvSpPr/>
              <p:nvPr/>
            </p:nvSpPr>
            <p:spPr>
              <a:xfrm>
                <a:off x="4752606" y="4626578"/>
                <a:ext cx="742124" cy="297288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1500" dirty="0">
                    <a:solidFill>
                      <a:srgbClr val="A8462E"/>
                    </a:solidFill>
                    <a:latin typeface="Abadi MT Condensed Light" panose="020B0306030101010103" pitchFamily="34" charset="77"/>
                    <a:ea typeface="Courier New" pitchFamily="34" charset="-122"/>
                    <a:cs typeface="Courier New" pitchFamily="34" charset="-120"/>
                  </a:rPr>
                  <a:t>56362</a:t>
                </a:r>
                <a:endParaRPr lang="en-US" sz="1500" dirty="0">
                  <a:latin typeface="Abadi MT Condensed Light" panose="020B0306030101010103" pitchFamily="34" charset="77"/>
                </a:endParaRPr>
              </a:p>
            </p:txBody>
          </p:sp>
          <p:sp>
            <p:nvSpPr>
              <p:cNvPr id="26" name="Shape 12">
                <a:extLst>
                  <a:ext uri="{FF2B5EF4-FFF2-40B4-BE49-F238E27FC236}">
                    <a16:creationId xmlns:a16="http://schemas.microsoft.com/office/drawing/2014/main" id="{E5A508B8-1237-97E8-70B5-A09D6B54AAC8}"/>
                  </a:ext>
                </a:extLst>
              </p:cNvPr>
              <p:cNvSpPr/>
              <p:nvPr/>
            </p:nvSpPr>
            <p:spPr>
              <a:xfrm>
                <a:off x="4605290" y="4926274"/>
                <a:ext cx="884354" cy="2957672"/>
              </a:xfrm>
              <a:prstGeom prst="roundRect">
                <a:avLst>
                  <a:gd name="adj" fmla="val 8616"/>
                </a:avLst>
              </a:prstGeom>
              <a:solidFill>
                <a:srgbClr val="A8462E"/>
              </a:solidFill>
              <a:ln/>
            </p:spPr>
            <p:txBody>
              <a:bodyPr/>
              <a:lstStyle/>
              <a:p>
                <a:endParaRPr lang="en-US">
                  <a:latin typeface="Abadi MT Condensed Light" panose="020B0306030101010103" pitchFamily="34" charset="77"/>
                </a:endParaRPr>
              </a:p>
            </p:txBody>
          </p:sp>
          <p:sp>
            <p:nvSpPr>
              <p:cNvPr id="27" name="Text 13">
                <a:extLst>
                  <a:ext uri="{FF2B5EF4-FFF2-40B4-BE49-F238E27FC236}">
                    <a16:creationId xmlns:a16="http://schemas.microsoft.com/office/drawing/2014/main" id="{AFEC0201-14D9-6E2D-889C-C0D1F4A0BD12}"/>
                  </a:ext>
                </a:extLst>
              </p:cNvPr>
              <p:cNvSpPr/>
              <p:nvPr/>
            </p:nvSpPr>
            <p:spPr>
              <a:xfrm>
                <a:off x="4068996" y="8021514"/>
                <a:ext cx="1067768" cy="410288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2175" b="1" dirty="0">
                    <a:solidFill>
                      <a:srgbClr val="20160F"/>
                    </a:solidFill>
                    <a:latin typeface="Abadi MT Condensed Light" panose="020B0306030101010103" pitchFamily="34" charset="77"/>
                    <a:ea typeface="Arial" pitchFamily="34" charset="-122"/>
                    <a:cs typeface="Arial" pitchFamily="34" charset="-120"/>
                  </a:rPr>
                  <a:t>Unsafe</a:t>
                </a:r>
                <a:endParaRPr lang="en-US" sz="2175" dirty="0">
                  <a:latin typeface="Abadi MT Condensed Light" panose="020B0306030101010103" pitchFamily="34" charset="77"/>
                </a:endParaRPr>
              </a:p>
            </p:txBody>
          </p:sp>
          <p:sp>
            <p:nvSpPr>
              <p:cNvPr id="28" name="Shape 14">
                <a:extLst>
                  <a:ext uri="{FF2B5EF4-FFF2-40B4-BE49-F238E27FC236}">
                    <a16:creationId xmlns:a16="http://schemas.microsoft.com/office/drawing/2014/main" id="{9B01611D-CCEB-9C83-BC7B-B545818C8566}"/>
                  </a:ext>
                </a:extLst>
              </p:cNvPr>
              <p:cNvSpPr/>
              <p:nvPr/>
            </p:nvSpPr>
            <p:spPr>
              <a:xfrm>
                <a:off x="6373998" y="7726728"/>
                <a:ext cx="157218" cy="157218"/>
              </a:xfrm>
              <a:prstGeom prst="roundRect">
                <a:avLst>
                  <a:gd name="adj" fmla="val 36351"/>
                </a:avLst>
              </a:prstGeom>
              <a:solidFill>
                <a:srgbClr val="9F907B"/>
              </a:solidFill>
              <a:ln/>
            </p:spPr>
            <p:txBody>
              <a:bodyPr/>
              <a:lstStyle/>
              <a:p>
                <a:endParaRPr lang="en-US">
                  <a:latin typeface="Abadi MT Condensed Light" panose="020B0306030101010103" pitchFamily="34" charset="77"/>
                </a:endParaRPr>
              </a:p>
            </p:txBody>
          </p:sp>
          <p:sp>
            <p:nvSpPr>
              <p:cNvPr id="29" name="Text 15">
                <a:extLst>
                  <a:ext uri="{FF2B5EF4-FFF2-40B4-BE49-F238E27FC236}">
                    <a16:creationId xmlns:a16="http://schemas.microsoft.com/office/drawing/2014/main" id="{7CEEE0E0-80FD-7D04-4A08-8A9B6D78F3D0}"/>
                  </a:ext>
                </a:extLst>
              </p:cNvPr>
              <p:cNvSpPr/>
              <p:nvPr/>
            </p:nvSpPr>
            <p:spPr>
              <a:xfrm>
                <a:off x="6629478" y="7667772"/>
                <a:ext cx="413868" cy="351332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1800" dirty="0">
                    <a:solidFill>
                      <a:srgbClr val="4B4038"/>
                    </a:solidFill>
                    <a:latin typeface="Abadi MT Condensed Light" panose="020B0306030101010103" pitchFamily="34" charset="77"/>
                    <a:ea typeface="Arial" pitchFamily="34" charset="-122"/>
                    <a:cs typeface="Arial" pitchFamily="34" charset="-120"/>
                  </a:rPr>
                  <a:t>v0</a:t>
                </a:r>
                <a:endParaRPr lang="en-US" sz="1800" dirty="0">
                  <a:latin typeface="Abadi MT Condensed Light" panose="020B0306030101010103" pitchFamily="34" charset="77"/>
                </a:endParaRPr>
              </a:p>
            </p:txBody>
          </p:sp>
          <p:sp>
            <p:nvSpPr>
              <p:cNvPr id="30" name="Shape 16">
                <a:extLst>
                  <a:ext uri="{FF2B5EF4-FFF2-40B4-BE49-F238E27FC236}">
                    <a16:creationId xmlns:a16="http://schemas.microsoft.com/office/drawing/2014/main" id="{0753BD2B-BFC0-E4CD-AF2E-FE69CFC525F2}"/>
                  </a:ext>
                </a:extLst>
              </p:cNvPr>
              <p:cNvSpPr/>
              <p:nvPr/>
            </p:nvSpPr>
            <p:spPr>
              <a:xfrm>
                <a:off x="6373998" y="8139428"/>
                <a:ext cx="157218" cy="157218"/>
              </a:xfrm>
              <a:prstGeom prst="roundRect">
                <a:avLst>
                  <a:gd name="adj" fmla="val 36351"/>
                </a:avLst>
              </a:prstGeom>
              <a:solidFill>
                <a:srgbClr val="A8462E"/>
              </a:solidFill>
              <a:ln/>
            </p:spPr>
            <p:txBody>
              <a:bodyPr/>
              <a:lstStyle/>
              <a:p>
                <a:endParaRPr lang="en-US">
                  <a:latin typeface="Abadi MT Condensed Light" panose="020B0306030101010103" pitchFamily="34" charset="77"/>
                </a:endParaRPr>
              </a:p>
            </p:txBody>
          </p:sp>
          <p:sp>
            <p:nvSpPr>
              <p:cNvPr id="31" name="Text 17">
                <a:extLst>
                  <a:ext uri="{FF2B5EF4-FFF2-40B4-BE49-F238E27FC236}">
                    <a16:creationId xmlns:a16="http://schemas.microsoft.com/office/drawing/2014/main" id="{C0F32899-DB4B-E8A5-0AAF-7829C8E8ECA5}"/>
                  </a:ext>
                </a:extLst>
              </p:cNvPr>
              <p:cNvSpPr/>
              <p:nvPr/>
            </p:nvSpPr>
            <p:spPr>
              <a:xfrm>
                <a:off x="6629478" y="8080470"/>
                <a:ext cx="375714" cy="351332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1800" dirty="0">
                    <a:solidFill>
                      <a:srgbClr val="4B4038"/>
                    </a:solidFill>
                    <a:latin typeface="Abadi MT Condensed Light" panose="020B0306030101010103" pitchFamily="34" charset="77"/>
                    <a:ea typeface="Arial" pitchFamily="34" charset="-122"/>
                    <a:cs typeface="Arial" pitchFamily="34" charset="-120"/>
                  </a:rPr>
                  <a:t>v1</a:t>
                </a:r>
                <a:endParaRPr lang="en-US" sz="1800" dirty="0">
                  <a:latin typeface="Abadi MT Condensed Light" panose="020B0306030101010103" pitchFamily="34" charset="77"/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70493BD-3353-D2EF-71D5-3BFC6E3DB0D5}"/>
                </a:ext>
              </a:extLst>
            </p:cNvPr>
            <p:cNvSpPr txBox="1"/>
            <p:nvPr/>
          </p:nvSpPr>
          <p:spPr>
            <a:xfrm>
              <a:off x="1275121" y="5737394"/>
              <a:ext cx="2610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kern="0" spc="-34" dirty="0">
                  <a:solidFill>
                    <a:srgbClr val="20160F"/>
                  </a:solidFill>
                  <a:latin typeface="Abadi MT Condensed Light" panose="020B0306030101010103" pitchFamily="34" charset="77"/>
                  <a:ea typeface="Georgia" pitchFamily="34" charset="-122"/>
                  <a:cs typeface="Georgia" pitchFamily="34" charset="-120"/>
                </a:rPr>
                <a:t>(187k – Test DS – Not Used DS)</a:t>
              </a:r>
              <a:endParaRPr lang="en-US" dirty="0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58ED76CE-0AB2-AAD3-DDDD-351CC23116E3}"/>
              </a:ext>
            </a:extLst>
          </p:cNvPr>
          <p:cNvGrpSpPr/>
          <p:nvPr/>
        </p:nvGrpSpPr>
        <p:grpSpPr>
          <a:xfrm>
            <a:off x="10472295" y="2505421"/>
            <a:ext cx="7429830" cy="7835902"/>
            <a:chOff x="2493650" y="2356622"/>
            <a:chExt cx="9816326" cy="7055270"/>
          </a:xfrm>
        </p:grpSpPr>
        <p:sp>
          <p:nvSpPr>
            <p:cNvPr id="34" name="Shape 3">
              <a:extLst>
                <a:ext uri="{FF2B5EF4-FFF2-40B4-BE49-F238E27FC236}">
                  <a16:creationId xmlns:a16="http://schemas.microsoft.com/office/drawing/2014/main" id="{07FC6019-6CF2-B061-735C-B06C3DCB8458}"/>
                </a:ext>
              </a:extLst>
            </p:cNvPr>
            <p:cNvSpPr/>
            <p:nvPr/>
          </p:nvSpPr>
          <p:spPr>
            <a:xfrm>
              <a:off x="2493650" y="2430318"/>
              <a:ext cx="6092214" cy="157218"/>
            </a:xfrm>
            <a:prstGeom prst="roundRect">
              <a:avLst/>
            </a:prstGeom>
            <a:solidFill>
              <a:srgbClr val="B54A46"/>
            </a:solidFill>
            <a:ln/>
          </p:spPr>
          <p:txBody>
            <a:bodyPr/>
            <a:lstStyle/>
            <a:p>
              <a:endParaRPr lang="en-US">
                <a:latin typeface="Abadi MT Condensed Light" panose="020B0306030101010103" pitchFamily="34" charset="77"/>
              </a:endParaRPr>
            </a:p>
          </p:txBody>
        </p:sp>
        <p:sp>
          <p:nvSpPr>
            <p:cNvPr id="35" name="Text 4">
              <a:extLst>
                <a:ext uri="{FF2B5EF4-FFF2-40B4-BE49-F238E27FC236}">
                  <a16:creationId xmlns:a16="http://schemas.microsoft.com/office/drawing/2014/main" id="{59D1250C-1002-C995-7514-D4AA864E4BA2}"/>
                </a:ext>
              </a:extLst>
            </p:cNvPr>
            <p:cNvSpPr/>
            <p:nvPr/>
          </p:nvSpPr>
          <p:spPr>
            <a:xfrm>
              <a:off x="8509664" y="2356622"/>
              <a:ext cx="1135016" cy="38081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rgbClr val="20160F"/>
                  </a:solidFill>
                  <a:latin typeface="Abadi MT Condensed Light" panose="020B0306030101010103" pitchFamily="34" charset="77"/>
                  <a:ea typeface="Courier New" pitchFamily="34" charset="-122"/>
                  <a:cs typeface="Courier New" pitchFamily="34" charset="-120"/>
                </a:rPr>
                <a:t>P5</a:t>
              </a:r>
              <a:endParaRPr lang="en-US" sz="1800" dirty="0">
                <a:latin typeface="Abadi MT Condensed Light" panose="020B0306030101010103" pitchFamily="34" charset="77"/>
              </a:endParaRPr>
            </a:p>
          </p:txBody>
        </p:sp>
        <p:sp>
          <p:nvSpPr>
            <p:cNvPr id="36" name="Shape 5">
              <a:extLst>
                <a:ext uri="{FF2B5EF4-FFF2-40B4-BE49-F238E27FC236}">
                  <a16:creationId xmlns:a16="http://schemas.microsoft.com/office/drawing/2014/main" id="{ED9977DA-A7BE-5B77-F689-5C42B8C8745C}"/>
                </a:ext>
              </a:extLst>
            </p:cNvPr>
            <p:cNvSpPr/>
            <p:nvPr/>
          </p:nvSpPr>
          <p:spPr>
            <a:xfrm>
              <a:off x="3692440" y="2744754"/>
              <a:ext cx="4893424" cy="157218"/>
            </a:xfrm>
            <a:prstGeom prst="roundRect">
              <a:avLst/>
            </a:prstGeom>
            <a:solidFill>
              <a:srgbClr val="B54A46"/>
            </a:solidFill>
            <a:ln/>
          </p:spPr>
          <p:txBody>
            <a:bodyPr/>
            <a:lstStyle/>
            <a:p>
              <a:endParaRPr lang="en-US">
                <a:latin typeface="Abadi MT Condensed Light" panose="020B0306030101010103" pitchFamily="34" charset="77"/>
              </a:endParaRPr>
            </a:p>
          </p:txBody>
        </p:sp>
        <p:sp>
          <p:nvSpPr>
            <p:cNvPr id="37" name="Text 6">
              <a:extLst>
                <a:ext uri="{FF2B5EF4-FFF2-40B4-BE49-F238E27FC236}">
                  <a16:creationId xmlns:a16="http://schemas.microsoft.com/office/drawing/2014/main" id="{E2AF1C0F-6B63-1EA8-F948-84CD9F2FA1FF}"/>
                </a:ext>
              </a:extLst>
            </p:cNvPr>
            <p:cNvSpPr/>
            <p:nvPr/>
          </p:nvSpPr>
          <p:spPr>
            <a:xfrm>
              <a:off x="8509664" y="2671058"/>
              <a:ext cx="1135016" cy="38081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rgbClr val="20160F"/>
                  </a:solidFill>
                  <a:latin typeface="Abadi MT Condensed Light" panose="020B0306030101010103" pitchFamily="34" charset="77"/>
                  <a:ea typeface="Courier New" pitchFamily="34" charset="-122"/>
                  <a:cs typeface="Courier New" pitchFamily="34" charset="-120"/>
                </a:rPr>
                <a:t>P18</a:t>
              </a:r>
              <a:endParaRPr lang="en-US" sz="1800" dirty="0">
                <a:latin typeface="Abadi MT Condensed Light" panose="020B0306030101010103" pitchFamily="34" charset="77"/>
              </a:endParaRPr>
            </a:p>
          </p:txBody>
        </p:sp>
        <p:sp>
          <p:nvSpPr>
            <p:cNvPr id="38" name="Shape 7">
              <a:extLst>
                <a:ext uri="{FF2B5EF4-FFF2-40B4-BE49-F238E27FC236}">
                  <a16:creationId xmlns:a16="http://schemas.microsoft.com/office/drawing/2014/main" id="{60AD5D27-8097-9C6F-3552-DF4855C44134}"/>
                </a:ext>
              </a:extLst>
            </p:cNvPr>
            <p:cNvSpPr/>
            <p:nvPr/>
          </p:nvSpPr>
          <p:spPr>
            <a:xfrm>
              <a:off x="6365154" y="3059192"/>
              <a:ext cx="2220710" cy="157218"/>
            </a:xfrm>
            <a:prstGeom prst="roundRect">
              <a:avLst/>
            </a:prstGeom>
            <a:solidFill>
              <a:srgbClr val="B54A46"/>
            </a:solidFill>
            <a:ln/>
          </p:spPr>
          <p:txBody>
            <a:bodyPr/>
            <a:lstStyle/>
            <a:p>
              <a:endParaRPr lang="en-US">
                <a:latin typeface="Abadi MT Condensed Light" panose="020B0306030101010103" pitchFamily="34" charset="77"/>
              </a:endParaRPr>
            </a:p>
          </p:txBody>
        </p:sp>
        <p:sp>
          <p:nvSpPr>
            <p:cNvPr id="39" name="Text 8">
              <a:extLst>
                <a:ext uri="{FF2B5EF4-FFF2-40B4-BE49-F238E27FC236}">
                  <a16:creationId xmlns:a16="http://schemas.microsoft.com/office/drawing/2014/main" id="{B31E9894-DA12-0129-1764-C456B803A70A}"/>
                </a:ext>
              </a:extLst>
            </p:cNvPr>
            <p:cNvSpPr/>
            <p:nvPr/>
          </p:nvSpPr>
          <p:spPr>
            <a:xfrm>
              <a:off x="8509664" y="2985494"/>
              <a:ext cx="1135016" cy="38081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rgbClr val="20160F"/>
                  </a:solidFill>
                  <a:latin typeface="Abadi MT Condensed Light" panose="020B0306030101010103" pitchFamily="34" charset="77"/>
                  <a:ea typeface="Courier New" pitchFamily="34" charset="-122"/>
                  <a:cs typeface="Courier New" pitchFamily="34" charset="-120"/>
                </a:rPr>
                <a:t>P3</a:t>
              </a:r>
              <a:endParaRPr lang="en-US" sz="1800" dirty="0">
                <a:latin typeface="Abadi MT Condensed Light" panose="020B0306030101010103" pitchFamily="34" charset="77"/>
              </a:endParaRPr>
            </a:p>
          </p:txBody>
        </p:sp>
        <p:sp>
          <p:nvSpPr>
            <p:cNvPr id="40" name="Shape 9">
              <a:extLst>
                <a:ext uri="{FF2B5EF4-FFF2-40B4-BE49-F238E27FC236}">
                  <a16:creationId xmlns:a16="http://schemas.microsoft.com/office/drawing/2014/main" id="{615FAED6-3869-8983-03A6-D809A599BAC7}"/>
                </a:ext>
              </a:extLst>
            </p:cNvPr>
            <p:cNvSpPr/>
            <p:nvPr/>
          </p:nvSpPr>
          <p:spPr>
            <a:xfrm>
              <a:off x="6738548" y="3373628"/>
              <a:ext cx="1847316" cy="157218"/>
            </a:xfrm>
            <a:prstGeom prst="roundRect">
              <a:avLst/>
            </a:prstGeom>
            <a:solidFill>
              <a:srgbClr val="B54A46"/>
            </a:solidFill>
            <a:ln/>
          </p:spPr>
          <p:txBody>
            <a:bodyPr/>
            <a:lstStyle/>
            <a:p>
              <a:endParaRPr lang="en-US">
                <a:latin typeface="Abadi MT Condensed Light" panose="020B0306030101010103" pitchFamily="34" charset="77"/>
              </a:endParaRPr>
            </a:p>
          </p:txBody>
        </p:sp>
        <p:sp>
          <p:nvSpPr>
            <p:cNvPr id="41" name="Text 10">
              <a:extLst>
                <a:ext uri="{FF2B5EF4-FFF2-40B4-BE49-F238E27FC236}">
                  <a16:creationId xmlns:a16="http://schemas.microsoft.com/office/drawing/2014/main" id="{39ADCCE4-9829-F511-A937-31D99C3DB373}"/>
                </a:ext>
              </a:extLst>
            </p:cNvPr>
            <p:cNvSpPr/>
            <p:nvPr/>
          </p:nvSpPr>
          <p:spPr>
            <a:xfrm>
              <a:off x="8509664" y="3299932"/>
              <a:ext cx="1135016" cy="38081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rgbClr val="20160F"/>
                  </a:solidFill>
                  <a:latin typeface="Abadi MT Condensed Light" panose="020B0306030101010103" pitchFamily="34" charset="77"/>
                  <a:ea typeface="Courier New" pitchFamily="34" charset="-122"/>
                  <a:cs typeface="Courier New" pitchFamily="34" charset="-120"/>
                </a:rPr>
                <a:t>P1</a:t>
              </a:r>
              <a:endParaRPr lang="en-US" sz="1800" dirty="0">
                <a:latin typeface="Abadi MT Condensed Light" panose="020B0306030101010103" pitchFamily="34" charset="77"/>
              </a:endParaRPr>
            </a:p>
          </p:txBody>
        </p:sp>
        <p:sp>
          <p:nvSpPr>
            <p:cNvPr id="42" name="Shape 11">
              <a:extLst>
                <a:ext uri="{FF2B5EF4-FFF2-40B4-BE49-F238E27FC236}">
                  <a16:creationId xmlns:a16="http://schemas.microsoft.com/office/drawing/2014/main" id="{E5DABA4A-F0FA-89C9-7FA6-20A2F23D4E0C}"/>
                </a:ext>
              </a:extLst>
            </p:cNvPr>
            <p:cNvSpPr/>
            <p:nvPr/>
          </p:nvSpPr>
          <p:spPr>
            <a:xfrm>
              <a:off x="7809598" y="3688064"/>
              <a:ext cx="776266" cy="157218"/>
            </a:xfrm>
            <a:prstGeom prst="roundRect">
              <a:avLst/>
            </a:prstGeom>
            <a:solidFill>
              <a:srgbClr val="B54A46"/>
            </a:solidFill>
            <a:ln/>
          </p:spPr>
          <p:txBody>
            <a:bodyPr/>
            <a:lstStyle/>
            <a:p>
              <a:endParaRPr lang="en-US">
                <a:latin typeface="Abadi MT Condensed Light" panose="020B0306030101010103" pitchFamily="34" charset="77"/>
              </a:endParaRPr>
            </a:p>
          </p:txBody>
        </p:sp>
        <p:sp>
          <p:nvSpPr>
            <p:cNvPr id="43" name="Text 12">
              <a:extLst>
                <a:ext uri="{FF2B5EF4-FFF2-40B4-BE49-F238E27FC236}">
                  <a16:creationId xmlns:a16="http://schemas.microsoft.com/office/drawing/2014/main" id="{3A02FC9D-6255-140D-805A-658341C53F2F}"/>
                </a:ext>
              </a:extLst>
            </p:cNvPr>
            <p:cNvSpPr/>
            <p:nvPr/>
          </p:nvSpPr>
          <p:spPr>
            <a:xfrm>
              <a:off x="8509664" y="3614368"/>
              <a:ext cx="1135016" cy="38081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rgbClr val="20160F"/>
                  </a:solidFill>
                  <a:latin typeface="Abadi MT Condensed Light" panose="020B0306030101010103" pitchFamily="34" charset="77"/>
                  <a:ea typeface="Courier New" pitchFamily="34" charset="-122"/>
                  <a:cs typeface="Courier New" pitchFamily="34" charset="-120"/>
                </a:rPr>
                <a:t>P4</a:t>
              </a:r>
              <a:endParaRPr lang="en-US" sz="1800" dirty="0">
                <a:latin typeface="Abadi MT Condensed Light" panose="020B0306030101010103" pitchFamily="34" charset="77"/>
              </a:endParaRPr>
            </a:p>
          </p:txBody>
        </p:sp>
        <p:sp>
          <p:nvSpPr>
            <p:cNvPr id="44" name="Shape 13">
              <a:extLst>
                <a:ext uri="{FF2B5EF4-FFF2-40B4-BE49-F238E27FC236}">
                  <a16:creationId xmlns:a16="http://schemas.microsoft.com/office/drawing/2014/main" id="{4AB4DA33-97BF-7BF3-6B03-A3C6382B3FB2}"/>
                </a:ext>
              </a:extLst>
            </p:cNvPr>
            <p:cNvSpPr/>
            <p:nvPr/>
          </p:nvSpPr>
          <p:spPr>
            <a:xfrm>
              <a:off x="8163340" y="4002502"/>
              <a:ext cx="422524" cy="157218"/>
            </a:xfrm>
            <a:prstGeom prst="roundRect">
              <a:avLst/>
            </a:prstGeom>
            <a:solidFill>
              <a:srgbClr val="B54A46"/>
            </a:solidFill>
            <a:ln/>
          </p:spPr>
          <p:txBody>
            <a:bodyPr/>
            <a:lstStyle/>
            <a:p>
              <a:endParaRPr lang="en-US">
                <a:latin typeface="Abadi MT Condensed Light" panose="020B0306030101010103" pitchFamily="34" charset="77"/>
              </a:endParaRPr>
            </a:p>
          </p:txBody>
        </p:sp>
        <p:sp>
          <p:nvSpPr>
            <p:cNvPr id="45" name="Text 14">
              <a:extLst>
                <a:ext uri="{FF2B5EF4-FFF2-40B4-BE49-F238E27FC236}">
                  <a16:creationId xmlns:a16="http://schemas.microsoft.com/office/drawing/2014/main" id="{1C37EB49-36AC-17E4-D001-DBCCCFF9E948}"/>
                </a:ext>
              </a:extLst>
            </p:cNvPr>
            <p:cNvSpPr/>
            <p:nvPr/>
          </p:nvSpPr>
          <p:spPr>
            <a:xfrm>
              <a:off x="8509664" y="3928806"/>
              <a:ext cx="1135016" cy="38081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rgbClr val="20160F"/>
                  </a:solidFill>
                  <a:latin typeface="Abadi MT Condensed Light" panose="020B0306030101010103" pitchFamily="34" charset="77"/>
                  <a:ea typeface="Courier New" pitchFamily="34" charset="-122"/>
                  <a:cs typeface="Courier New" pitchFamily="34" charset="-120"/>
                </a:rPr>
                <a:t>P15</a:t>
              </a:r>
              <a:endParaRPr lang="en-US" sz="1800" dirty="0">
                <a:latin typeface="Abadi MT Condensed Light" panose="020B0306030101010103" pitchFamily="34" charset="77"/>
              </a:endParaRPr>
            </a:p>
          </p:txBody>
        </p:sp>
        <p:sp>
          <p:nvSpPr>
            <p:cNvPr id="46" name="Shape 15">
              <a:extLst>
                <a:ext uri="{FF2B5EF4-FFF2-40B4-BE49-F238E27FC236}">
                  <a16:creationId xmlns:a16="http://schemas.microsoft.com/office/drawing/2014/main" id="{E38373BB-59D0-85E1-6258-62AAFAC72366}"/>
                </a:ext>
              </a:extLst>
            </p:cNvPr>
            <p:cNvSpPr/>
            <p:nvPr/>
          </p:nvSpPr>
          <p:spPr>
            <a:xfrm>
              <a:off x="8379516" y="4316938"/>
              <a:ext cx="206350" cy="157218"/>
            </a:xfrm>
            <a:prstGeom prst="roundRect">
              <a:avLst/>
            </a:prstGeom>
            <a:solidFill>
              <a:srgbClr val="B54A46"/>
            </a:solidFill>
            <a:ln/>
          </p:spPr>
          <p:txBody>
            <a:bodyPr/>
            <a:lstStyle/>
            <a:p>
              <a:endParaRPr lang="en-US">
                <a:latin typeface="Abadi MT Condensed Light" panose="020B0306030101010103" pitchFamily="34" charset="77"/>
              </a:endParaRPr>
            </a:p>
          </p:txBody>
        </p:sp>
        <p:sp>
          <p:nvSpPr>
            <p:cNvPr id="47" name="Text 16">
              <a:extLst>
                <a:ext uri="{FF2B5EF4-FFF2-40B4-BE49-F238E27FC236}">
                  <a16:creationId xmlns:a16="http://schemas.microsoft.com/office/drawing/2014/main" id="{76D44CBD-1631-5790-9187-4A20AF28DF44}"/>
                </a:ext>
              </a:extLst>
            </p:cNvPr>
            <p:cNvSpPr/>
            <p:nvPr/>
          </p:nvSpPr>
          <p:spPr>
            <a:xfrm>
              <a:off x="8509664" y="4243242"/>
              <a:ext cx="1135016" cy="38081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rgbClr val="20160F"/>
                  </a:solidFill>
                  <a:latin typeface="Abadi MT Condensed Light" panose="020B0306030101010103" pitchFamily="34" charset="77"/>
                  <a:ea typeface="Courier New" pitchFamily="34" charset="-122"/>
                  <a:cs typeface="Courier New" pitchFamily="34" charset="-120"/>
                </a:rPr>
                <a:t>P8</a:t>
              </a:r>
              <a:endParaRPr lang="en-US" sz="1800" dirty="0">
                <a:latin typeface="Abadi MT Condensed Light" panose="020B0306030101010103" pitchFamily="34" charset="77"/>
              </a:endParaRPr>
            </a:p>
          </p:txBody>
        </p:sp>
        <p:sp>
          <p:nvSpPr>
            <p:cNvPr id="48" name="Shape 17">
              <a:extLst>
                <a:ext uri="{FF2B5EF4-FFF2-40B4-BE49-F238E27FC236}">
                  <a16:creationId xmlns:a16="http://schemas.microsoft.com/office/drawing/2014/main" id="{91AD2998-14EF-3E0C-86C7-0C4AEA93A14F}"/>
                </a:ext>
              </a:extLst>
            </p:cNvPr>
            <p:cNvSpPr/>
            <p:nvPr/>
          </p:nvSpPr>
          <p:spPr>
            <a:xfrm>
              <a:off x="8467950" y="4631376"/>
              <a:ext cx="117914" cy="157218"/>
            </a:xfrm>
            <a:prstGeom prst="roundRect">
              <a:avLst/>
            </a:prstGeom>
            <a:solidFill>
              <a:srgbClr val="B54A46"/>
            </a:solidFill>
            <a:ln/>
          </p:spPr>
          <p:txBody>
            <a:bodyPr/>
            <a:lstStyle/>
            <a:p>
              <a:endParaRPr lang="en-US">
                <a:latin typeface="Abadi MT Condensed Light" panose="020B0306030101010103" pitchFamily="34" charset="77"/>
              </a:endParaRPr>
            </a:p>
          </p:txBody>
        </p:sp>
        <p:sp>
          <p:nvSpPr>
            <p:cNvPr id="49" name="Text 18">
              <a:extLst>
                <a:ext uri="{FF2B5EF4-FFF2-40B4-BE49-F238E27FC236}">
                  <a16:creationId xmlns:a16="http://schemas.microsoft.com/office/drawing/2014/main" id="{0B023C23-117F-6C41-609D-13BFE9391319}"/>
                </a:ext>
              </a:extLst>
            </p:cNvPr>
            <p:cNvSpPr/>
            <p:nvPr/>
          </p:nvSpPr>
          <p:spPr>
            <a:xfrm>
              <a:off x="8509664" y="4557678"/>
              <a:ext cx="1135016" cy="38081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rgbClr val="20160F"/>
                  </a:solidFill>
                  <a:latin typeface="Abadi MT Condensed Light" panose="020B0306030101010103" pitchFamily="34" charset="77"/>
                  <a:ea typeface="Courier New" pitchFamily="34" charset="-122"/>
                  <a:cs typeface="Courier New" pitchFamily="34" charset="-120"/>
                </a:rPr>
                <a:t>P13</a:t>
              </a:r>
              <a:endParaRPr lang="en-US" sz="1800" dirty="0">
                <a:latin typeface="Abadi MT Condensed Light" panose="020B0306030101010103" pitchFamily="34" charset="77"/>
              </a:endParaRPr>
            </a:p>
          </p:txBody>
        </p:sp>
        <p:sp>
          <p:nvSpPr>
            <p:cNvPr id="50" name="Shape 19">
              <a:extLst>
                <a:ext uri="{FF2B5EF4-FFF2-40B4-BE49-F238E27FC236}">
                  <a16:creationId xmlns:a16="http://schemas.microsoft.com/office/drawing/2014/main" id="{38C1ECBC-5CCE-D8AA-A664-E4A876BD5029}"/>
                </a:ext>
              </a:extLst>
            </p:cNvPr>
            <p:cNvSpPr/>
            <p:nvPr/>
          </p:nvSpPr>
          <p:spPr>
            <a:xfrm>
              <a:off x="8487602" y="4945812"/>
              <a:ext cx="98262" cy="157218"/>
            </a:xfrm>
            <a:prstGeom prst="roundRect">
              <a:avLst/>
            </a:prstGeom>
            <a:solidFill>
              <a:srgbClr val="B54A46"/>
            </a:solidFill>
            <a:ln/>
          </p:spPr>
          <p:txBody>
            <a:bodyPr/>
            <a:lstStyle/>
            <a:p>
              <a:endParaRPr lang="en-US">
                <a:latin typeface="Abadi MT Condensed Light" panose="020B0306030101010103" pitchFamily="34" charset="77"/>
              </a:endParaRPr>
            </a:p>
          </p:txBody>
        </p:sp>
        <p:sp>
          <p:nvSpPr>
            <p:cNvPr id="51" name="Text 20">
              <a:extLst>
                <a:ext uri="{FF2B5EF4-FFF2-40B4-BE49-F238E27FC236}">
                  <a16:creationId xmlns:a16="http://schemas.microsoft.com/office/drawing/2014/main" id="{64113472-BBA6-83E1-5A43-19854152ED3A}"/>
                </a:ext>
              </a:extLst>
            </p:cNvPr>
            <p:cNvSpPr/>
            <p:nvPr/>
          </p:nvSpPr>
          <p:spPr>
            <a:xfrm>
              <a:off x="8509664" y="4872116"/>
              <a:ext cx="1135016" cy="38081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rgbClr val="20160F"/>
                  </a:solidFill>
                  <a:latin typeface="Abadi MT Condensed Light" panose="020B0306030101010103" pitchFamily="34" charset="77"/>
                  <a:ea typeface="Courier New" pitchFamily="34" charset="-122"/>
                  <a:cs typeface="Courier New" pitchFamily="34" charset="-120"/>
                </a:rPr>
                <a:t>P2</a:t>
              </a:r>
              <a:endParaRPr lang="en-US" sz="1800" dirty="0">
                <a:latin typeface="Abadi MT Condensed Light" panose="020B0306030101010103" pitchFamily="34" charset="77"/>
              </a:endParaRPr>
            </a:p>
          </p:txBody>
        </p:sp>
        <p:sp>
          <p:nvSpPr>
            <p:cNvPr id="52" name="Shape 21">
              <a:extLst>
                <a:ext uri="{FF2B5EF4-FFF2-40B4-BE49-F238E27FC236}">
                  <a16:creationId xmlns:a16="http://schemas.microsoft.com/office/drawing/2014/main" id="{EBF72B91-5792-D767-29E9-6AB1F1D244BD}"/>
                </a:ext>
              </a:extLst>
            </p:cNvPr>
            <p:cNvSpPr/>
            <p:nvPr/>
          </p:nvSpPr>
          <p:spPr>
            <a:xfrm>
              <a:off x="8517082" y="5260248"/>
              <a:ext cx="68784" cy="157218"/>
            </a:xfrm>
            <a:prstGeom prst="roundRect">
              <a:avLst/>
            </a:prstGeom>
            <a:solidFill>
              <a:srgbClr val="B54A46"/>
            </a:solidFill>
            <a:ln/>
          </p:spPr>
          <p:txBody>
            <a:bodyPr/>
            <a:lstStyle/>
            <a:p>
              <a:endParaRPr lang="en-US">
                <a:latin typeface="Abadi MT Condensed Light" panose="020B0306030101010103" pitchFamily="34" charset="77"/>
              </a:endParaRPr>
            </a:p>
          </p:txBody>
        </p:sp>
        <p:sp>
          <p:nvSpPr>
            <p:cNvPr id="53" name="Text 22">
              <a:extLst>
                <a:ext uri="{FF2B5EF4-FFF2-40B4-BE49-F238E27FC236}">
                  <a16:creationId xmlns:a16="http://schemas.microsoft.com/office/drawing/2014/main" id="{25939766-7F06-0514-010B-3BEBC6AC890C}"/>
                </a:ext>
              </a:extLst>
            </p:cNvPr>
            <p:cNvSpPr/>
            <p:nvPr/>
          </p:nvSpPr>
          <p:spPr>
            <a:xfrm>
              <a:off x="8509664" y="5186554"/>
              <a:ext cx="1135016" cy="38081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rgbClr val="20160F"/>
                  </a:solidFill>
                  <a:latin typeface="Abadi MT Condensed Light" panose="020B0306030101010103" pitchFamily="34" charset="77"/>
                  <a:ea typeface="Courier New" pitchFamily="34" charset="-122"/>
                  <a:cs typeface="Courier New" pitchFamily="34" charset="-120"/>
                </a:rPr>
                <a:t>P12</a:t>
              </a:r>
              <a:endParaRPr lang="en-US" sz="1800" dirty="0">
                <a:latin typeface="Abadi MT Condensed Light" panose="020B0306030101010103" pitchFamily="34" charset="77"/>
              </a:endParaRPr>
            </a:p>
          </p:txBody>
        </p:sp>
        <p:sp>
          <p:nvSpPr>
            <p:cNvPr id="54" name="Text 23">
              <a:extLst>
                <a:ext uri="{FF2B5EF4-FFF2-40B4-BE49-F238E27FC236}">
                  <a16:creationId xmlns:a16="http://schemas.microsoft.com/office/drawing/2014/main" id="{D69C8C66-A473-5F92-F655-67D224752FB5}"/>
                </a:ext>
              </a:extLst>
            </p:cNvPr>
            <p:cNvSpPr/>
            <p:nvPr/>
          </p:nvSpPr>
          <p:spPr>
            <a:xfrm>
              <a:off x="8509664" y="5500990"/>
              <a:ext cx="1135016" cy="38081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rgbClr val="20160F"/>
                  </a:solidFill>
                  <a:latin typeface="Abadi MT Condensed Light" panose="020B0306030101010103" pitchFamily="34" charset="77"/>
                  <a:ea typeface="Courier New" pitchFamily="34" charset="-122"/>
                  <a:cs typeface="Courier New" pitchFamily="34" charset="-120"/>
                </a:rPr>
                <a:t>P17</a:t>
              </a:r>
              <a:endParaRPr lang="en-US" sz="1800" dirty="0">
                <a:latin typeface="Abadi MT Condensed Light" panose="020B0306030101010103" pitchFamily="34" charset="77"/>
              </a:endParaRPr>
            </a:p>
          </p:txBody>
        </p:sp>
        <p:sp>
          <p:nvSpPr>
            <p:cNvPr id="55" name="Text 24">
              <a:extLst>
                <a:ext uri="{FF2B5EF4-FFF2-40B4-BE49-F238E27FC236}">
                  <a16:creationId xmlns:a16="http://schemas.microsoft.com/office/drawing/2014/main" id="{17E4BCE2-C165-BB3B-1739-66FEF429D078}"/>
                </a:ext>
              </a:extLst>
            </p:cNvPr>
            <p:cNvSpPr/>
            <p:nvPr/>
          </p:nvSpPr>
          <p:spPr>
            <a:xfrm>
              <a:off x="8509664" y="5815426"/>
              <a:ext cx="1135016" cy="38081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rgbClr val="20160F"/>
                  </a:solidFill>
                  <a:latin typeface="Abadi MT Condensed Light" panose="020B0306030101010103" pitchFamily="34" charset="77"/>
                  <a:ea typeface="Courier New" pitchFamily="34" charset="-122"/>
                  <a:cs typeface="Courier New" pitchFamily="34" charset="-120"/>
                </a:rPr>
                <a:t>P16</a:t>
              </a:r>
              <a:endParaRPr lang="en-US" sz="1800" dirty="0">
                <a:latin typeface="Abadi MT Condensed Light" panose="020B0306030101010103" pitchFamily="34" charset="77"/>
              </a:endParaRPr>
            </a:p>
          </p:txBody>
        </p:sp>
        <p:sp>
          <p:nvSpPr>
            <p:cNvPr id="56" name="Shape 25">
              <a:extLst>
                <a:ext uri="{FF2B5EF4-FFF2-40B4-BE49-F238E27FC236}">
                  <a16:creationId xmlns:a16="http://schemas.microsoft.com/office/drawing/2014/main" id="{D808AFF4-6507-D5C5-51D0-305253BF51CF}"/>
                </a:ext>
              </a:extLst>
            </p:cNvPr>
            <p:cNvSpPr/>
            <p:nvPr/>
          </p:nvSpPr>
          <p:spPr>
            <a:xfrm>
              <a:off x="9568480" y="5889124"/>
              <a:ext cx="68784" cy="137160"/>
            </a:xfrm>
            <a:prstGeom prst="roundRect">
              <a:avLst/>
            </a:prstGeom>
            <a:solidFill>
              <a:srgbClr val="00B050"/>
            </a:solidFill>
            <a:ln/>
          </p:spPr>
          <p:txBody>
            <a:bodyPr/>
            <a:lstStyle/>
            <a:p>
              <a:endParaRPr lang="en-US">
                <a:latin typeface="Abadi MT Condensed Light" panose="020B0306030101010103" pitchFamily="34" charset="77"/>
              </a:endParaRPr>
            </a:p>
          </p:txBody>
        </p:sp>
        <p:sp>
          <p:nvSpPr>
            <p:cNvPr id="57" name="Text 26">
              <a:extLst>
                <a:ext uri="{FF2B5EF4-FFF2-40B4-BE49-F238E27FC236}">
                  <a16:creationId xmlns:a16="http://schemas.microsoft.com/office/drawing/2014/main" id="{DA7791DA-A724-2650-1848-1838E92732BC}"/>
                </a:ext>
              </a:extLst>
            </p:cNvPr>
            <p:cNvSpPr/>
            <p:nvPr/>
          </p:nvSpPr>
          <p:spPr>
            <a:xfrm>
              <a:off x="8509664" y="6129864"/>
              <a:ext cx="1135016" cy="38081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rgbClr val="20160F"/>
                  </a:solidFill>
                  <a:latin typeface="Abadi MT Condensed Light" panose="020B0306030101010103" pitchFamily="34" charset="77"/>
                  <a:ea typeface="Courier New" pitchFamily="34" charset="-122"/>
                  <a:cs typeface="Courier New" pitchFamily="34" charset="-120"/>
                </a:rPr>
                <a:t>P20</a:t>
              </a:r>
              <a:endParaRPr lang="en-US" sz="1800" dirty="0">
                <a:latin typeface="Abadi MT Condensed Light" panose="020B0306030101010103" pitchFamily="34" charset="77"/>
              </a:endParaRPr>
            </a:p>
          </p:txBody>
        </p:sp>
        <p:sp>
          <p:nvSpPr>
            <p:cNvPr id="58" name="Shape 27">
              <a:extLst>
                <a:ext uri="{FF2B5EF4-FFF2-40B4-BE49-F238E27FC236}">
                  <a16:creationId xmlns:a16="http://schemas.microsoft.com/office/drawing/2014/main" id="{B4B255FC-10C8-47E5-01CF-CDD06035DB38}"/>
                </a:ext>
              </a:extLst>
            </p:cNvPr>
            <p:cNvSpPr/>
            <p:nvPr/>
          </p:nvSpPr>
          <p:spPr>
            <a:xfrm>
              <a:off x="9568480" y="6203560"/>
              <a:ext cx="78610" cy="137160"/>
            </a:xfrm>
            <a:prstGeom prst="roundRect">
              <a:avLst/>
            </a:prstGeom>
            <a:solidFill>
              <a:srgbClr val="00B050"/>
            </a:solidFill>
            <a:ln/>
          </p:spPr>
          <p:txBody>
            <a:bodyPr/>
            <a:lstStyle/>
            <a:p>
              <a:endParaRPr lang="en-US">
                <a:latin typeface="Abadi MT Condensed Light" panose="020B0306030101010103" pitchFamily="34" charset="77"/>
              </a:endParaRPr>
            </a:p>
          </p:txBody>
        </p:sp>
        <p:sp>
          <p:nvSpPr>
            <p:cNvPr id="59" name="Text 28">
              <a:extLst>
                <a:ext uri="{FF2B5EF4-FFF2-40B4-BE49-F238E27FC236}">
                  <a16:creationId xmlns:a16="http://schemas.microsoft.com/office/drawing/2014/main" id="{48251AA4-16ED-E502-5023-5283866C3BF5}"/>
                </a:ext>
              </a:extLst>
            </p:cNvPr>
            <p:cNvSpPr/>
            <p:nvPr/>
          </p:nvSpPr>
          <p:spPr>
            <a:xfrm>
              <a:off x="8509664" y="6444300"/>
              <a:ext cx="1135016" cy="38081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rgbClr val="20160F"/>
                  </a:solidFill>
                  <a:latin typeface="Abadi MT Condensed Light" panose="020B0306030101010103" pitchFamily="34" charset="77"/>
                  <a:ea typeface="Courier New" pitchFamily="34" charset="-122"/>
                  <a:cs typeface="Courier New" pitchFamily="34" charset="-120"/>
                </a:rPr>
                <a:t>P14</a:t>
              </a:r>
              <a:endParaRPr lang="en-US" sz="1800" dirty="0">
                <a:latin typeface="Abadi MT Condensed Light" panose="020B0306030101010103" pitchFamily="34" charset="77"/>
              </a:endParaRPr>
            </a:p>
          </p:txBody>
        </p:sp>
        <p:sp>
          <p:nvSpPr>
            <p:cNvPr id="60" name="Shape 29">
              <a:extLst>
                <a:ext uri="{FF2B5EF4-FFF2-40B4-BE49-F238E27FC236}">
                  <a16:creationId xmlns:a16="http://schemas.microsoft.com/office/drawing/2014/main" id="{193A2908-DFCC-7335-5780-1B4A09C652CC}"/>
                </a:ext>
              </a:extLst>
            </p:cNvPr>
            <p:cNvSpPr/>
            <p:nvPr/>
          </p:nvSpPr>
          <p:spPr>
            <a:xfrm>
              <a:off x="9568480" y="6517996"/>
              <a:ext cx="117914" cy="137160"/>
            </a:xfrm>
            <a:prstGeom prst="roundRect">
              <a:avLst/>
            </a:prstGeom>
            <a:solidFill>
              <a:srgbClr val="00B050"/>
            </a:solidFill>
            <a:ln/>
          </p:spPr>
          <p:txBody>
            <a:bodyPr/>
            <a:lstStyle/>
            <a:p>
              <a:endParaRPr lang="en-US">
                <a:latin typeface="Abadi MT Condensed Light" panose="020B0306030101010103" pitchFamily="34" charset="77"/>
              </a:endParaRPr>
            </a:p>
          </p:txBody>
        </p:sp>
        <p:sp>
          <p:nvSpPr>
            <p:cNvPr id="61" name="Text 30">
              <a:extLst>
                <a:ext uri="{FF2B5EF4-FFF2-40B4-BE49-F238E27FC236}">
                  <a16:creationId xmlns:a16="http://schemas.microsoft.com/office/drawing/2014/main" id="{CD6865EC-496B-1C31-1A75-92AAFAA1255B}"/>
                </a:ext>
              </a:extLst>
            </p:cNvPr>
            <p:cNvSpPr/>
            <p:nvPr/>
          </p:nvSpPr>
          <p:spPr>
            <a:xfrm>
              <a:off x="8509664" y="6758738"/>
              <a:ext cx="1135016" cy="38081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rgbClr val="20160F"/>
                  </a:solidFill>
                  <a:latin typeface="Abadi MT Condensed Light" panose="020B0306030101010103" pitchFamily="34" charset="77"/>
                  <a:ea typeface="Courier New" pitchFamily="34" charset="-122"/>
                  <a:cs typeface="Courier New" pitchFamily="34" charset="-120"/>
                </a:rPr>
                <a:t>P6</a:t>
              </a:r>
              <a:endParaRPr lang="en-US" sz="1800" dirty="0">
                <a:latin typeface="Abadi MT Condensed Light" panose="020B0306030101010103" pitchFamily="34" charset="77"/>
              </a:endParaRPr>
            </a:p>
          </p:txBody>
        </p:sp>
        <p:sp>
          <p:nvSpPr>
            <p:cNvPr id="62" name="Shape 31">
              <a:extLst>
                <a:ext uri="{FF2B5EF4-FFF2-40B4-BE49-F238E27FC236}">
                  <a16:creationId xmlns:a16="http://schemas.microsoft.com/office/drawing/2014/main" id="{A0C4DE7D-7B6B-FE6E-C7DB-290A7B29FAB0}"/>
                </a:ext>
              </a:extLst>
            </p:cNvPr>
            <p:cNvSpPr/>
            <p:nvPr/>
          </p:nvSpPr>
          <p:spPr>
            <a:xfrm>
              <a:off x="9568480" y="6832434"/>
              <a:ext cx="127740" cy="137160"/>
            </a:xfrm>
            <a:prstGeom prst="roundRect">
              <a:avLst/>
            </a:prstGeom>
            <a:solidFill>
              <a:srgbClr val="00B050"/>
            </a:solidFill>
            <a:ln/>
          </p:spPr>
          <p:txBody>
            <a:bodyPr/>
            <a:lstStyle/>
            <a:p>
              <a:endParaRPr lang="en-US">
                <a:latin typeface="Abadi MT Condensed Light" panose="020B0306030101010103" pitchFamily="34" charset="77"/>
              </a:endParaRPr>
            </a:p>
          </p:txBody>
        </p:sp>
        <p:sp>
          <p:nvSpPr>
            <p:cNvPr id="63" name="Text 32">
              <a:extLst>
                <a:ext uri="{FF2B5EF4-FFF2-40B4-BE49-F238E27FC236}">
                  <a16:creationId xmlns:a16="http://schemas.microsoft.com/office/drawing/2014/main" id="{89DD674E-983A-94BA-FBA8-54E5D9B44B6A}"/>
                </a:ext>
              </a:extLst>
            </p:cNvPr>
            <p:cNvSpPr/>
            <p:nvPr/>
          </p:nvSpPr>
          <p:spPr>
            <a:xfrm>
              <a:off x="8509664" y="7073174"/>
              <a:ext cx="1135016" cy="38081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rgbClr val="20160F"/>
                  </a:solidFill>
                  <a:latin typeface="Abadi MT Condensed Light" panose="020B0306030101010103" pitchFamily="34" charset="77"/>
                  <a:ea typeface="Courier New" pitchFamily="34" charset="-122"/>
                  <a:cs typeface="Courier New" pitchFamily="34" charset="-120"/>
                </a:rPr>
                <a:t>P10</a:t>
              </a:r>
              <a:endParaRPr lang="en-US" sz="1800" dirty="0">
                <a:latin typeface="Abadi MT Condensed Light" panose="020B0306030101010103" pitchFamily="34" charset="77"/>
              </a:endParaRPr>
            </a:p>
          </p:txBody>
        </p:sp>
        <p:sp>
          <p:nvSpPr>
            <p:cNvPr id="64" name="Shape 33">
              <a:extLst>
                <a:ext uri="{FF2B5EF4-FFF2-40B4-BE49-F238E27FC236}">
                  <a16:creationId xmlns:a16="http://schemas.microsoft.com/office/drawing/2014/main" id="{E8F07BB3-367B-DED6-5EF9-75735676B96A}"/>
                </a:ext>
              </a:extLst>
            </p:cNvPr>
            <p:cNvSpPr/>
            <p:nvPr/>
          </p:nvSpPr>
          <p:spPr>
            <a:xfrm>
              <a:off x="9568480" y="7146870"/>
              <a:ext cx="638700" cy="137160"/>
            </a:xfrm>
            <a:prstGeom prst="roundRect">
              <a:avLst/>
            </a:prstGeom>
            <a:solidFill>
              <a:srgbClr val="00B050"/>
            </a:solidFill>
            <a:ln/>
          </p:spPr>
          <p:txBody>
            <a:bodyPr/>
            <a:lstStyle/>
            <a:p>
              <a:endParaRPr lang="en-US">
                <a:latin typeface="Abadi MT Condensed Light" panose="020B0306030101010103" pitchFamily="34" charset="77"/>
              </a:endParaRPr>
            </a:p>
          </p:txBody>
        </p:sp>
        <p:sp>
          <p:nvSpPr>
            <p:cNvPr id="65" name="Text 34">
              <a:extLst>
                <a:ext uri="{FF2B5EF4-FFF2-40B4-BE49-F238E27FC236}">
                  <a16:creationId xmlns:a16="http://schemas.microsoft.com/office/drawing/2014/main" id="{C8B1AF9E-E475-FE42-637B-726E3A4E2480}"/>
                </a:ext>
              </a:extLst>
            </p:cNvPr>
            <p:cNvSpPr/>
            <p:nvPr/>
          </p:nvSpPr>
          <p:spPr>
            <a:xfrm>
              <a:off x="8509664" y="7387610"/>
              <a:ext cx="1135016" cy="38081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rgbClr val="20160F"/>
                  </a:solidFill>
                  <a:latin typeface="Abadi MT Condensed Light" panose="020B0306030101010103" pitchFamily="34" charset="77"/>
                  <a:ea typeface="Courier New" pitchFamily="34" charset="-122"/>
                  <a:cs typeface="Courier New" pitchFamily="34" charset="-120"/>
                </a:rPr>
                <a:t>P11</a:t>
              </a:r>
              <a:endParaRPr lang="en-US" sz="1800" dirty="0">
                <a:latin typeface="Abadi MT Condensed Light" panose="020B0306030101010103" pitchFamily="34" charset="77"/>
              </a:endParaRPr>
            </a:p>
          </p:txBody>
        </p:sp>
        <p:sp>
          <p:nvSpPr>
            <p:cNvPr id="66" name="Shape 35">
              <a:extLst>
                <a:ext uri="{FF2B5EF4-FFF2-40B4-BE49-F238E27FC236}">
                  <a16:creationId xmlns:a16="http://schemas.microsoft.com/office/drawing/2014/main" id="{162AADA8-FA8C-9559-34ED-C9645508A9BF}"/>
                </a:ext>
              </a:extLst>
            </p:cNvPr>
            <p:cNvSpPr/>
            <p:nvPr/>
          </p:nvSpPr>
          <p:spPr>
            <a:xfrm>
              <a:off x="9568480" y="7461308"/>
              <a:ext cx="962964" cy="137160"/>
            </a:xfrm>
            <a:prstGeom prst="roundRect">
              <a:avLst/>
            </a:prstGeom>
            <a:solidFill>
              <a:srgbClr val="00B050"/>
            </a:solidFill>
            <a:ln/>
          </p:spPr>
          <p:txBody>
            <a:bodyPr/>
            <a:lstStyle/>
            <a:p>
              <a:endParaRPr lang="en-US">
                <a:latin typeface="Abadi MT Condensed Light" panose="020B0306030101010103" pitchFamily="34" charset="77"/>
              </a:endParaRPr>
            </a:p>
          </p:txBody>
        </p:sp>
        <p:sp>
          <p:nvSpPr>
            <p:cNvPr id="67" name="Text 36">
              <a:extLst>
                <a:ext uri="{FF2B5EF4-FFF2-40B4-BE49-F238E27FC236}">
                  <a16:creationId xmlns:a16="http://schemas.microsoft.com/office/drawing/2014/main" id="{A74543A4-E876-8594-82A2-CAB28888972F}"/>
                </a:ext>
              </a:extLst>
            </p:cNvPr>
            <p:cNvSpPr/>
            <p:nvPr/>
          </p:nvSpPr>
          <p:spPr>
            <a:xfrm>
              <a:off x="8509664" y="7702048"/>
              <a:ext cx="1135016" cy="38081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rgbClr val="20160F"/>
                  </a:solidFill>
                  <a:latin typeface="Abadi MT Condensed Light" panose="020B0306030101010103" pitchFamily="34" charset="77"/>
                  <a:ea typeface="Courier New" pitchFamily="34" charset="-122"/>
                  <a:cs typeface="Courier New" pitchFamily="34" charset="-120"/>
                </a:rPr>
                <a:t>P7</a:t>
              </a:r>
              <a:endParaRPr lang="en-US" sz="1800" dirty="0">
                <a:latin typeface="Abadi MT Condensed Light" panose="020B0306030101010103" pitchFamily="34" charset="77"/>
              </a:endParaRPr>
            </a:p>
          </p:txBody>
        </p:sp>
        <p:sp>
          <p:nvSpPr>
            <p:cNvPr id="68" name="Shape 37">
              <a:extLst>
                <a:ext uri="{FF2B5EF4-FFF2-40B4-BE49-F238E27FC236}">
                  <a16:creationId xmlns:a16="http://schemas.microsoft.com/office/drawing/2014/main" id="{F638B34C-D9E1-FA26-4F5D-5A0714136A05}"/>
                </a:ext>
              </a:extLst>
            </p:cNvPr>
            <p:cNvSpPr/>
            <p:nvPr/>
          </p:nvSpPr>
          <p:spPr>
            <a:xfrm>
              <a:off x="9568480" y="7775744"/>
              <a:ext cx="972790" cy="137160"/>
            </a:xfrm>
            <a:prstGeom prst="roundRect">
              <a:avLst/>
            </a:prstGeom>
            <a:solidFill>
              <a:srgbClr val="00B050"/>
            </a:solidFill>
            <a:ln/>
          </p:spPr>
          <p:txBody>
            <a:bodyPr/>
            <a:lstStyle/>
            <a:p>
              <a:endParaRPr lang="en-US">
                <a:latin typeface="Abadi MT Condensed Light" panose="020B0306030101010103" pitchFamily="34" charset="77"/>
              </a:endParaRPr>
            </a:p>
          </p:txBody>
        </p:sp>
        <p:sp>
          <p:nvSpPr>
            <p:cNvPr id="69" name="Text 38">
              <a:extLst>
                <a:ext uri="{FF2B5EF4-FFF2-40B4-BE49-F238E27FC236}">
                  <a16:creationId xmlns:a16="http://schemas.microsoft.com/office/drawing/2014/main" id="{9C59542C-E596-E475-D492-DF257A45CA93}"/>
                </a:ext>
              </a:extLst>
            </p:cNvPr>
            <p:cNvSpPr/>
            <p:nvPr/>
          </p:nvSpPr>
          <p:spPr>
            <a:xfrm>
              <a:off x="8509664" y="8016486"/>
              <a:ext cx="1135016" cy="38081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rgbClr val="20160F"/>
                  </a:solidFill>
                  <a:latin typeface="Abadi MT Condensed Light" panose="020B0306030101010103" pitchFamily="34" charset="77"/>
                  <a:ea typeface="Courier New" pitchFamily="34" charset="-122"/>
                  <a:cs typeface="Courier New" pitchFamily="34" charset="-120"/>
                </a:rPr>
                <a:t>P9</a:t>
              </a:r>
              <a:endParaRPr lang="en-US" sz="1800" dirty="0">
                <a:latin typeface="Abadi MT Condensed Light" panose="020B0306030101010103" pitchFamily="34" charset="77"/>
              </a:endParaRPr>
            </a:p>
          </p:txBody>
        </p:sp>
        <p:sp>
          <p:nvSpPr>
            <p:cNvPr id="70" name="Shape 39">
              <a:extLst>
                <a:ext uri="{FF2B5EF4-FFF2-40B4-BE49-F238E27FC236}">
                  <a16:creationId xmlns:a16="http://schemas.microsoft.com/office/drawing/2014/main" id="{0C4DB55A-4C6A-7145-444F-1A88548BED6B}"/>
                </a:ext>
              </a:extLst>
            </p:cNvPr>
            <p:cNvSpPr/>
            <p:nvPr/>
          </p:nvSpPr>
          <p:spPr>
            <a:xfrm>
              <a:off x="9568480" y="8090180"/>
              <a:ext cx="1110356" cy="137160"/>
            </a:xfrm>
            <a:prstGeom prst="roundRect">
              <a:avLst/>
            </a:prstGeom>
            <a:solidFill>
              <a:srgbClr val="00B050"/>
            </a:solidFill>
            <a:ln/>
          </p:spPr>
          <p:txBody>
            <a:bodyPr/>
            <a:lstStyle/>
            <a:p>
              <a:endParaRPr lang="en-US">
                <a:latin typeface="Abadi MT Condensed Light" panose="020B0306030101010103" pitchFamily="34" charset="77"/>
              </a:endParaRPr>
            </a:p>
          </p:txBody>
        </p:sp>
        <p:sp>
          <p:nvSpPr>
            <p:cNvPr id="71" name="Text 40">
              <a:extLst>
                <a:ext uri="{FF2B5EF4-FFF2-40B4-BE49-F238E27FC236}">
                  <a16:creationId xmlns:a16="http://schemas.microsoft.com/office/drawing/2014/main" id="{D9E1F209-C003-37E6-6516-1D2B3244BCFA}"/>
                </a:ext>
              </a:extLst>
            </p:cNvPr>
            <p:cNvSpPr/>
            <p:nvPr/>
          </p:nvSpPr>
          <p:spPr>
            <a:xfrm>
              <a:off x="8509664" y="8330922"/>
              <a:ext cx="1135016" cy="38081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rgbClr val="20160F"/>
                  </a:solidFill>
                  <a:latin typeface="Abadi MT Condensed Light" panose="020B0306030101010103" pitchFamily="34" charset="77"/>
                  <a:ea typeface="Courier New" pitchFamily="34" charset="-122"/>
                  <a:cs typeface="Courier New" pitchFamily="34" charset="-120"/>
                </a:rPr>
                <a:t>P19</a:t>
              </a:r>
              <a:endParaRPr lang="en-US" sz="1800" dirty="0">
                <a:latin typeface="Abadi MT Condensed Light" panose="020B0306030101010103" pitchFamily="34" charset="77"/>
              </a:endParaRPr>
            </a:p>
          </p:txBody>
        </p:sp>
        <p:sp>
          <p:nvSpPr>
            <p:cNvPr id="72" name="Shape 41">
              <a:extLst>
                <a:ext uri="{FF2B5EF4-FFF2-40B4-BE49-F238E27FC236}">
                  <a16:creationId xmlns:a16="http://schemas.microsoft.com/office/drawing/2014/main" id="{DD68ABFE-DDE8-C9B6-BD35-302883930B48}"/>
                </a:ext>
              </a:extLst>
            </p:cNvPr>
            <p:cNvSpPr/>
            <p:nvPr/>
          </p:nvSpPr>
          <p:spPr>
            <a:xfrm>
              <a:off x="9568480" y="8404618"/>
              <a:ext cx="2741496" cy="137160"/>
            </a:xfrm>
            <a:prstGeom prst="roundRect">
              <a:avLst/>
            </a:prstGeom>
            <a:solidFill>
              <a:srgbClr val="00B050"/>
            </a:solidFill>
            <a:ln/>
          </p:spPr>
          <p:txBody>
            <a:bodyPr/>
            <a:lstStyle/>
            <a:p>
              <a:endParaRPr lang="en-US">
                <a:latin typeface="Abadi MT Condensed Light" panose="020B0306030101010103" pitchFamily="34" charset="77"/>
              </a:endParaRPr>
            </a:p>
          </p:txBody>
        </p:sp>
        <p:sp>
          <p:nvSpPr>
            <p:cNvPr id="73" name="Shape 42">
              <a:extLst>
                <a:ext uri="{FF2B5EF4-FFF2-40B4-BE49-F238E27FC236}">
                  <a16:creationId xmlns:a16="http://schemas.microsoft.com/office/drawing/2014/main" id="{9F640471-A6B5-40AD-1690-E224382D1567}"/>
                </a:ext>
              </a:extLst>
            </p:cNvPr>
            <p:cNvSpPr/>
            <p:nvPr/>
          </p:nvSpPr>
          <p:spPr>
            <a:xfrm>
              <a:off x="9057520" y="9274328"/>
              <a:ext cx="19652" cy="137564"/>
            </a:xfrm>
            <a:prstGeom prst="rect">
              <a:avLst/>
            </a:prstGeom>
            <a:solidFill>
              <a:srgbClr val="CEC6BC"/>
            </a:solidFill>
            <a:ln/>
          </p:spPr>
          <p:txBody>
            <a:bodyPr/>
            <a:lstStyle/>
            <a:p>
              <a:endParaRPr lang="en-US">
                <a:latin typeface="Abadi MT Condensed Light" panose="020B0306030101010103" pitchFamily="34" charset="77"/>
              </a:endParaRPr>
            </a:p>
          </p:txBody>
        </p:sp>
      </p:grpSp>
      <p:sp>
        <p:nvSpPr>
          <p:cNvPr id="77" name="Text 5">
            <a:extLst>
              <a:ext uri="{FF2B5EF4-FFF2-40B4-BE49-F238E27FC236}">
                <a16:creationId xmlns:a16="http://schemas.microsoft.com/office/drawing/2014/main" id="{3BC2862B-5EFC-16AD-F7D8-5B0AABD33AE5}"/>
              </a:ext>
            </a:extLst>
          </p:cNvPr>
          <p:cNvSpPr/>
          <p:nvPr/>
        </p:nvSpPr>
        <p:spPr>
          <a:xfrm>
            <a:off x="5596149" y="4585459"/>
            <a:ext cx="403850" cy="295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0160F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P5</a:t>
            </a:r>
            <a:endParaRPr lang="en-US" sz="1800" dirty="0">
              <a:latin typeface="Abadi MT Condensed Light" panose="020B0306030101010103" pitchFamily="34" charset="77"/>
            </a:endParaRPr>
          </a:p>
        </p:txBody>
      </p:sp>
      <p:sp>
        <p:nvSpPr>
          <p:cNvPr id="78" name="Shape 6">
            <a:extLst>
              <a:ext uri="{FF2B5EF4-FFF2-40B4-BE49-F238E27FC236}">
                <a16:creationId xmlns:a16="http://schemas.microsoft.com/office/drawing/2014/main" id="{212EE7A6-71E1-E1B9-0C00-F2A136D2370E}"/>
              </a:ext>
            </a:extLst>
          </p:cNvPr>
          <p:cNvSpPr/>
          <p:nvPr/>
        </p:nvSpPr>
        <p:spPr>
          <a:xfrm>
            <a:off x="6002622" y="4642736"/>
            <a:ext cx="1813085" cy="122192"/>
          </a:xfrm>
          <a:prstGeom prst="rect">
            <a:avLst/>
          </a:prstGeom>
          <a:solidFill>
            <a:srgbClr val="A8462E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80" name="Text 8">
            <a:extLst>
              <a:ext uri="{FF2B5EF4-FFF2-40B4-BE49-F238E27FC236}">
                <a16:creationId xmlns:a16="http://schemas.microsoft.com/office/drawing/2014/main" id="{23B69E33-8DA0-4C72-EC8C-E781CC7990ED}"/>
              </a:ext>
            </a:extLst>
          </p:cNvPr>
          <p:cNvSpPr/>
          <p:nvPr/>
        </p:nvSpPr>
        <p:spPr>
          <a:xfrm>
            <a:off x="5596149" y="4829842"/>
            <a:ext cx="403850" cy="295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0160F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P18</a:t>
            </a:r>
            <a:endParaRPr lang="en-US" sz="1800" dirty="0">
              <a:latin typeface="Abadi MT Condensed Light" panose="020B0306030101010103" pitchFamily="34" charset="77"/>
            </a:endParaRPr>
          </a:p>
        </p:txBody>
      </p:sp>
      <p:sp>
        <p:nvSpPr>
          <p:cNvPr id="81" name="Shape 9">
            <a:extLst>
              <a:ext uri="{FF2B5EF4-FFF2-40B4-BE49-F238E27FC236}">
                <a16:creationId xmlns:a16="http://schemas.microsoft.com/office/drawing/2014/main" id="{F28FA73B-0EE3-2F4B-2D91-C69B99E414B1}"/>
              </a:ext>
            </a:extLst>
          </p:cNvPr>
          <p:cNvSpPr/>
          <p:nvPr/>
        </p:nvSpPr>
        <p:spPr>
          <a:xfrm>
            <a:off x="6002622" y="4887120"/>
            <a:ext cx="3519202" cy="122192"/>
          </a:xfrm>
          <a:prstGeom prst="rect">
            <a:avLst/>
          </a:prstGeom>
          <a:solidFill>
            <a:srgbClr val="A8462E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83" name="Text 11">
            <a:extLst>
              <a:ext uri="{FF2B5EF4-FFF2-40B4-BE49-F238E27FC236}">
                <a16:creationId xmlns:a16="http://schemas.microsoft.com/office/drawing/2014/main" id="{3E76E214-88B1-EDF1-E04D-27B838FFFC90}"/>
              </a:ext>
            </a:extLst>
          </p:cNvPr>
          <p:cNvSpPr/>
          <p:nvPr/>
        </p:nvSpPr>
        <p:spPr>
          <a:xfrm>
            <a:off x="5596149" y="5074226"/>
            <a:ext cx="403850" cy="295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0160F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P11</a:t>
            </a:r>
            <a:endParaRPr lang="en-US" sz="1800" dirty="0">
              <a:latin typeface="Abadi MT Condensed Light" panose="020B0306030101010103" pitchFamily="34" charset="77"/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3D4DC096-F99F-3BD7-17EC-BC4ACCA1AF24}"/>
              </a:ext>
            </a:extLst>
          </p:cNvPr>
          <p:cNvSpPr/>
          <p:nvPr/>
        </p:nvSpPr>
        <p:spPr>
          <a:xfrm>
            <a:off x="6002622" y="5131503"/>
            <a:ext cx="4032641" cy="122192"/>
          </a:xfrm>
          <a:prstGeom prst="rect">
            <a:avLst/>
          </a:prstGeom>
          <a:solidFill>
            <a:srgbClr val="A8462E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86" name="Text 14">
            <a:extLst>
              <a:ext uri="{FF2B5EF4-FFF2-40B4-BE49-F238E27FC236}">
                <a16:creationId xmlns:a16="http://schemas.microsoft.com/office/drawing/2014/main" id="{0F22FD5D-A552-DAFC-9E0E-4FCD7744E1A9}"/>
              </a:ext>
            </a:extLst>
          </p:cNvPr>
          <p:cNvSpPr/>
          <p:nvPr/>
        </p:nvSpPr>
        <p:spPr>
          <a:xfrm>
            <a:off x="5596149" y="5318610"/>
            <a:ext cx="403850" cy="295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0160F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P7</a:t>
            </a:r>
            <a:endParaRPr lang="en-US" sz="1800" dirty="0">
              <a:latin typeface="Abadi MT Condensed Light" panose="020B0306030101010103" pitchFamily="34" charset="77"/>
            </a:endParaRPr>
          </a:p>
        </p:txBody>
      </p:sp>
      <p:sp>
        <p:nvSpPr>
          <p:cNvPr id="87" name="Shape 15">
            <a:extLst>
              <a:ext uri="{FF2B5EF4-FFF2-40B4-BE49-F238E27FC236}">
                <a16:creationId xmlns:a16="http://schemas.microsoft.com/office/drawing/2014/main" id="{C0246CBF-58E0-63FF-696F-3204BD22A5CF}"/>
              </a:ext>
            </a:extLst>
          </p:cNvPr>
          <p:cNvSpPr/>
          <p:nvPr/>
        </p:nvSpPr>
        <p:spPr>
          <a:xfrm>
            <a:off x="6002622" y="5375888"/>
            <a:ext cx="4305406" cy="122192"/>
          </a:xfrm>
          <a:prstGeom prst="rect">
            <a:avLst/>
          </a:prstGeom>
          <a:solidFill>
            <a:srgbClr val="A8462E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89" name="Text 17">
            <a:extLst>
              <a:ext uri="{FF2B5EF4-FFF2-40B4-BE49-F238E27FC236}">
                <a16:creationId xmlns:a16="http://schemas.microsoft.com/office/drawing/2014/main" id="{693F0ACF-7466-2A94-2837-5E68F7139DF1}"/>
              </a:ext>
            </a:extLst>
          </p:cNvPr>
          <p:cNvSpPr/>
          <p:nvPr/>
        </p:nvSpPr>
        <p:spPr>
          <a:xfrm>
            <a:off x="5596149" y="5562994"/>
            <a:ext cx="403850" cy="295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0160F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P4</a:t>
            </a:r>
            <a:endParaRPr lang="en-US" sz="1800" dirty="0">
              <a:latin typeface="Abadi MT Condensed Light" panose="020B0306030101010103" pitchFamily="34" charset="77"/>
            </a:endParaRPr>
          </a:p>
        </p:txBody>
      </p:sp>
      <p:sp>
        <p:nvSpPr>
          <p:cNvPr id="90" name="Shape 18">
            <a:extLst>
              <a:ext uri="{FF2B5EF4-FFF2-40B4-BE49-F238E27FC236}">
                <a16:creationId xmlns:a16="http://schemas.microsoft.com/office/drawing/2014/main" id="{24482BA8-1CCB-E1B4-F0D6-D461A1031AD1}"/>
              </a:ext>
            </a:extLst>
          </p:cNvPr>
          <p:cNvSpPr/>
          <p:nvPr/>
        </p:nvSpPr>
        <p:spPr>
          <a:xfrm>
            <a:off x="6002622" y="5620271"/>
            <a:ext cx="4743970" cy="122192"/>
          </a:xfrm>
          <a:prstGeom prst="rect">
            <a:avLst/>
          </a:prstGeom>
          <a:solidFill>
            <a:srgbClr val="A8462E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92" name="Text 20">
            <a:extLst>
              <a:ext uri="{FF2B5EF4-FFF2-40B4-BE49-F238E27FC236}">
                <a16:creationId xmlns:a16="http://schemas.microsoft.com/office/drawing/2014/main" id="{8250D96F-5DE5-EB61-9D73-759FDB04E28E}"/>
              </a:ext>
            </a:extLst>
          </p:cNvPr>
          <p:cNvSpPr/>
          <p:nvPr/>
        </p:nvSpPr>
        <p:spPr>
          <a:xfrm>
            <a:off x="5596149" y="5807379"/>
            <a:ext cx="403850" cy="295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0160F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P9</a:t>
            </a:r>
            <a:endParaRPr lang="en-US" sz="1800" dirty="0">
              <a:latin typeface="Abadi MT Condensed Light" panose="020B0306030101010103" pitchFamily="34" charset="77"/>
            </a:endParaRPr>
          </a:p>
        </p:txBody>
      </p:sp>
      <p:sp>
        <p:nvSpPr>
          <p:cNvPr id="93" name="Shape 21">
            <a:extLst>
              <a:ext uri="{FF2B5EF4-FFF2-40B4-BE49-F238E27FC236}">
                <a16:creationId xmlns:a16="http://schemas.microsoft.com/office/drawing/2014/main" id="{79133160-8C91-DD29-AD93-2620F0E6FC8B}"/>
              </a:ext>
            </a:extLst>
          </p:cNvPr>
          <p:cNvSpPr/>
          <p:nvPr/>
        </p:nvSpPr>
        <p:spPr>
          <a:xfrm>
            <a:off x="6002622" y="5864656"/>
            <a:ext cx="5048825" cy="122192"/>
          </a:xfrm>
          <a:prstGeom prst="rect">
            <a:avLst/>
          </a:prstGeom>
          <a:solidFill>
            <a:srgbClr val="A8462E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95" name="Text 23">
            <a:extLst>
              <a:ext uri="{FF2B5EF4-FFF2-40B4-BE49-F238E27FC236}">
                <a16:creationId xmlns:a16="http://schemas.microsoft.com/office/drawing/2014/main" id="{971B9077-E937-A793-DFA9-82F01547C138}"/>
              </a:ext>
            </a:extLst>
          </p:cNvPr>
          <p:cNvSpPr/>
          <p:nvPr/>
        </p:nvSpPr>
        <p:spPr>
          <a:xfrm>
            <a:off x="5596149" y="6051762"/>
            <a:ext cx="403850" cy="295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0160F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P19</a:t>
            </a:r>
            <a:endParaRPr lang="en-US" sz="1800" dirty="0">
              <a:latin typeface="Abadi MT Condensed Light" panose="020B0306030101010103" pitchFamily="34" charset="77"/>
            </a:endParaRPr>
          </a:p>
        </p:txBody>
      </p:sp>
      <p:sp>
        <p:nvSpPr>
          <p:cNvPr id="96" name="Shape 24">
            <a:extLst>
              <a:ext uri="{FF2B5EF4-FFF2-40B4-BE49-F238E27FC236}">
                <a16:creationId xmlns:a16="http://schemas.microsoft.com/office/drawing/2014/main" id="{CC819768-6EBD-A9DA-2952-FB46A1BB513C}"/>
              </a:ext>
            </a:extLst>
          </p:cNvPr>
          <p:cNvSpPr/>
          <p:nvPr/>
        </p:nvSpPr>
        <p:spPr>
          <a:xfrm>
            <a:off x="6002622" y="6109039"/>
            <a:ext cx="5118353" cy="122192"/>
          </a:xfrm>
          <a:prstGeom prst="rect">
            <a:avLst/>
          </a:prstGeom>
          <a:solidFill>
            <a:srgbClr val="A8462E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98" name="Text 26">
            <a:extLst>
              <a:ext uri="{FF2B5EF4-FFF2-40B4-BE49-F238E27FC236}">
                <a16:creationId xmlns:a16="http://schemas.microsoft.com/office/drawing/2014/main" id="{B65C8650-8B43-E70B-C4F5-5098C1639F02}"/>
              </a:ext>
            </a:extLst>
          </p:cNvPr>
          <p:cNvSpPr/>
          <p:nvPr/>
        </p:nvSpPr>
        <p:spPr>
          <a:xfrm>
            <a:off x="5596149" y="6296145"/>
            <a:ext cx="403850" cy="295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0160F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P6</a:t>
            </a:r>
            <a:endParaRPr lang="en-US" sz="1800" dirty="0">
              <a:latin typeface="Abadi MT Condensed Light" panose="020B0306030101010103" pitchFamily="34" charset="77"/>
            </a:endParaRPr>
          </a:p>
        </p:txBody>
      </p:sp>
      <p:sp>
        <p:nvSpPr>
          <p:cNvPr id="99" name="Shape 27">
            <a:extLst>
              <a:ext uri="{FF2B5EF4-FFF2-40B4-BE49-F238E27FC236}">
                <a16:creationId xmlns:a16="http://schemas.microsoft.com/office/drawing/2014/main" id="{B55772DD-2652-8E93-26FA-D59EFAA0F674}"/>
              </a:ext>
            </a:extLst>
          </p:cNvPr>
          <p:cNvSpPr/>
          <p:nvPr/>
        </p:nvSpPr>
        <p:spPr>
          <a:xfrm>
            <a:off x="6002622" y="6353424"/>
            <a:ext cx="5241364" cy="122192"/>
          </a:xfrm>
          <a:prstGeom prst="rect">
            <a:avLst/>
          </a:prstGeom>
          <a:solidFill>
            <a:srgbClr val="A8462E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101" name="Text 29">
            <a:extLst>
              <a:ext uri="{FF2B5EF4-FFF2-40B4-BE49-F238E27FC236}">
                <a16:creationId xmlns:a16="http://schemas.microsoft.com/office/drawing/2014/main" id="{C5528DD0-1B86-B741-34D0-A008DD8E9639}"/>
              </a:ext>
            </a:extLst>
          </p:cNvPr>
          <p:cNvSpPr/>
          <p:nvPr/>
        </p:nvSpPr>
        <p:spPr>
          <a:xfrm>
            <a:off x="5596149" y="6540530"/>
            <a:ext cx="403850" cy="295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0160F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P3</a:t>
            </a:r>
            <a:endParaRPr lang="en-US" sz="1800" dirty="0">
              <a:latin typeface="Abadi MT Condensed Light" panose="020B0306030101010103" pitchFamily="34" charset="77"/>
            </a:endParaRPr>
          </a:p>
        </p:txBody>
      </p:sp>
      <p:sp>
        <p:nvSpPr>
          <p:cNvPr id="102" name="Shape 30">
            <a:extLst>
              <a:ext uri="{FF2B5EF4-FFF2-40B4-BE49-F238E27FC236}">
                <a16:creationId xmlns:a16="http://schemas.microsoft.com/office/drawing/2014/main" id="{8A21E454-861B-08D9-7A05-0E016E5DCCBD}"/>
              </a:ext>
            </a:extLst>
          </p:cNvPr>
          <p:cNvSpPr/>
          <p:nvPr/>
        </p:nvSpPr>
        <p:spPr>
          <a:xfrm>
            <a:off x="6002622" y="6597807"/>
            <a:ext cx="5337635" cy="122192"/>
          </a:xfrm>
          <a:prstGeom prst="rect">
            <a:avLst/>
          </a:prstGeom>
          <a:solidFill>
            <a:srgbClr val="A8462E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104" name="Text 32">
            <a:extLst>
              <a:ext uri="{FF2B5EF4-FFF2-40B4-BE49-F238E27FC236}">
                <a16:creationId xmlns:a16="http://schemas.microsoft.com/office/drawing/2014/main" id="{24CA2CF8-C47F-699F-9082-05949871B4C0}"/>
              </a:ext>
            </a:extLst>
          </p:cNvPr>
          <p:cNvSpPr/>
          <p:nvPr/>
        </p:nvSpPr>
        <p:spPr>
          <a:xfrm>
            <a:off x="5596149" y="6784915"/>
            <a:ext cx="403850" cy="295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0160F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P14</a:t>
            </a:r>
            <a:endParaRPr lang="en-US" sz="1800" dirty="0">
              <a:latin typeface="Abadi MT Condensed Light" panose="020B0306030101010103" pitchFamily="34" charset="77"/>
            </a:endParaRPr>
          </a:p>
        </p:txBody>
      </p:sp>
      <p:sp>
        <p:nvSpPr>
          <p:cNvPr id="105" name="Shape 33">
            <a:extLst>
              <a:ext uri="{FF2B5EF4-FFF2-40B4-BE49-F238E27FC236}">
                <a16:creationId xmlns:a16="http://schemas.microsoft.com/office/drawing/2014/main" id="{2935A589-DE25-4E1C-4ADF-BEC80D276F5B}"/>
              </a:ext>
            </a:extLst>
          </p:cNvPr>
          <p:cNvSpPr/>
          <p:nvPr/>
        </p:nvSpPr>
        <p:spPr>
          <a:xfrm>
            <a:off x="6002622" y="6842191"/>
            <a:ext cx="5348331" cy="122192"/>
          </a:xfrm>
          <a:prstGeom prst="rect">
            <a:avLst/>
          </a:prstGeom>
          <a:solidFill>
            <a:srgbClr val="A8462E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107" name="Text 35">
            <a:extLst>
              <a:ext uri="{FF2B5EF4-FFF2-40B4-BE49-F238E27FC236}">
                <a16:creationId xmlns:a16="http://schemas.microsoft.com/office/drawing/2014/main" id="{932763AB-28F9-AD66-0412-6BE309D1D167}"/>
              </a:ext>
            </a:extLst>
          </p:cNvPr>
          <p:cNvSpPr/>
          <p:nvPr/>
        </p:nvSpPr>
        <p:spPr>
          <a:xfrm>
            <a:off x="5596149" y="7029298"/>
            <a:ext cx="403850" cy="295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0160F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P10</a:t>
            </a:r>
            <a:endParaRPr lang="en-US" sz="1800" dirty="0">
              <a:latin typeface="Abadi MT Condensed Light" panose="020B0306030101010103" pitchFamily="34" charset="77"/>
            </a:endParaRPr>
          </a:p>
        </p:txBody>
      </p:sp>
      <p:sp>
        <p:nvSpPr>
          <p:cNvPr id="108" name="Shape 36">
            <a:extLst>
              <a:ext uri="{FF2B5EF4-FFF2-40B4-BE49-F238E27FC236}">
                <a16:creationId xmlns:a16="http://schemas.microsoft.com/office/drawing/2014/main" id="{B738015C-F4D4-71DC-6940-59CEBFBBFD29}"/>
              </a:ext>
            </a:extLst>
          </p:cNvPr>
          <p:cNvSpPr/>
          <p:nvPr/>
        </p:nvSpPr>
        <p:spPr>
          <a:xfrm>
            <a:off x="6002622" y="7086576"/>
            <a:ext cx="5401815" cy="122193"/>
          </a:xfrm>
          <a:prstGeom prst="rect">
            <a:avLst/>
          </a:prstGeom>
          <a:solidFill>
            <a:srgbClr val="A8462E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110" name="Text 38">
            <a:extLst>
              <a:ext uri="{FF2B5EF4-FFF2-40B4-BE49-F238E27FC236}">
                <a16:creationId xmlns:a16="http://schemas.microsoft.com/office/drawing/2014/main" id="{C65597B3-2E6D-7A10-E893-5FFC64C221A2}"/>
              </a:ext>
            </a:extLst>
          </p:cNvPr>
          <p:cNvSpPr/>
          <p:nvPr/>
        </p:nvSpPr>
        <p:spPr>
          <a:xfrm>
            <a:off x="5596149" y="7273681"/>
            <a:ext cx="403850" cy="295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0160F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P13</a:t>
            </a:r>
            <a:endParaRPr lang="en-US" sz="1800" dirty="0">
              <a:latin typeface="Abadi MT Condensed Light" panose="020B0306030101010103" pitchFamily="34" charset="77"/>
            </a:endParaRPr>
          </a:p>
        </p:txBody>
      </p:sp>
      <p:sp>
        <p:nvSpPr>
          <p:cNvPr id="111" name="Shape 39">
            <a:extLst>
              <a:ext uri="{FF2B5EF4-FFF2-40B4-BE49-F238E27FC236}">
                <a16:creationId xmlns:a16="http://schemas.microsoft.com/office/drawing/2014/main" id="{A031BC58-F8A6-9971-CFBC-64B0EA6A7A6A}"/>
              </a:ext>
            </a:extLst>
          </p:cNvPr>
          <p:cNvSpPr/>
          <p:nvPr/>
        </p:nvSpPr>
        <p:spPr>
          <a:xfrm>
            <a:off x="6002622" y="7330960"/>
            <a:ext cx="5562264" cy="122192"/>
          </a:xfrm>
          <a:prstGeom prst="rect">
            <a:avLst/>
          </a:prstGeom>
          <a:solidFill>
            <a:srgbClr val="A8462E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113" name="Text 41">
            <a:extLst>
              <a:ext uri="{FF2B5EF4-FFF2-40B4-BE49-F238E27FC236}">
                <a16:creationId xmlns:a16="http://schemas.microsoft.com/office/drawing/2014/main" id="{E1374764-BBB2-DAF3-1EFA-34C3ADFBC298}"/>
              </a:ext>
            </a:extLst>
          </p:cNvPr>
          <p:cNvSpPr/>
          <p:nvPr/>
        </p:nvSpPr>
        <p:spPr>
          <a:xfrm>
            <a:off x="5596149" y="7518066"/>
            <a:ext cx="403850" cy="295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0160F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P15</a:t>
            </a:r>
            <a:endParaRPr lang="en-US" sz="1800" dirty="0">
              <a:latin typeface="Abadi MT Condensed Light" panose="020B0306030101010103" pitchFamily="34" charset="77"/>
            </a:endParaRPr>
          </a:p>
        </p:txBody>
      </p:sp>
      <p:sp>
        <p:nvSpPr>
          <p:cNvPr id="114" name="Shape 42">
            <a:extLst>
              <a:ext uri="{FF2B5EF4-FFF2-40B4-BE49-F238E27FC236}">
                <a16:creationId xmlns:a16="http://schemas.microsoft.com/office/drawing/2014/main" id="{C68E7C0B-0ED3-21C6-44C2-8B9A4CF74C04}"/>
              </a:ext>
            </a:extLst>
          </p:cNvPr>
          <p:cNvSpPr/>
          <p:nvPr/>
        </p:nvSpPr>
        <p:spPr>
          <a:xfrm>
            <a:off x="6002622" y="7575344"/>
            <a:ext cx="5653186" cy="122192"/>
          </a:xfrm>
          <a:prstGeom prst="rect">
            <a:avLst/>
          </a:prstGeom>
          <a:solidFill>
            <a:srgbClr val="A8462E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116" name="Text 44">
            <a:extLst>
              <a:ext uri="{FF2B5EF4-FFF2-40B4-BE49-F238E27FC236}">
                <a16:creationId xmlns:a16="http://schemas.microsoft.com/office/drawing/2014/main" id="{659D87C8-9F56-0320-3092-BBC50CC2A8A0}"/>
              </a:ext>
            </a:extLst>
          </p:cNvPr>
          <p:cNvSpPr/>
          <p:nvPr/>
        </p:nvSpPr>
        <p:spPr>
          <a:xfrm>
            <a:off x="5596149" y="7762450"/>
            <a:ext cx="403850" cy="295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0160F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P8</a:t>
            </a:r>
            <a:endParaRPr lang="en-US" sz="1800" dirty="0">
              <a:latin typeface="Abadi MT Condensed Light" panose="020B0306030101010103" pitchFamily="34" charset="77"/>
            </a:endParaRPr>
          </a:p>
        </p:txBody>
      </p:sp>
      <p:sp>
        <p:nvSpPr>
          <p:cNvPr id="117" name="Shape 45">
            <a:extLst>
              <a:ext uri="{FF2B5EF4-FFF2-40B4-BE49-F238E27FC236}">
                <a16:creationId xmlns:a16="http://schemas.microsoft.com/office/drawing/2014/main" id="{3C82C02D-DC46-AB47-20D9-C714A41CA949}"/>
              </a:ext>
            </a:extLst>
          </p:cNvPr>
          <p:cNvSpPr/>
          <p:nvPr/>
        </p:nvSpPr>
        <p:spPr>
          <a:xfrm>
            <a:off x="6002622" y="7819727"/>
            <a:ext cx="5904558" cy="122192"/>
          </a:xfrm>
          <a:prstGeom prst="rect">
            <a:avLst/>
          </a:prstGeom>
          <a:solidFill>
            <a:srgbClr val="A8462E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119" name="Text 47">
            <a:extLst>
              <a:ext uri="{FF2B5EF4-FFF2-40B4-BE49-F238E27FC236}">
                <a16:creationId xmlns:a16="http://schemas.microsoft.com/office/drawing/2014/main" id="{488C4034-4F1D-6018-DF7B-C884CCCECFD4}"/>
              </a:ext>
            </a:extLst>
          </p:cNvPr>
          <p:cNvSpPr/>
          <p:nvPr/>
        </p:nvSpPr>
        <p:spPr>
          <a:xfrm>
            <a:off x="5596149" y="8006834"/>
            <a:ext cx="403850" cy="295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0160F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P16</a:t>
            </a:r>
            <a:endParaRPr lang="en-US" sz="1800" dirty="0">
              <a:latin typeface="Abadi MT Condensed Light" panose="020B0306030101010103" pitchFamily="34" charset="77"/>
            </a:endParaRPr>
          </a:p>
        </p:txBody>
      </p:sp>
      <p:sp>
        <p:nvSpPr>
          <p:cNvPr id="120" name="Shape 48">
            <a:extLst>
              <a:ext uri="{FF2B5EF4-FFF2-40B4-BE49-F238E27FC236}">
                <a16:creationId xmlns:a16="http://schemas.microsoft.com/office/drawing/2014/main" id="{8EBFA5D1-A053-0AED-EC56-30CA98FD665C}"/>
              </a:ext>
            </a:extLst>
          </p:cNvPr>
          <p:cNvSpPr/>
          <p:nvPr/>
        </p:nvSpPr>
        <p:spPr>
          <a:xfrm>
            <a:off x="6002622" y="8064112"/>
            <a:ext cx="5958041" cy="122192"/>
          </a:xfrm>
          <a:prstGeom prst="rect">
            <a:avLst/>
          </a:prstGeom>
          <a:solidFill>
            <a:srgbClr val="A8462E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122" name="Text 50">
            <a:extLst>
              <a:ext uri="{FF2B5EF4-FFF2-40B4-BE49-F238E27FC236}">
                <a16:creationId xmlns:a16="http://schemas.microsoft.com/office/drawing/2014/main" id="{FCFCFCFE-83FB-91BF-7BF4-DBB4C86A8F0E}"/>
              </a:ext>
            </a:extLst>
          </p:cNvPr>
          <p:cNvSpPr/>
          <p:nvPr/>
        </p:nvSpPr>
        <p:spPr>
          <a:xfrm>
            <a:off x="5596149" y="8251218"/>
            <a:ext cx="403850" cy="295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0160F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P12</a:t>
            </a:r>
            <a:endParaRPr lang="en-US" sz="1800" dirty="0">
              <a:latin typeface="Abadi MT Condensed Light" panose="020B0306030101010103" pitchFamily="34" charset="77"/>
            </a:endParaRPr>
          </a:p>
        </p:txBody>
      </p:sp>
      <p:sp>
        <p:nvSpPr>
          <p:cNvPr id="123" name="Shape 51">
            <a:extLst>
              <a:ext uri="{FF2B5EF4-FFF2-40B4-BE49-F238E27FC236}">
                <a16:creationId xmlns:a16="http://schemas.microsoft.com/office/drawing/2014/main" id="{A6CD53A7-089F-48C5-6922-ECFB775774C1}"/>
              </a:ext>
            </a:extLst>
          </p:cNvPr>
          <p:cNvSpPr/>
          <p:nvPr/>
        </p:nvSpPr>
        <p:spPr>
          <a:xfrm>
            <a:off x="6002622" y="8308495"/>
            <a:ext cx="6102446" cy="122192"/>
          </a:xfrm>
          <a:prstGeom prst="rect">
            <a:avLst/>
          </a:prstGeom>
          <a:solidFill>
            <a:srgbClr val="A8462E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125" name="Text 53">
            <a:extLst>
              <a:ext uri="{FF2B5EF4-FFF2-40B4-BE49-F238E27FC236}">
                <a16:creationId xmlns:a16="http://schemas.microsoft.com/office/drawing/2014/main" id="{2916CBC8-A391-D7E5-3326-196F191224EF}"/>
              </a:ext>
            </a:extLst>
          </p:cNvPr>
          <p:cNvSpPr/>
          <p:nvPr/>
        </p:nvSpPr>
        <p:spPr>
          <a:xfrm>
            <a:off x="5596149" y="8495601"/>
            <a:ext cx="403850" cy="295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0160F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P1</a:t>
            </a:r>
            <a:endParaRPr lang="en-US" sz="1800" dirty="0">
              <a:latin typeface="Abadi MT Condensed Light" panose="020B0306030101010103" pitchFamily="34" charset="77"/>
            </a:endParaRPr>
          </a:p>
        </p:txBody>
      </p:sp>
      <p:sp>
        <p:nvSpPr>
          <p:cNvPr id="126" name="Shape 54">
            <a:extLst>
              <a:ext uri="{FF2B5EF4-FFF2-40B4-BE49-F238E27FC236}">
                <a16:creationId xmlns:a16="http://schemas.microsoft.com/office/drawing/2014/main" id="{408F44B0-6887-387F-358D-3EBA0C8C9054}"/>
              </a:ext>
            </a:extLst>
          </p:cNvPr>
          <p:cNvSpPr/>
          <p:nvPr/>
        </p:nvSpPr>
        <p:spPr>
          <a:xfrm>
            <a:off x="6002622" y="8552880"/>
            <a:ext cx="6145233" cy="122192"/>
          </a:xfrm>
          <a:prstGeom prst="rect">
            <a:avLst/>
          </a:prstGeom>
          <a:solidFill>
            <a:srgbClr val="A8462E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128" name="Text 56">
            <a:extLst>
              <a:ext uri="{FF2B5EF4-FFF2-40B4-BE49-F238E27FC236}">
                <a16:creationId xmlns:a16="http://schemas.microsoft.com/office/drawing/2014/main" id="{2A4063CA-2276-230A-55DA-EFB3EBA83001}"/>
              </a:ext>
            </a:extLst>
          </p:cNvPr>
          <p:cNvSpPr/>
          <p:nvPr/>
        </p:nvSpPr>
        <p:spPr>
          <a:xfrm>
            <a:off x="5596149" y="8739986"/>
            <a:ext cx="403850" cy="295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0160F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P2</a:t>
            </a:r>
            <a:endParaRPr lang="en-US" sz="1800" dirty="0">
              <a:latin typeface="Abadi MT Condensed Light" panose="020B0306030101010103" pitchFamily="34" charset="77"/>
            </a:endParaRPr>
          </a:p>
        </p:txBody>
      </p:sp>
      <p:sp>
        <p:nvSpPr>
          <p:cNvPr id="129" name="Shape 57">
            <a:extLst>
              <a:ext uri="{FF2B5EF4-FFF2-40B4-BE49-F238E27FC236}">
                <a16:creationId xmlns:a16="http://schemas.microsoft.com/office/drawing/2014/main" id="{1928FE9A-96A4-7ECF-130E-ABDAAA2B8304}"/>
              </a:ext>
            </a:extLst>
          </p:cNvPr>
          <p:cNvSpPr/>
          <p:nvPr/>
        </p:nvSpPr>
        <p:spPr>
          <a:xfrm>
            <a:off x="6002622" y="8797263"/>
            <a:ext cx="6300335" cy="122192"/>
          </a:xfrm>
          <a:prstGeom prst="rect">
            <a:avLst/>
          </a:prstGeom>
          <a:solidFill>
            <a:srgbClr val="A8462E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131" name="Text 59">
            <a:extLst>
              <a:ext uri="{FF2B5EF4-FFF2-40B4-BE49-F238E27FC236}">
                <a16:creationId xmlns:a16="http://schemas.microsoft.com/office/drawing/2014/main" id="{6D9E84B2-548D-C913-C310-C354C950962F}"/>
              </a:ext>
            </a:extLst>
          </p:cNvPr>
          <p:cNvSpPr/>
          <p:nvPr/>
        </p:nvSpPr>
        <p:spPr>
          <a:xfrm>
            <a:off x="5596149" y="8984371"/>
            <a:ext cx="403850" cy="295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0160F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P20</a:t>
            </a:r>
            <a:endParaRPr lang="en-US" sz="1800" dirty="0">
              <a:latin typeface="Abadi MT Condensed Light" panose="020B0306030101010103" pitchFamily="34" charset="77"/>
            </a:endParaRPr>
          </a:p>
        </p:txBody>
      </p:sp>
      <p:sp>
        <p:nvSpPr>
          <p:cNvPr id="132" name="Shape 60">
            <a:extLst>
              <a:ext uri="{FF2B5EF4-FFF2-40B4-BE49-F238E27FC236}">
                <a16:creationId xmlns:a16="http://schemas.microsoft.com/office/drawing/2014/main" id="{B4E4F2BE-4BB2-51DE-12CE-934C58DC5578}"/>
              </a:ext>
            </a:extLst>
          </p:cNvPr>
          <p:cNvSpPr/>
          <p:nvPr/>
        </p:nvSpPr>
        <p:spPr>
          <a:xfrm>
            <a:off x="6002622" y="9041647"/>
            <a:ext cx="6305683" cy="122192"/>
          </a:xfrm>
          <a:prstGeom prst="rect">
            <a:avLst/>
          </a:prstGeom>
          <a:solidFill>
            <a:srgbClr val="A8462E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134" name="Text 62">
            <a:extLst>
              <a:ext uri="{FF2B5EF4-FFF2-40B4-BE49-F238E27FC236}">
                <a16:creationId xmlns:a16="http://schemas.microsoft.com/office/drawing/2014/main" id="{2B4AE75A-E9CC-9776-C29E-3FDD40A269AD}"/>
              </a:ext>
            </a:extLst>
          </p:cNvPr>
          <p:cNvSpPr/>
          <p:nvPr/>
        </p:nvSpPr>
        <p:spPr>
          <a:xfrm>
            <a:off x="5596149" y="9228754"/>
            <a:ext cx="403850" cy="295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0160F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P17</a:t>
            </a:r>
            <a:endParaRPr lang="en-US" sz="1800" dirty="0">
              <a:latin typeface="Abadi MT Condensed Light" panose="020B0306030101010103" pitchFamily="34" charset="77"/>
            </a:endParaRPr>
          </a:p>
        </p:txBody>
      </p:sp>
      <p:sp>
        <p:nvSpPr>
          <p:cNvPr id="135" name="Shape 63">
            <a:extLst>
              <a:ext uri="{FF2B5EF4-FFF2-40B4-BE49-F238E27FC236}">
                <a16:creationId xmlns:a16="http://schemas.microsoft.com/office/drawing/2014/main" id="{60750018-9225-C5B4-B4D5-1D2A3A292671}"/>
              </a:ext>
            </a:extLst>
          </p:cNvPr>
          <p:cNvSpPr/>
          <p:nvPr/>
        </p:nvSpPr>
        <p:spPr>
          <a:xfrm>
            <a:off x="6002622" y="9286031"/>
            <a:ext cx="6535661" cy="122193"/>
          </a:xfrm>
          <a:prstGeom prst="rect">
            <a:avLst/>
          </a:prstGeom>
          <a:solidFill>
            <a:srgbClr val="A8462E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412188A3-BB11-C0BE-111C-C70981D879CA}"/>
              </a:ext>
            </a:extLst>
          </p:cNvPr>
          <p:cNvGrpSpPr/>
          <p:nvPr/>
        </p:nvGrpSpPr>
        <p:grpSpPr>
          <a:xfrm>
            <a:off x="12831886" y="4642736"/>
            <a:ext cx="457333" cy="4874353"/>
            <a:chOff x="13993029" y="4617915"/>
            <a:chExt cx="457333" cy="4874353"/>
          </a:xfrm>
        </p:grpSpPr>
        <p:sp>
          <p:nvSpPr>
            <p:cNvPr id="79" name="Text 7">
              <a:extLst>
                <a:ext uri="{FF2B5EF4-FFF2-40B4-BE49-F238E27FC236}">
                  <a16:creationId xmlns:a16="http://schemas.microsoft.com/office/drawing/2014/main" id="{95340CFA-9B42-4E5F-92A3-DAD868C6420C}"/>
                </a:ext>
              </a:extLst>
            </p:cNvPr>
            <p:cNvSpPr/>
            <p:nvPr/>
          </p:nvSpPr>
          <p:spPr>
            <a:xfrm>
              <a:off x="13993029" y="4617915"/>
              <a:ext cx="457333" cy="23105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buNone/>
              </a:pPr>
              <a:r>
                <a:rPr lang="en-US" sz="1500" dirty="0">
                  <a:solidFill>
                    <a:srgbClr val="72665E"/>
                  </a:solidFill>
                  <a:latin typeface="Abadi MT Condensed Light" panose="020B0306030101010103" pitchFamily="34" charset="77"/>
                  <a:ea typeface="Courier New" pitchFamily="34" charset="-122"/>
                  <a:cs typeface="Courier New" pitchFamily="34" charset="-120"/>
                </a:rPr>
                <a:t>0.261</a:t>
              </a:r>
              <a:endParaRPr lang="en-US" sz="1500" dirty="0">
                <a:latin typeface="Abadi MT Condensed Light" panose="020B0306030101010103" pitchFamily="34" charset="77"/>
              </a:endParaRPr>
            </a:p>
          </p:txBody>
        </p:sp>
        <p:sp>
          <p:nvSpPr>
            <p:cNvPr id="82" name="Text 10">
              <a:extLst>
                <a:ext uri="{FF2B5EF4-FFF2-40B4-BE49-F238E27FC236}">
                  <a16:creationId xmlns:a16="http://schemas.microsoft.com/office/drawing/2014/main" id="{F27C7EEF-D7FC-083F-29DC-1C1702D6CD28}"/>
                </a:ext>
              </a:extLst>
            </p:cNvPr>
            <p:cNvSpPr/>
            <p:nvPr/>
          </p:nvSpPr>
          <p:spPr>
            <a:xfrm>
              <a:off x="13993029" y="4862300"/>
              <a:ext cx="457333" cy="23105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buNone/>
              </a:pPr>
              <a:r>
                <a:rPr lang="en-US" sz="1500" dirty="0">
                  <a:solidFill>
                    <a:srgbClr val="72665E"/>
                  </a:solidFill>
                  <a:latin typeface="Abadi MT Condensed Light" panose="020B0306030101010103" pitchFamily="34" charset="77"/>
                  <a:ea typeface="Courier New" pitchFamily="34" charset="-122"/>
                  <a:cs typeface="Courier New" pitchFamily="34" charset="-120"/>
                </a:rPr>
                <a:t>0.506</a:t>
              </a:r>
              <a:endParaRPr lang="en-US" sz="1500" dirty="0">
                <a:latin typeface="Abadi MT Condensed Light" panose="020B0306030101010103" pitchFamily="34" charset="77"/>
              </a:endParaRPr>
            </a:p>
          </p:txBody>
        </p:sp>
        <p:sp>
          <p:nvSpPr>
            <p:cNvPr id="85" name="Text 13">
              <a:extLst>
                <a:ext uri="{FF2B5EF4-FFF2-40B4-BE49-F238E27FC236}">
                  <a16:creationId xmlns:a16="http://schemas.microsoft.com/office/drawing/2014/main" id="{CCE5DDBB-BF93-091F-8DD3-3D826E3775FC}"/>
                </a:ext>
              </a:extLst>
            </p:cNvPr>
            <p:cNvSpPr/>
            <p:nvPr/>
          </p:nvSpPr>
          <p:spPr>
            <a:xfrm>
              <a:off x="13993029" y="5106684"/>
              <a:ext cx="457333" cy="23105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buNone/>
              </a:pPr>
              <a:r>
                <a:rPr lang="en-US" sz="1500" dirty="0">
                  <a:solidFill>
                    <a:srgbClr val="72665E"/>
                  </a:solidFill>
                  <a:latin typeface="Abadi MT Condensed Light" panose="020B0306030101010103" pitchFamily="34" charset="77"/>
                  <a:ea typeface="Courier New" pitchFamily="34" charset="-122"/>
                  <a:cs typeface="Courier New" pitchFamily="34" charset="-120"/>
                </a:rPr>
                <a:t>0.580</a:t>
              </a:r>
              <a:endParaRPr lang="en-US" sz="1500" dirty="0">
                <a:latin typeface="Abadi MT Condensed Light" panose="020B0306030101010103" pitchFamily="34" charset="77"/>
              </a:endParaRPr>
            </a:p>
          </p:txBody>
        </p:sp>
        <p:sp>
          <p:nvSpPr>
            <p:cNvPr id="88" name="Text 16">
              <a:extLst>
                <a:ext uri="{FF2B5EF4-FFF2-40B4-BE49-F238E27FC236}">
                  <a16:creationId xmlns:a16="http://schemas.microsoft.com/office/drawing/2014/main" id="{1A02815F-8A7F-8FE6-8BA4-BA9CE4F09FAD}"/>
                </a:ext>
              </a:extLst>
            </p:cNvPr>
            <p:cNvSpPr/>
            <p:nvPr/>
          </p:nvSpPr>
          <p:spPr>
            <a:xfrm>
              <a:off x="13993029" y="5351067"/>
              <a:ext cx="457333" cy="23105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buNone/>
              </a:pPr>
              <a:r>
                <a:rPr lang="en-US" sz="1500" dirty="0">
                  <a:solidFill>
                    <a:srgbClr val="72665E"/>
                  </a:solidFill>
                  <a:latin typeface="Abadi MT Condensed Light" panose="020B0306030101010103" pitchFamily="34" charset="77"/>
                  <a:ea typeface="Courier New" pitchFamily="34" charset="-122"/>
                  <a:cs typeface="Courier New" pitchFamily="34" charset="-120"/>
                </a:rPr>
                <a:t>0.619</a:t>
              </a:r>
              <a:endParaRPr lang="en-US" sz="1500" dirty="0">
                <a:latin typeface="Abadi MT Condensed Light" panose="020B0306030101010103" pitchFamily="34" charset="77"/>
              </a:endParaRPr>
            </a:p>
          </p:txBody>
        </p:sp>
        <p:sp>
          <p:nvSpPr>
            <p:cNvPr id="91" name="Text 19">
              <a:extLst>
                <a:ext uri="{FF2B5EF4-FFF2-40B4-BE49-F238E27FC236}">
                  <a16:creationId xmlns:a16="http://schemas.microsoft.com/office/drawing/2014/main" id="{D58E2C9C-B82E-DEE6-2D6F-8AAC5FD65BF2}"/>
                </a:ext>
              </a:extLst>
            </p:cNvPr>
            <p:cNvSpPr/>
            <p:nvPr/>
          </p:nvSpPr>
          <p:spPr>
            <a:xfrm>
              <a:off x="13993029" y="5595452"/>
              <a:ext cx="457333" cy="23105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buNone/>
              </a:pPr>
              <a:r>
                <a:rPr lang="en-US" sz="1500" dirty="0">
                  <a:solidFill>
                    <a:srgbClr val="72665E"/>
                  </a:solidFill>
                  <a:latin typeface="Abadi MT Condensed Light" panose="020B0306030101010103" pitchFamily="34" charset="77"/>
                  <a:ea typeface="Courier New" pitchFamily="34" charset="-122"/>
                  <a:cs typeface="Courier New" pitchFamily="34" charset="-120"/>
                </a:rPr>
                <a:t>0.682</a:t>
              </a:r>
              <a:endParaRPr lang="en-US" sz="1500" dirty="0">
                <a:latin typeface="Abadi MT Condensed Light" panose="020B0306030101010103" pitchFamily="34" charset="77"/>
              </a:endParaRPr>
            </a:p>
          </p:txBody>
        </p:sp>
        <p:sp>
          <p:nvSpPr>
            <p:cNvPr id="94" name="Text 22">
              <a:extLst>
                <a:ext uri="{FF2B5EF4-FFF2-40B4-BE49-F238E27FC236}">
                  <a16:creationId xmlns:a16="http://schemas.microsoft.com/office/drawing/2014/main" id="{E3E87507-8EDE-4D8F-60B2-C5970A769DD6}"/>
                </a:ext>
              </a:extLst>
            </p:cNvPr>
            <p:cNvSpPr/>
            <p:nvPr/>
          </p:nvSpPr>
          <p:spPr>
            <a:xfrm>
              <a:off x="13993029" y="5839835"/>
              <a:ext cx="457333" cy="23105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buNone/>
              </a:pPr>
              <a:r>
                <a:rPr lang="en-US" sz="1500" dirty="0">
                  <a:solidFill>
                    <a:srgbClr val="72665E"/>
                  </a:solidFill>
                  <a:latin typeface="Abadi MT Condensed Light" panose="020B0306030101010103" pitchFamily="34" charset="77"/>
                  <a:ea typeface="Courier New" pitchFamily="34" charset="-122"/>
                  <a:cs typeface="Courier New" pitchFamily="34" charset="-120"/>
                </a:rPr>
                <a:t>0.726</a:t>
              </a:r>
              <a:endParaRPr lang="en-US" sz="1500" dirty="0">
                <a:latin typeface="Abadi MT Condensed Light" panose="020B0306030101010103" pitchFamily="34" charset="77"/>
              </a:endParaRPr>
            </a:p>
          </p:txBody>
        </p:sp>
        <p:sp>
          <p:nvSpPr>
            <p:cNvPr id="97" name="Text 25">
              <a:extLst>
                <a:ext uri="{FF2B5EF4-FFF2-40B4-BE49-F238E27FC236}">
                  <a16:creationId xmlns:a16="http://schemas.microsoft.com/office/drawing/2014/main" id="{384E3EC9-D17B-DEB6-5692-F58CBDC9A711}"/>
                </a:ext>
              </a:extLst>
            </p:cNvPr>
            <p:cNvSpPr/>
            <p:nvPr/>
          </p:nvSpPr>
          <p:spPr>
            <a:xfrm>
              <a:off x="13993029" y="6084220"/>
              <a:ext cx="457333" cy="23105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buNone/>
              </a:pPr>
              <a:r>
                <a:rPr lang="en-US" sz="1500" dirty="0">
                  <a:solidFill>
                    <a:srgbClr val="72665E"/>
                  </a:solidFill>
                  <a:latin typeface="Abadi MT Condensed Light" panose="020B0306030101010103" pitchFamily="34" charset="77"/>
                  <a:ea typeface="Courier New" pitchFamily="34" charset="-122"/>
                  <a:cs typeface="Courier New" pitchFamily="34" charset="-120"/>
                </a:rPr>
                <a:t>0.736</a:t>
              </a:r>
              <a:endParaRPr lang="en-US" sz="1500" dirty="0">
                <a:latin typeface="Abadi MT Condensed Light" panose="020B0306030101010103" pitchFamily="34" charset="77"/>
              </a:endParaRPr>
            </a:p>
          </p:txBody>
        </p:sp>
        <p:sp>
          <p:nvSpPr>
            <p:cNvPr id="100" name="Text 28">
              <a:extLst>
                <a:ext uri="{FF2B5EF4-FFF2-40B4-BE49-F238E27FC236}">
                  <a16:creationId xmlns:a16="http://schemas.microsoft.com/office/drawing/2014/main" id="{DE044047-94BC-F852-E905-A01DC558E8B3}"/>
                </a:ext>
              </a:extLst>
            </p:cNvPr>
            <p:cNvSpPr/>
            <p:nvPr/>
          </p:nvSpPr>
          <p:spPr>
            <a:xfrm>
              <a:off x="13993029" y="6328603"/>
              <a:ext cx="457333" cy="23105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buNone/>
              </a:pPr>
              <a:r>
                <a:rPr lang="en-US" sz="1500" dirty="0">
                  <a:solidFill>
                    <a:srgbClr val="72665E"/>
                  </a:solidFill>
                  <a:latin typeface="Abadi MT Condensed Light" panose="020B0306030101010103" pitchFamily="34" charset="77"/>
                  <a:ea typeface="Courier New" pitchFamily="34" charset="-122"/>
                  <a:cs typeface="Courier New" pitchFamily="34" charset="-120"/>
                </a:rPr>
                <a:t>0.754</a:t>
              </a:r>
              <a:endParaRPr lang="en-US" sz="1500" dirty="0">
                <a:latin typeface="Abadi MT Condensed Light" panose="020B0306030101010103" pitchFamily="34" charset="77"/>
              </a:endParaRPr>
            </a:p>
          </p:txBody>
        </p:sp>
        <p:sp>
          <p:nvSpPr>
            <p:cNvPr id="103" name="Text 31">
              <a:extLst>
                <a:ext uri="{FF2B5EF4-FFF2-40B4-BE49-F238E27FC236}">
                  <a16:creationId xmlns:a16="http://schemas.microsoft.com/office/drawing/2014/main" id="{FFAE3326-D40F-7265-39A7-D620DF78B649}"/>
                </a:ext>
              </a:extLst>
            </p:cNvPr>
            <p:cNvSpPr/>
            <p:nvPr/>
          </p:nvSpPr>
          <p:spPr>
            <a:xfrm>
              <a:off x="13993029" y="6572986"/>
              <a:ext cx="457333" cy="23105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buNone/>
              </a:pPr>
              <a:r>
                <a:rPr lang="en-US" sz="1500" dirty="0">
                  <a:solidFill>
                    <a:srgbClr val="72665E"/>
                  </a:solidFill>
                  <a:latin typeface="Abadi MT Condensed Light" panose="020B0306030101010103" pitchFamily="34" charset="77"/>
                  <a:ea typeface="Courier New" pitchFamily="34" charset="-122"/>
                  <a:cs typeface="Courier New" pitchFamily="34" charset="-120"/>
                </a:rPr>
                <a:t>0.768</a:t>
              </a:r>
              <a:endParaRPr lang="en-US" sz="1500" dirty="0">
                <a:latin typeface="Abadi MT Condensed Light" panose="020B0306030101010103" pitchFamily="34" charset="77"/>
              </a:endParaRPr>
            </a:p>
          </p:txBody>
        </p:sp>
        <p:sp>
          <p:nvSpPr>
            <p:cNvPr id="106" name="Text 34">
              <a:extLst>
                <a:ext uri="{FF2B5EF4-FFF2-40B4-BE49-F238E27FC236}">
                  <a16:creationId xmlns:a16="http://schemas.microsoft.com/office/drawing/2014/main" id="{93D7F05E-1D51-5899-1614-99F7A3C870A8}"/>
                </a:ext>
              </a:extLst>
            </p:cNvPr>
            <p:cNvSpPr/>
            <p:nvPr/>
          </p:nvSpPr>
          <p:spPr>
            <a:xfrm>
              <a:off x="13993029" y="6817371"/>
              <a:ext cx="457333" cy="23105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buNone/>
              </a:pPr>
              <a:r>
                <a:rPr lang="en-US" sz="1500" dirty="0">
                  <a:solidFill>
                    <a:srgbClr val="72665E"/>
                  </a:solidFill>
                  <a:latin typeface="Abadi MT Condensed Light" panose="020B0306030101010103" pitchFamily="34" charset="77"/>
                  <a:ea typeface="Courier New" pitchFamily="34" charset="-122"/>
                  <a:cs typeface="Courier New" pitchFamily="34" charset="-120"/>
                </a:rPr>
                <a:t>0.769</a:t>
              </a:r>
              <a:endParaRPr lang="en-US" sz="1500" dirty="0">
                <a:latin typeface="Abadi MT Condensed Light" panose="020B0306030101010103" pitchFamily="34" charset="77"/>
              </a:endParaRPr>
            </a:p>
          </p:txBody>
        </p:sp>
        <p:sp>
          <p:nvSpPr>
            <p:cNvPr id="109" name="Text 37">
              <a:extLst>
                <a:ext uri="{FF2B5EF4-FFF2-40B4-BE49-F238E27FC236}">
                  <a16:creationId xmlns:a16="http://schemas.microsoft.com/office/drawing/2014/main" id="{038F34E6-6CF6-3D51-2DC4-F0601AD7FB91}"/>
                </a:ext>
              </a:extLst>
            </p:cNvPr>
            <p:cNvSpPr/>
            <p:nvPr/>
          </p:nvSpPr>
          <p:spPr>
            <a:xfrm>
              <a:off x="13993029" y="7061756"/>
              <a:ext cx="457333" cy="23105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buNone/>
              </a:pPr>
              <a:r>
                <a:rPr lang="en-US" sz="1500" dirty="0">
                  <a:solidFill>
                    <a:srgbClr val="72665E"/>
                  </a:solidFill>
                  <a:latin typeface="Abadi MT Condensed Light" panose="020B0306030101010103" pitchFamily="34" charset="77"/>
                  <a:ea typeface="Courier New" pitchFamily="34" charset="-122"/>
                  <a:cs typeface="Courier New" pitchFamily="34" charset="-120"/>
                </a:rPr>
                <a:t>0.777</a:t>
              </a:r>
              <a:endParaRPr lang="en-US" sz="1500" dirty="0">
                <a:latin typeface="Abadi MT Condensed Light" panose="020B0306030101010103" pitchFamily="34" charset="77"/>
              </a:endParaRPr>
            </a:p>
          </p:txBody>
        </p:sp>
        <p:sp>
          <p:nvSpPr>
            <p:cNvPr id="112" name="Text 40">
              <a:extLst>
                <a:ext uri="{FF2B5EF4-FFF2-40B4-BE49-F238E27FC236}">
                  <a16:creationId xmlns:a16="http://schemas.microsoft.com/office/drawing/2014/main" id="{E6EF9D3B-BD6D-53C1-9E11-7B7F94F8858A}"/>
                </a:ext>
              </a:extLst>
            </p:cNvPr>
            <p:cNvSpPr/>
            <p:nvPr/>
          </p:nvSpPr>
          <p:spPr>
            <a:xfrm>
              <a:off x="13993029" y="7306139"/>
              <a:ext cx="457333" cy="23105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buNone/>
              </a:pPr>
              <a:r>
                <a:rPr lang="en-US" sz="1500" dirty="0">
                  <a:solidFill>
                    <a:srgbClr val="72665E"/>
                  </a:solidFill>
                  <a:latin typeface="Abadi MT Condensed Light" panose="020B0306030101010103" pitchFamily="34" charset="77"/>
                  <a:ea typeface="Courier New" pitchFamily="34" charset="-122"/>
                  <a:cs typeface="Courier New" pitchFamily="34" charset="-120"/>
                </a:rPr>
                <a:t>0.800</a:t>
              </a:r>
              <a:endParaRPr lang="en-US" sz="1500" dirty="0">
                <a:latin typeface="Abadi MT Condensed Light" panose="020B0306030101010103" pitchFamily="34" charset="77"/>
              </a:endParaRPr>
            </a:p>
          </p:txBody>
        </p:sp>
        <p:sp>
          <p:nvSpPr>
            <p:cNvPr id="115" name="Text 43">
              <a:extLst>
                <a:ext uri="{FF2B5EF4-FFF2-40B4-BE49-F238E27FC236}">
                  <a16:creationId xmlns:a16="http://schemas.microsoft.com/office/drawing/2014/main" id="{298F8734-3C0A-211A-793F-A41AC6073AAE}"/>
                </a:ext>
              </a:extLst>
            </p:cNvPr>
            <p:cNvSpPr/>
            <p:nvPr/>
          </p:nvSpPr>
          <p:spPr>
            <a:xfrm>
              <a:off x="13993029" y="7550523"/>
              <a:ext cx="457333" cy="23105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buNone/>
              </a:pPr>
              <a:r>
                <a:rPr lang="en-US" sz="1500" dirty="0">
                  <a:solidFill>
                    <a:srgbClr val="72665E"/>
                  </a:solidFill>
                  <a:latin typeface="Abadi MT Condensed Light" panose="020B0306030101010103" pitchFamily="34" charset="77"/>
                  <a:ea typeface="Courier New" pitchFamily="34" charset="-122"/>
                  <a:cs typeface="Courier New" pitchFamily="34" charset="-120"/>
                </a:rPr>
                <a:t>0.813</a:t>
              </a:r>
              <a:endParaRPr lang="en-US" sz="1500" dirty="0">
                <a:latin typeface="Abadi MT Condensed Light" panose="020B0306030101010103" pitchFamily="34" charset="77"/>
              </a:endParaRPr>
            </a:p>
          </p:txBody>
        </p:sp>
        <p:sp>
          <p:nvSpPr>
            <p:cNvPr id="118" name="Text 46">
              <a:extLst>
                <a:ext uri="{FF2B5EF4-FFF2-40B4-BE49-F238E27FC236}">
                  <a16:creationId xmlns:a16="http://schemas.microsoft.com/office/drawing/2014/main" id="{44F180D3-D4D2-B71F-DCEF-3287EF4C2BCC}"/>
                </a:ext>
              </a:extLst>
            </p:cNvPr>
            <p:cNvSpPr/>
            <p:nvPr/>
          </p:nvSpPr>
          <p:spPr>
            <a:xfrm>
              <a:off x="13993029" y="7794908"/>
              <a:ext cx="457333" cy="23105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buNone/>
              </a:pPr>
              <a:r>
                <a:rPr lang="en-US" sz="1500" dirty="0">
                  <a:solidFill>
                    <a:srgbClr val="72665E"/>
                  </a:solidFill>
                  <a:latin typeface="Abadi MT Condensed Light" panose="020B0306030101010103" pitchFamily="34" charset="77"/>
                  <a:ea typeface="Courier New" pitchFamily="34" charset="-122"/>
                  <a:cs typeface="Courier New" pitchFamily="34" charset="-120"/>
                </a:rPr>
                <a:t>0.849</a:t>
              </a:r>
              <a:endParaRPr lang="en-US" sz="1500" dirty="0">
                <a:latin typeface="Abadi MT Condensed Light" panose="020B0306030101010103" pitchFamily="34" charset="77"/>
              </a:endParaRPr>
            </a:p>
          </p:txBody>
        </p:sp>
        <p:sp>
          <p:nvSpPr>
            <p:cNvPr id="121" name="Text 49">
              <a:extLst>
                <a:ext uri="{FF2B5EF4-FFF2-40B4-BE49-F238E27FC236}">
                  <a16:creationId xmlns:a16="http://schemas.microsoft.com/office/drawing/2014/main" id="{3A85E7BE-02E8-2D2A-63A3-1F6ADED9E5FA}"/>
                </a:ext>
              </a:extLst>
            </p:cNvPr>
            <p:cNvSpPr/>
            <p:nvPr/>
          </p:nvSpPr>
          <p:spPr>
            <a:xfrm>
              <a:off x="13993029" y="8039291"/>
              <a:ext cx="457333" cy="23105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buNone/>
              </a:pPr>
              <a:r>
                <a:rPr lang="en-US" sz="1500" dirty="0">
                  <a:solidFill>
                    <a:srgbClr val="72665E"/>
                  </a:solidFill>
                  <a:latin typeface="Abadi MT Condensed Light" panose="020B0306030101010103" pitchFamily="34" charset="77"/>
                  <a:ea typeface="Courier New" pitchFamily="34" charset="-122"/>
                  <a:cs typeface="Courier New" pitchFamily="34" charset="-120"/>
                </a:rPr>
                <a:t>0.857</a:t>
              </a:r>
              <a:endParaRPr lang="en-US" sz="1500" dirty="0">
                <a:latin typeface="Abadi MT Condensed Light" panose="020B0306030101010103" pitchFamily="34" charset="77"/>
              </a:endParaRPr>
            </a:p>
          </p:txBody>
        </p:sp>
        <p:sp>
          <p:nvSpPr>
            <p:cNvPr id="124" name="Text 52">
              <a:extLst>
                <a:ext uri="{FF2B5EF4-FFF2-40B4-BE49-F238E27FC236}">
                  <a16:creationId xmlns:a16="http://schemas.microsoft.com/office/drawing/2014/main" id="{082301AE-F275-97E7-FF03-8F2EB9674595}"/>
                </a:ext>
              </a:extLst>
            </p:cNvPr>
            <p:cNvSpPr/>
            <p:nvPr/>
          </p:nvSpPr>
          <p:spPr>
            <a:xfrm>
              <a:off x="13993029" y="8283676"/>
              <a:ext cx="457333" cy="23105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buNone/>
              </a:pPr>
              <a:r>
                <a:rPr lang="en-US" sz="1500" dirty="0">
                  <a:solidFill>
                    <a:srgbClr val="72665E"/>
                  </a:solidFill>
                  <a:latin typeface="Abadi MT Condensed Light" panose="020B0306030101010103" pitchFamily="34" charset="77"/>
                  <a:ea typeface="Courier New" pitchFamily="34" charset="-122"/>
                  <a:cs typeface="Courier New" pitchFamily="34" charset="-120"/>
                </a:rPr>
                <a:t>0.878</a:t>
              </a:r>
              <a:endParaRPr lang="en-US" sz="1500" dirty="0">
                <a:latin typeface="Abadi MT Condensed Light" panose="020B0306030101010103" pitchFamily="34" charset="77"/>
              </a:endParaRPr>
            </a:p>
          </p:txBody>
        </p:sp>
        <p:sp>
          <p:nvSpPr>
            <p:cNvPr id="127" name="Text 55">
              <a:extLst>
                <a:ext uri="{FF2B5EF4-FFF2-40B4-BE49-F238E27FC236}">
                  <a16:creationId xmlns:a16="http://schemas.microsoft.com/office/drawing/2014/main" id="{28F62357-2472-1570-5CB4-10D21AC01D61}"/>
                </a:ext>
              </a:extLst>
            </p:cNvPr>
            <p:cNvSpPr/>
            <p:nvPr/>
          </p:nvSpPr>
          <p:spPr>
            <a:xfrm>
              <a:off x="13993029" y="8528059"/>
              <a:ext cx="457333" cy="23105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buNone/>
              </a:pPr>
              <a:r>
                <a:rPr lang="en-US" sz="1500" dirty="0">
                  <a:solidFill>
                    <a:srgbClr val="72665E"/>
                  </a:solidFill>
                  <a:latin typeface="Abadi MT Condensed Light" panose="020B0306030101010103" pitchFamily="34" charset="77"/>
                  <a:ea typeface="Courier New" pitchFamily="34" charset="-122"/>
                  <a:cs typeface="Courier New" pitchFamily="34" charset="-120"/>
                </a:rPr>
                <a:t>0.884</a:t>
              </a:r>
              <a:endParaRPr lang="en-US" sz="1500" dirty="0">
                <a:latin typeface="Abadi MT Condensed Light" panose="020B0306030101010103" pitchFamily="34" charset="77"/>
              </a:endParaRPr>
            </a:p>
          </p:txBody>
        </p:sp>
        <p:sp>
          <p:nvSpPr>
            <p:cNvPr id="130" name="Text 58">
              <a:extLst>
                <a:ext uri="{FF2B5EF4-FFF2-40B4-BE49-F238E27FC236}">
                  <a16:creationId xmlns:a16="http://schemas.microsoft.com/office/drawing/2014/main" id="{DAFAF091-B469-B6EB-B6BB-6240B62DEC05}"/>
                </a:ext>
              </a:extLst>
            </p:cNvPr>
            <p:cNvSpPr/>
            <p:nvPr/>
          </p:nvSpPr>
          <p:spPr>
            <a:xfrm>
              <a:off x="13993029" y="8772442"/>
              <a:ext cx="457333" cy="23105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buNone/>
              </a:pPr>
              <a:r>
                <a:rPr lang="en-US" sz="1500" dirty="0">
                  <a:solidFill>
                    <a:srgbClr val="72665E"/>
                  </a:solidFill>
                  <a:latin typeface="Abadi MT Condensed Light" panose="020B0306030101010103" pitchFamily="34" charset="77"/>
                  <a:ea typeface="Courier New" pitchFamily="34" charset="-122"/>
                  <a:cs typeface="Courier New" pitchFamily="34" charset="-120"/>
                </a:rPr>
                <a:t>0.906</a:t>
              </a:r>
              <a:endParaRPr lang="en-US" sz="1500" dirty="0">
                <a:latin typeface="Abadi MT Condensed Light" panose="020B0306030101010103" pitchFamily="34" charset="77"/>
              </a:endParaRPr>
            </a:p>
          </p:txBody>
        </p:sp>
        <p:sp>
          <p:nvSpPr>
            <p:cNvPr id="133" name="Text 61">
              <a:extLst>
                <a:ext uri="{FF2B5EF4-FFF2-40B4-BE49-F238E27FC236}">
                  <a16:creationId xmlns:a16="http://schemas.microsoft.com/office/drawing/2014/main" id="{9BB3954F-029B-A015-7DBF-CA7F342E94FE}"/>
                </a:ext>
              </a:extLst>
            </p:cNvPr>
            <p:cNvSpPr/>
            <p:nvPr/>
          </p:nvSpPr>
          <p:spPr>
            <a:xfrm>
              <a:off x="13993029" y="9016827"/>
              <a:ext cx="457333" cy="23105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buNone/>
              </a:pPr>
              <a:r>
                <a:rPr lang="en-US" sz="1500" dirty="0">
                  <a:solidFill>
                    <a:srgbClr val="72665E"/>
                  </a:solidFill>
                  <a:latin typeface="Abadi MT Condensed Light" panose="020B0306030101010103" pitchFamily="34" charset="77"/>
                  <a:ea typeface="Courier New" pitchFamily="34" charset="-122"/>
                  <a:cs typeface="Courier New" pitchFamily="34" charset="-120"/>
                </a:rPr>
                <a:t>0.907</a:t>
              </a:r>
              <a:endParaRPr lang="en-US" sz="1500" dirty="0">
                <a:latin typeface="Abadi MT Condensed Light" panose="020B0306030101010103" pitchFamily="34" charset="77"/>
              </a:endParaRPr>
            </a:p>
          </p:txBody>
        </p:sp>
        <p:sp>
          <p:nvSpPr>
            <p:cNvPr id="136" name="Text 64">
              <a:extLst>
                <a:ext uri="{FF2B5EF4-FFF2-40B4-BE49-F238E27FC236}">
                  <a16:creationId xmlns:a16="http://schemas.microsoft.com/office/drawing/2014/main" id="{DF4E47E7-8ADA-554D-A880-16E78DEF0D8D}"/>
                </a:ext>
              </a:extLst>
            </p:cNvPr>
            <p:cNvSpPr/>
            <p:nvPr/>
          </p:nvSpPr>
          <p:spPr>
            <a:xfrm>
              <a:off x="13993029" y="9261212"/>
              <a:ext cx="457333" cy="23105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buNone/>
              </a:pPr>
              <a:r>
                <a:rPr lang="en-US" sz="1500" dirty="0">
                  <a:solidFill>
                    <a:srgbClr val="72665E"/>
                  </a:solidFill>
                  <a:latin typeface="Abadi MT Condensed Light" panose="020B0306030101010103" pitchFamily="34" charset="77"/>
                  <a:ea typeface="Courier New" pitchFamily="34" charset="-122"/>
                  <a:cs typeface="Courier New" pitchFamily="34" charset="-120"/>
                </a:rPr>
                <a:t>0.940</a:t>
              </a:r>
              <a:endParaRPr lang="en-US" sz="1500" dirty="0">
                <a:latin typeface="Abadi MT Condensed Light" panose="020B0306030101010103" pitchFamily="34" charset="77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4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A42164-2F7C-3CBA-A6C2-DD5A06139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57ADB62-CDB4-E59B-97B7-B605A9B9FED9}"/>
              </a:ext>
            </a:extLst>
          </p:cNvPr>
          <p:cNvSpPr/>
          <p:nvPr/>
        </p:nvSpPr>
        <p:spPr>
          <a:xfrm>
            <a:off x="726584" y="551076"/>
            <a:ext cx="18591080" cy="33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A8462E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Models</a:t>
            </a:r>
            <a:endParaRPr lang="en-US" sz="1500" dirty="0">
              <a:latin typeface="Abadi MT Condensed Light" panose="020B0306030101010103" pitchFamily="34" charset="7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A396379-578B-66F9-0DF4-AAA74AA149BC}"/>
              </a:ext>
            </a:extLst>
          </p:cNvPr>
          <p:cNvSpPr/>
          <p:nvPr/>
        </p:nvSpPr>
        <p:spPr>
          <a:xfrm>
            <a:off x="726584" y="944122"/>
            <a:ext cx="18591080" cy="587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kern="0" spc="-34" dirty="0">
                <a:solidFill>
                  <a:srgbClr val="20160F"/>
                </a:solidFill>
                <a:latin typeface="Abadi MT Condensed Light" panose="020B0306030101010103" pitchFamily="34" charset="77"/>
                <a:ea typeface="Georgia" pitchFamily="34" charset="-122"/>
                <a:cs typeface="Georgia" pitchFamily="34" charset="-120"/>
              </a:rPr>
              <a:t>Current No-Thinking Baselines</a:t>
            </a:r>
            <a:endParaRPr lang="en-US" sz="3450" dirty="0">
              <a:latin typeface="Abadi MT Condensed Light" panose="020B0306030101010103" pitchFamily="34" charset="77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C6AAC59-A755-5AFD-6282-25FEC9A1A827}"/>
              </a:ext>
            </a:extLst>
          </p:cNvPr>
          <p:cNvSpPr/>
          <p:nvPr/>
        </p:nvSpPr>
        <p:spPr>
          <a:xfrm>
            <a:off x="726584" y="1690910"/>
            <a:ext cx="16900982" cy="19050"/>
          </a:xfrm>
          <a:prstGeom prst="rect">
            <a:avLst/>
          </a:prstGeom>
          <a:solidFill>
            <a:srgbClr val="CEC6BC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E052B54-B778-BE49-366E-CC016DD309B5}"/>
              </a:ext>
            </a:extLst>
          </p:cNvPr>
          <p:cNvSpPr/>
          <p:nvPr/>
        </p:nvSpPr>
        <p:spPr>
          <a:xfrm>
            <a:off x="726584" y="2133088"/>
            <a:ext cx="18591080" cy="4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72665E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All trained on the (now-outdated) 20-policy data — v0 and v1.</a:t>
            </a:r>
            <a:endParaRPr lang="en-US" sz="1800" dirty="0">
              <a:latin typeface="Abadi MT Condensed Light" panose="020B0306030101010103" pitchFamily="34" charset="77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69B6B4B-295D-CA3D-1B55-416FFF686E95}"/>
              </a:ext>
            </a:extLst>
          </p:cNvPr>
          <p:cNvSpPr/>
          <p:nvPr/>
        </p:nvSpPr>
        <p:spPr>
          <a:xfrm>
            <a:off x="738374" y="2887149"/>
            <a:ext cx="5361148" cy="6848775"/>
          </a:xfrm>
          <a:prstGeom prst="roundRect">
            <a:avLst>
              <a:gd name="adj" fmla="val 8934"/>
            </a:avLst>
          </a:prstGeom>
          <a:solidFill>
            <a:srgbClr val="F3ECE1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FBAC6D6-9CF4-3592-EB0F-C32BE7958177}"/>
              </a:ext>
            </a:extLst>
          </p:cNvPr>
          <p:cNvSpPr/>
          <p:nvPr/>
        </p:nvSpPr>
        <p:spPr>
          <a:xfrm>
            <a:off x="1041020" y="3162838"/>
            <a:ext cx="5058502" cy="297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F907B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A</a:t>
            </a:r>
            <a:endParaRPr lang="en-US" sz="1500" dirty="0">
              <a:latin typeface="Abadi MT Condensed Light" panose="020B0306030101010103" pitchFamily="34" charset="77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01E3102-31AF-D0CD-7B22-66624F87940B}"/>
              </a:ext>
            </a:extLst>
          </p:cNvPr>
          <p:cNvSpPr/>
          <p:nvPr/>
        </p:nvSpPr>
        <p:spPr>
          <a:xfrm>
            <a:off x="1041020" y="3541144"/>
            <a:ext cx="5058502" cy="503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0160F"/>
                </a:solidFill>
                <a:latin typeface="Abadi MT Condensed Light" panose="020B0306030101010103" pitchFamily="34" charset="77"/>
                <a:ea typeface="Georgia" pitchFamily="34" charset="-122"/>
                <a:cs typeface="Georgia" pitchFamily="34" charset="-120"/>
              </a:rPr>
              <a:t>No-think SFT</a:t>
            </a:r>
            <a:endParaRPr lang="en-US" sz="2400" dirty="0">
              <a:latin typeface="Abadi MT Condensed Light" panose="020B0306030101010103" pitchFamily="34" charset="77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1ABFE40-EB78-EF21-5E7E-1C95D95345BF}"/>
              </a:ext>
            </a:extLst>
          </p:cNvPr>
          <p:cNvSpPr/>
          <p:nvPr/>
        </p:nvSpPr>
        <p:spPr>
          <a:xfrm>
            <a:off x="1041020" y="4125800"/>
            <a:ext cx="5058502" cy="4028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72665E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Trained on v0 no-reasoning targets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72665E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  <a:sym typeface="Wingdings" pitchFamily="2" charset="2"/>
              </a:rPr>
              <a:t> From the last sync up</a:t>
            </a:r>
            <a:endParaRPr lang="en-US" sz="1800" dirty="0">
              <a:solidFill>
                <a:srgbClr val="72665E"/>
              </a:solidFill>
              <a:latin typeface="Abadi MT Condensed Light" panose="020B0306030101010103" pitchFamily="34" charset="77"/>
              <a:ea typeface="Arial" pitchFamily="34" charset="-122"/>
              <a:cs typeface="Arial" pitchFamily="34" charset="-12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92AD970-A88F-5071-86C6-C88844E5F1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r="137" b="-761"/>
          <a:stretch>
            <a:fillRect/>
          </a:stretch>
        </p:blipFill>
        <p:spPr>
          <a:xfrm>
            <a:off x="6359944" y="2342148"/>
            <a:ext cx="11267622" cy="756832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04237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4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2D19DD-0152-A428-5D9C-DAE7ABF92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9535B0C-486A-22CD-0867-CF316C9ED3BA}"/>
              </a:ext>
            </a:extLst>
          </p:cNvPr>
          <p:cNvSpPr/>
          <p:nvPr/>
        </p:nvSpPr>
        <p:spPr>
          <a:xfrm>
            <a:off x="726584" y="551076"/>
            <a:ext cx="18591080" cy="33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A8462E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Models</a:t>
            </a:r>
            <a:endParaRPr lang="en-US" sz="1500" dirty="0">
              <a:latin typeface="Abadi MT Condensed Light" panose="020B0306030101010103" pitchFamily="34" charset="7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4E27158-040C-F935-38E9-55538DF3CD85}"/>
              </a:ext>
            </a:extLst>
          </p:cNvPr>
          <p:cNvSpPr/>
          <p:nvPr/>
        </p:nvSpPr>
        <p:spPr>
          <a:xfrm>
            <a:off x="726584" y="944122"/>
            <a:ext cx="18591080" cy="587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kern="0" spc="-34" dirty="0">
                <a:solidFill>
                  <a:srgbClr val="20160F"/>
                </a:solidFill>
                <a:latin typeface="Abadi MT Condensed Light" panose="020B0306030101010103" pitchFamily="34" charset="77"/>
                <a:ea typeface="Georgia" pitchFamily="34" charset="-122"/>
                <a:cs typeface="Georgia" pitchFamily="34" charset="-120"/>
              </a:rPr>
              <a:t>Current Thinking Model Baselines</a:t>
            </a:r>
            <a:endParaRPr lang="en-US" sz="3450" dirty="0">
              <a:latin typeface="Abadi MT Condensed Light" panose="020B0306030101010103" pitchFamily="34" charset="77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D3C3B73-6295-0ECC-CA85-484A44EC3EF7}"/>
              </a:ext>
            </a:extLst>
          </p:cNvPr>
          <p:cNvSpPr/>
          <p:nvPr/>
        </p:nvSpPr>
        <p:spPr>
          <a:xfrm>
            <a:off x="726584" y="1690910"/>
            <a:ext cx="16900982" cy="19050"/>
          </a:xfrm>
          <a:prstGeom prst="rect">
            <a:avLst/>
          </a:prstGeom>
          <a:solidFill>
            <a:srgbClr val="CEC6BC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D1F9C3D-23DA-80B7-F19F-D1EDB460F7D8}"/>
              </a:ext>
            </a:extLst>
          </p:cNvPr>
          <p:cNvSpPr/>
          <p:nvPr/>
        </p:nvSpPr>
        <p:spPr>
          <a:xfrm>
            <a:off x="726584" y="2133088"/>
            <a:ext cx="18591080" cy="4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72665E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All trained on the (now-outdated) 20-policy data — v0 and v1.</a:t>
            </a:r>
            <a:endParaRPr lang="en-US" sz="1800" dirty="0">
              <a:latin typeface="Abadi MT Condensed Light" panose="020B0306030101010103" pitchFamily="34" charset="77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F776883-3700-83AF-4F19-90F97514F05C}"/>
              </a:ext>
            </a:extLst>
          </p:cNvPr>
          <p:cNvSpPr/>
          <p:nvPr/>
        </p:nvSpPr>
        <p:spPr>
          <a:xfrm>
            <a:off x="595955" y="2979779"/>
            <a:ext cx="5361148" cy="3182099"/>
          </a:xfrm>
          <a:prstGeom prst="roundRect">
            <a:avLst>
              <a:gd name="adj" fmla="val 9017"/>
            </a:avLst>
          </a:prstGeom>
          <a:solidFill>
            <a:srgbClr val="F3ECE1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1B414C6-4900-2C97-B874-40CD0CE2C886}"/>
              </a:ext>
            </a:extLst>
          </p:cNvPr>
          <p:cNvSpPr/>
          <p:nvPr/>
        </p:nvSpPr>
        <p:spPr>
          <a:xfrm>
            <a:off x="910391" y="3523493"/>
            <a:ext cx="5361148" cy="447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462E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B</a:t>
            </a:r>
            <a:endParaRPr lang="en-US" sz="1500" dirty="0">
              <a:latin typeface="Abadi MT Condensed Light" panose="020B0306030101010103" pitchFamily="34" charset="7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60F53B0-3A31-B812-D591-4CCCA89F8297}"/>
              </a:ext>
            </a:extLst>
          </p:cNvPr>
          <p:cNvSpPr/>
          <p:nvPr/>
        </p:nvSpPr>
        <p:spPr>
          <a:xfrm>
            <a:off x="910391" y="4093309"/>
            <a:ext cx="5361148" cy="75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0160F"/>
                </a:solidFill>
                <a:latin typeface="Abadi MT Condensed Light" panose="020B0306030101010103" pitchFamily="34" charset="77"/>
                <a:ea typeface="Georgia" pitchFamily="34" charset="-122"/>
                <a:cs typeface="Georgia" pitchFamily="34" charset="-120"/>
              </a:rPr>
              <a:t>Think LoRA-SFT</a:t>
            </a:r>
            <a:endParaRPr lang="en-US" sz="2400" dirty="0">
              <a:latin typeface="Abadi MT Condensed Light" panose="020B0306030101010103" pitchFamily="34" charset="77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09C8715-0667-1949-7A9B-6F5F88D63122}"/>
              </a:ext>
            </a:extLst>
          </p:cNvPr>
          <p:cNvSpPr/>
          <p:nvPr/>
        </p:nvSpPr>
        <p:spPr>
          <a:xfrm>
            <a:off x="910391" y="4973937"/>
            <a:ext cx="5361148" cy="64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72665E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Codex-LoRA, α = 32, on v1 traces</a:t>
            </a:r>
            <a:endParaRPr lang="en-US" sz="1800" dirty="0">
              <a:latin typeface="Abadi MT Condensed Light" panose="020B0306030101010103" pitchFamily="34" charset="77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6E8C233-F704-ABDA-1667-C85BA71823F9}"/>
              </a:ext>
            </a:extLst>
          </p:cNvPr>
          <p:cNvSpPr/>
          <p:nvPr/>
        </p:nvSpPr>
        <p:spPr>
          <a:xfrm>
            <a:off x="607745" y="6719030"/>
            <a:ext cx="5361148" cy="3152499"/>
          </a:xfrm>
          <a:prstGeom prst="roundRect">
            <a:avLst>
              <a:gd name="adj" fmla="val 9102"/>
            </a:avLst>
          </a:prstGeom>
          <a:solidFill>
            <a:srgbClr val="F3ECE1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7749FF9-3ADB-0F84-6185-E50286A68BD4}"/>
              </a:ext>
            </a:extLst>
          </p:cNvPr>
          <p:cNvSpPr/>
          <p:nvPr/>
        </p:nvSpPr>
        <p:spPr>
          <a:xfrm>
            <a:off x="922181" y="7251848"/>
            <a:ext cx="4442404" cy="447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462E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C</a:t>
            </a:r>
            <a:endParaRPr lang="en-US" sz="1500" dirty="0">
              <a:latin typeface="Abadi MT Condensed Light" panose="020B0306030101010103" pitchFamily="34" charset="77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62CC6CB-F15A-5800-97A1-95C6D10C63D9}"/>
              </a:ext>
            </a:extLst>
          </p:cNvPr>
          <p:cNvSpPr/>
          <p:nvPr/>
        </p:nvSpPr>
        <p:spPr>
          <a:xfrm>
            <a:off x="922181" y="7821664"/>
            <a:ext cx="4442404" cy="75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0160F"/>
                </a:solidFill>
                <a:latin typeface="Abadi MT Condensed Light" panose="020B0306030101010103" pitchFamily="34" charset="77"/>
                <a:ea typeface="Georgia" pitchFamily="34" charset="-122"/>
                <a:cs typeface="Georgia" pitchFamily="34" charset="-120"/>
              </a:rPr>
              <a:t>Think SFT</a:t>
            </a:r>
            <a:endParaRPr lang="en-US" sz="2400" dirty="0">
              <a:latin typeface="Abadi MT Condensed Light" panose="020B0306030101010103" pitchFamily="34" charset="77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29D6573-8A3B-69D6-EB74-7FC289DC02F2}"/>
              </a:ext>
            </a:extLst>
          </p:cNvPr>
          <p:cNvSpPr/>
          <p:nvPr/>
        </p:nvSpPr>
        <p:spPr>
          <a:xfrm>
            <a:off x="922181" y="8702292"/>
            <a:ext cx="4442404" cy="6475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72665E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Full fine-tune on v1 traces</a:t>
            </a:r>
            <a:endParaRPr lang="en-US" sz="1800" dirty="0">
              <a:latin typeface="Abadi MT Condensed Light" panose="020B0306030101010103" pitchFamily="34" charset="77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4A3E7C7-3BF9-00CE-F2DA-A71C498987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0" t="450"/>
          <a:stretch>
            <a:fillRect/>
          </a:stretch>
        </p:blipFill>
        <p:spPr>
          <a:xfrm>
            <a:off x="6340401" y="2342148"/>
            <a:ext cx="11287165" cy="753022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12722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4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8EF3CD-7973-4860-C257-1F8668137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6855719-FD10-F24B-8552-8170EA1779A9}"/>
              </a:ext>
            </a:extLst>
          </p:cNvPr>
          <p:cNvSpPr/>
          <p:nvPr/>
        </p:nvSpPr>
        <p:spPr>
          <a:xfrm>
            <a:off x="671720" y="679092"/>
            <a:ext cx="18591080" cy="33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1500" dirty="0">
              <a:latin typeface="Abadi MT Condensed Light" panose="020B0306030101010103" pitchFamily="34" charset="7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350F3DC-50BF-0204-725A-B8F15A9404A6}"/>
              </a:ext>
            </a:extLst>
          </p:cNvPr>
          <p:cNvSpPr/>
          <p:nvPr/>
        </p:nvSpPr>
        <p:spPr>
          <a:xfrm>
            <a:off x="671720" y="1072138"/>
            <a:ext cx="18591080" cy="587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kern="0" spc="-34" dirty="0">
                <a:solidFill>
                  <a:srgbClr val="20160F"/>
                </a:solidFill>
                <a:latin typeface="Abadi MT Condensed Light" panose="020B0306030101010103" pitchFamily="34" charset="77"/>
                <a:ea typeface="Georgia" pitchFamily="34" charset="-122"/>
                <a:cs typeface="Georgia" pitchFamily="34" charset="-120"/>
              </a:rPr>
              <a:t>OCR Performance</a:t>
            </a:r>
            <a:endParaRPr lang="en-US" sz="3450" dirty="0">
              <a:latin typeface="Abadi MT Condensed Light" panose="020B0306030101010103" pitchFamily="34" charset="77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BFE827B-3114-F2B4-C5C7-4168390F36C3}"/>
              </a:ext>
            </a:extLst>
          </p:cNvPr>
          <p:cNvSpPr/>
          <p:nvPr/>
        </p:nvSpPr>
        <p:spPr>
          <a:xfrm>
            <a:off x="671720" y="1818926"/>
            <a:ext cx="16900982" cy="19050"/>
          </a:xfrm>
          <a:prstGeom prst="rect">
            <a:avLst/>
          </a:prstGeom>
          <a:solidFill>
            <a:srgbClr val="CEC6BC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60372E5-2C47-D7B1-1278-2C094EB2C400}"/>
              </a:ext>
            </a:extLst>
          </p:cNvPr>
          <p:cNvSpPr/>
          <p:nvPr/>
        </p:nvSpPr>
        <p:spPr>
          <a:xfrm>
            <a:off x="1460403" y="8469552"/>
            <a:ext cx="5445724" cy="45719"/>
          </a:xfrm>
          <a:prstGeom prst="rect">
            <a:avLst/>
          </a:prstGeom>
          <a:solidFill>
            <a:srgbClr val="CEC6BC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BA666EE-4362-A9CA-2F81-95E4DEEFC3C5}"/>
              </a:ext>
            </a:extLst>
          </p:cNvPr>
          <p:cNvSpPr/>
          <p:nvPr/>
        </p:nvSpPr>
        <p:spPr>
          <a:xfrm>
            <a:off x="2085110" y="5605941"/>
            <a:ext cx="884354" cy="1432142"/>
          </a:xfrm>
          <a:prstGeom prst="roundRect">
            <a:avLst>
              <a:gd name="adj" fmla="val 8616"/>
            </a:avLst>
          </a:prstGeom>
          <a:solidFill>
            <a:srgbClr val="A8462E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F8A565E-F0DC-48CC-8AEA-41196EFA41C8}"/>
              </a:ext>
            </a:extLst>
          </p:cNvPr>
          <p:cNvSpPr/>
          <p:nvPr/>
        </p:nvSpPr>
        <p:spPr>
          <a:xfrm rot="19775749">
            <a:off x="1477140" y="7475840"/>
            <a:ext cx="1706253" cy="615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20160F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Qwen-Base + NT</a:t>
            </a:r>
            <a:endParaRPr lang="en-US" sz="2175" dirty="0">
              <a:latin typeface="Abadi MT Condensed Light" panose="020B0306030101010103" pitchFamily="34" charset="77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B253299-79F7-4ABA-2243-7A4B469E49E1}"/>
              </a:ext>
            </a:extLst>
          </p:cNvPr>
          <p:cNvSpPr/>
          <p:nvPr/>
        </p:nvSpPr>
        <p:spPr>
          <a:xfrm>
            <a:off x="3298911" y="5647850"/>
            <a:ext cx="884354" cy="1413092"/>
          </a:xfrm>
          <a:prstGeom prst="roundRect">
            <a:avLst>
              <a:gd name="adj" fmla="val 8616"/>
            </a:avLst>
          </a:prstGeom>
          <a:solidFill>
            <a:srgbClr val="A8462E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4BFCD79-B35E-61B6-6D7D-9A3B4EE4F256}"/>
              </a:ext>
            </a:extLst>
          </p:cNvPr>
          <p:cNvSpPr/>
          <p:nvPr/>
        </p:nvSpPr>
        <p:spPr>
          <a:xfrm rot="19635010">
            <a:off x="2856548" y="7492888"/>
            <a:ext cx="1782958" cy="953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0160F"/>
                </a:solidFill>
                <a:latin typeface="Abadi MT Condensed Light" panose="020B0306030101010103" pitchFamily="34" charset="77"/>
                <a:cs typeface="Arial" pitchFamily="34" charset="-120"/>
              </a:rPr>
              <a:t>Qwen-SFT + NT</a:t>
            </a:r>
            <a:endParaRPr lang="en-US" sz="2175" dirty="0">
              <a:latin typeface="Abadi MT Condensed Light" panose="020B0306030101010103" pitchFamily="34" charset="77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D1085EF-907E-1EF9-18DB-350BA46104B4}"/>
              </a:ext>
            </a:extLst>
          </p:cNvPr>
          <p:cNvSpPr/>
          <p:nvPr/>
        </p:nvSpPr>
        <p:spPr>
          <a:xfrm>
            <a:off x="9842768" y="3895416"/>
            <a:ext cx="6831632" cy="54267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325" dirty="0">
                <a:solidFill>
                  <a:srgbClr val="4B4038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→ Ran </a:t>
            </a:r>
            <a:r>
              <a:rPr lang="en-US" sz="2325" b="1" dirty="0">
                <a:solidFill>
                  <a:srgbClr val="4B4038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Qwen3.5-4B-Base</a:t>
            </a:r>
            <a:r>
              <a:rPr lang="en-US" sz="2325" dirty="0">
                <a:solidFill>
                  <a:srgbClr val="4B4038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 and </a:t>
            </a:r>
            <a:r>
              <a:rPr lang="en-US" sz="2325" b="1" dirty="0">
                <a:solidFill>
                  <a:srgbClr val="4B4038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Qwen3.5-4B-SFT</a:t>
            </a:r>
            <a:r>
              <a:rPr lang="en-US" sz="2325" dirty="0">
                <a:solidFill>
                  <a:srgbClr val="4B4038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 on </a:t>
            </a:r>
            <a:r>
              <a:rPr lang="en-US" sz="2325" b="1" dirty="0">
                <a:solidFill>
                  <a:srgbClr val="4B4038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OCRBench_v2</a:t>
            </a:r>
            <a:r>
              <a:rPr lang="en-US" sz="2325" dirty="0">
                <a:solidFill>
                  <a:srgbClr val="4B4038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325" dirty="0">
                <a:solidFill>
                  <a:srgbClr val="4B4038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→ About 10k samples, </a:t>
            </a:r>
            <a:r>
              <a:rPr lang="en-US" sz="2325" dirty="0">
                <a:solidFill>
                  <a:srgbClr val="4B4038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  <a:hlinkClick r:id="rId3"/>
              </a:rPr>
              <a:t>Link</a:t>
            </a:r>
            <a:r>
              <a:rPr lang="en-US" sz="2325" dirty="0">
                <a:solidFill>
                  <a:srgbClr val="4B4038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 ranging from,</a:t>
            </a:r>
          </a:p>
          <a:p>
            <a:pPr>
              <a:lnSpc>
                <a:spcPct val="150000"/>
              </a:lnSpc>
            </a:pPr>
            <a:r>
              <a:rPr lang="en-US" sz="2325" dirty="0">
                <a:solidFill>
                  <a:srgbClr val="4B4038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	1. Element parsing</a:t>
            </a:r>
          </a:p>
          <a:p>
            <a:pPr>
              <a:lnSpc>
                <a:spcPct val="150000"/>
              </a:lnSpc>
            </a:pPr>
            <a:r>
              <a:rPr lang="en-US" sz="2325" dirty="0">
                <a:solidFill>
                  <a:srgbClr val="4B4038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	2. Text Spotting</a:t>
            </a:r>
          </a:p>
          <a:p>
            <a:pPr>
              <a:lnSpc>
                <a:spcPct val="150000"/>
              </a:lnSpc>
            </a:pPr>
            <a:r>
              <a:rPr lang="en-US" sz="2325" dirty="0">
                <a:solidFill>
                  <a:srgbClr val="4B4038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	3. Knowledge reasoning</a:t>
            </a:r>
          </a:p>
          <a:p>
            <a:pPr>
              <a:lnSpc>
                <a:spcPct val="150000"/>
              </a:lnSpc>
            </a:pPr>
            <a:r>
              <a:rPr lang="en-US" sz="2325" dirty="0">
                <a:solidFill>
                  <a:srgbClr val="4B4038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	4. Text recognition</a:t>
            </a:r>
          </a:p>
          <a:p>
            <a:pPr>
              <a:lnSpc>
                <a:spcPct val="150000"/>
              </a:lnSpc>
            </a:pPr>
            <a:r>
              <a:rPr lang="en-US" sz="2325" dirty="0">
                <a:solidFill>
                  <a:srgbClr val="4B4038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	5. and more…</a:t>
            </a:r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7D7870F8-50A7-889C-7940-2B3365B5998D}"/>
              </a:ext>
            </a:extLst>
          </p:cNvPr>
          <p:cNvSpPr/>
          <p:nvPr/>
        </p:nvSpPr>
        <p:spPr>
          <a:xfrm>
            <a:off x="4523625" y="4864333"/>
            <a:ext cx="884354" cy="2222046"/>
          </a:xfrm>
          <a:prstGeom prst="roundRect">
            <a:avLst>
              <a:gd name="adj" fmla="val 8616"/>
            </a:avLst>
          </a:prstGeom>
          <a:solidFill>
            <a:srgbClr val="A8462E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829A06B9-964E-3CEE-A730-0A97DA12E193}"/>
              </a:ext>
            </a:extLst>
          </p:cNvPr>
          <p:cNvSpPr/>
          <p:nvPr/>
        </p:nvSpPr>
        <p:spPr>
          <a:xfrm rot="19522253">
            <a:off x="4085384" y="7549041"/>
            <a:ext cx="1746274" cy="8326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000" dirty="0">
                <a:latin typeface="Abadi MT Condensed Light" panose="020B0306030101010103" pitchFamily="34" charset="77"/>
              </a:rPr>
              <a:t>Claude Opus 4.6</a:t>
            </a:r>
            <a:endParaRPr lang="en-US" sz="2800" dirty="0">
              <a:latin typeface="Abadi MT Condensed Light" panose="020B0306030101010103" pitchFamily="34" charset="77"/>
            </a:endParaRPr>
          </a:p>
        </p:txBody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C9394866-F03E-1419-CE76-B3007636B171}"/>
              </a:ext>
            </a:extLst>
          </p:cNvPr>
          <p:cNvSpPr/>
          <p:nvPr/>
        </p:nvSpPr>
        <p:spPr>
          <a:xfrm>
            <a:off x="2108049" y="5099770"/>
            <a:ext cx="932500" cy="534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325" dirty="0">
                <a:solidFill>
                  <a:srgbClr val="4B4038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31.32</a:t>
            </a:r>
          </a:p>
        </p:txBody>
      </p:sp>
      <p:sp>
        <p:nvSpPr>
          <p:cNvPr id="29" name="Text 18">
            <a:extLst>
              <a:ext uri="{FF2B5EF4-FFF2-40B4-BE49-F238E27FC236}">
                <a16:creationId xmlns:a16="http://schemas.microsoft.com/office/drawing/2014/main" id="{6F5535A1-81D3-71C7-9192-F32EB04667FD}"/>
              </a:ext>
            </a:extLst>
          </p:cNvPr>
          <p:cNvSpPr/>
          <p:nvPr/>
        </p:nvSpPr>
        <p:spPr>
          <a:xfrm>
            <a:off x="3309824" y="5143500"/>
            <a:ext cx="932500" cy="534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325" dirty="0">
                <a:solidFill>
                  <a:srgbClr val="4B4038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30.81</a:t>
            </a:r>
          </a:p>
        </p:txBody>
      </p:sp>
      <p:sp>
        <p:nvSpPr>
          <p:cNvPr id="30" name="Text 18">
            <a:extLst>
              <a:ext uri="{FF2B5EF4-FFF2-40B4-BE49-F238E27FC236}">
                <a16:creationId xmlns:a16="http://schemas.microsoft.com/office/drawing/2014/main" id="{21E2B251-F6E3-FA5C-3DA4-FCF199391508}"/>
              </a:ext>
            </a:extLst>
          </p:cNvPr>
          <p:cNvSpPr/>
          <p:nvPr/>
        </p:nvSpPr>
        <p:spPr>
          <a:xfrm>
            <a:off x="4523625" y="4373917"/>
            <a:ext cx="932500" cy="534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325" dirty="0">
                <a:solidFill>
                  <a:srgbClr val="4B4038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48.40</a:t>
            </a:r>
          </a:p>
        </p:txBody>
      </p:sp>
      <p:sp>
        <p:nvSpPr>
          <p:cNvPr id="32" name="Shape 12">
            <a:extLst>
              <a:ext uri="{FF2B5EF4-FFF2-40B4-BE49-F238E27FC236}">
                <a16:creationId xmlns:a16="http://schemas.microsoft.com/office/drawing/2014/main" id="{F4C2CE39-59DC-0E63-549A-A8C30D387DDC}"/>
              </a:ext>
            </a:extLst>
          </p:cNvPr>
          <p:cNvSpPr/>
          <p:nvPr/>
        </p:nvSpPr>
        <p:spPr>
          <a:xfrm>
            <a:off x="5819424" y="3982562"/>
            <a:ext cx="884354" cy="3119108"/>
          </a:xfrm>
          <a:prstGeom prst="roundRect">
            <a:avLst>
              <a:gd name="adj" fmla="val 8616"/>
            </a:avLst>
          </a:prstGeom>
          <a:solidFill>
            <a:srgbClr val="A8462E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BFD7A2FE-9BF9-1330-1075-E8035071A597}"/>
              </a:ext>
            </a:extLst>
          </p:cNvPr>
          <p:cNvSpPr/>
          <p:nvPr/>
        </p:nvSpPr>
        <p:spPr>
          <a:xfrm rot="19443045">
            <a:off x="5138670" y="7630114"/>
            <a:ext cx="1792924" cy="494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r>
              <a:rPr lang="en-US" sz="2000" dirty="0">
                <a:latin typeface="Abadi MT Condensed Light" panose="020B0306030101010103" pitchFamily="34" charset="77"/>
              </a:rPr>
              <a:t>Gemini 3 Pro Preview</a:t>
            </a:r>
            <a:endParaRPr lang="en-US" sz="2400" dirty="0">
              <a:latin typeface="Abadi MT Condensed Light" panose="020B0306030101010103" pitchFamily="34" charset="77"/>
            </a:endParaRPr>
          </a:p>
        </p:txBody>
      </p:sp>
      <p:sp>
        <p:nvSpPr>
          <p:cNvPr id="34" name="Text 18">
            <a:extLst>
              <a:ext uri="{FF2B5EF4-FFF2-40B4-BE49-F238E27FC236}">
                <a16:creationId xmlns:a16="http://schemas.microsoft.com/office/drawing/2014/main" id="{544AC0BB-9E91-5418-3DD3-D146FB151C45}"/>
              </a:ext>
            </a:extLst>
          </p:cNvPr>
          <p:cNvSpPr/>
          <p:nvPr/>
        </p:nvSpPr>
        <p:spPr>
          <a:xfrm>
            <a:off x="5819424" y="3369502"/>
            <a:ext cx="932500" cy="534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325" dirty="0">
                <a:solidFill>
                  <a:srgbClr val="4B4038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63.40</a:t>
            </a:r>
          </a:p>
        </p:txBody>
      </p:sp>
    </p:spTree>
    <p:extLst>
      <p:ext uri="{BB962C8B-B14F-4D97-AF65-F5344CB8AC3E}">
        <p14:creationId xmlns:p14="http://schemas.microsoft.com/office/powerpoint/2010/main" val="2743297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01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160" y="733956"/>
            <a:ext cx="18591080" cy="33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D7907E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READING THE SHIFT</a:t>
            </a:r>
            <a:endParaRPr lang="en-US" sz="1500" dirty="0">
              <a:latin typeface="Abadi MT Condensed Light" panose="020B0306030101010103" pitchFamily="34" charset="77"/>
            </a:endParaRPr>
          </a:p>
        </p:txBody>
      </p:sp>
      <p:sp>
        <p:nvSpPr>
          <p:cNvPr id="3" name="Text 1"/>
          <p:cNvSpPr/>
          <p:nvPr/>
        </p:nvSpPr>
        <p:spPr>
          <a:xfrm>
            <a:off x="763160" y="1127002"/>
            <a:ext cx="18591080" cy="587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kern="0" spc="-34" dirty="0">
                <a:solidFill>
                  <a:srgbClr val="F9F4EC"/>
                </a:solidFill>
                <a:latin typeface="Abadi MT Condensed Light" panose="020B0306030101010103" pitchFamily="34" charset="77"/>
                <a:ea typeface="Georgia" pitchFamily="34" charset="-122"/>
                <a:cs typeface="Georgia" pitchFamily="34" charset="-120"/>
              </a:rPr>
              <a:t>Interpretation</a:t>
            </a:r>
            <a:endParaRPr lang="en-US" sz="3450" dirty="0">
              <a:latin typeface="Abadi MT Condensed Light" panose="020B0306030101010103" pitchFamily="34" charset="7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3160" y="1873790"/>
            <a:ext cx="16900982" cy="19050"/>
          </a:xfrm>
          <a:prstGeom prst="rect">
            <a:avLst/>
          </a:prstGeom>
          <a:solidFill>
            <a:srgbClr val="4B4038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3160" y="4325416"/>
            <a:ext cx="16213152" cy="125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000" dirty="0">
                <a:solidFill>
                  <a:srgbClr val="F9F4EC"/>
                </a:solidFill>
                <a:latin typeface="Abadi MT Condensed Light" panose="020B0306030101010103" pitchFamily="34" charset="77"/>
                <a:ea typeface="Georgia" pitchFamily="34" charset="-122"/>
                <a:cs typeface="Georgia" pitchFamily="34" charset="-120"/>
              </a:rPr>
              <a:t>The v0 → v1 shifts land where hand-review expected them to: </a:t>
            </a:r>
            <a:r>
              <a:rPr lang="en-US" sz="3000" dirty="0">
                <a:solidFill>
                  <a:srgbClr val="D7907E"/>
                </a:solidFill>
                <a:latin typeface="Abadi MT Condensed Light" panose="020B0306030101010103" pitchFamily="34" charset="77"/>
                <a:ea typeface="Georgia" pitchFamily="34" charset="-122"/>
                <a:cs typeface="Georgia" pitchFamily="34" charset="-120"/>
              </a:rPr>
              <a:t>P3, P5, and P18 </a:t>
            </a:r>
            <a:r>
              <a:rPr lang="en-US" sz="3000" dirty="0">
                <a:solidFill>
                  <a:srgbClr val="F9F4EC"/>
                </a:solidFill>
                <a:latin typeface="Abadi MT Condensed Light" panose="020B0306030101010103" pitchFamily="34" charset="77"/>
                <a:ea typeface="Georgia" pitchFamily="34" charset="-122"/>
                <a:cs typeface="Georgia" pitchFamily="34" charset="-120"/>
              </a:rPr>
              <a:t>in particular moved as expected — fewer over-flags.</a:t>
            </a:r>
            <a:endParaRPr lang="en-US" sz="3000" dirty="0">
              <a:latin typeface="Abadi MT Condensed Light" panose="020B0306030101010103" pitchFamily="34" charset="77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3160" y="5052060"/>
            <a:ext cx="16213152" cy="125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000" dirty="0">
                <a:solidFill>
                  <a:srgbClr val="C5BCB4"/>
                </a:solidFill>
                <a:latin typeface="Abadi MT Condensed Light" panose="020B0306030101010103" pitchFamily="34" charset="77"/>
                <a:ea typeface="Georgia" pitchFamily="34" charset="-122"/>
                <a:cs typeface="Georgia" pitchFamily="34" charset="-120"/>
              </a:rPr>
              <a:t>Net, v1 fixed real policy labeling problems — at the cost of class imbalance from the ~10k unsafe → safe shift.</a:t>
            </a:r>
            <a:endParaRPr lang="en-US" sz="3000" dirty="0">
              <a:latin typeface="Abadi MT Condensed Light" panose="020B0306030101010103" pitchFamily="34" charset="7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63160" y="6259472"/>
            <a:ext cx="432350" cy="19652"/>
          </a:xfrm>
          <a:prstGeom prst="rect">
            <a:avLst/>
          </a:prstGeom>
          <a:solidFill>
            <a:srgbClr val="D7907E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92032" y="6102254"/>
            <a:ext cx="6107798" cy="410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F9F4EC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This is exactly what motivates v2's rebalance.</a:t>
            </a:r>
            <a:endParaRPr lang="en-US" sz="2175" dirty="0">
              <a:latin typeface="Abadi MT Condensed Light" panose="020B0306030101010103" pitchFamily="34" charset="7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9736" y="642516"/>
            <a:ext cx="18591080" cy="33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A8462E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QUALITY REVIEW</a:t>
            </a:r>
            <a:endParaRPr lang="en-US" sz="1500" dirty="0">
              <a:latin typeface="Abadi MT Condensed Light" panose="020B0306030101010103" pitchFamily="34" charset="77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9736" y="1035562"/>
            <a:ext cx="18591080" cy="587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kern="0" spc="-34" dirty="0">
                <a:solidFill>
                  <a:srgbClr val="20160F"/>
                </a:solidFill>
                <a:latin typeface="Abadi MT Condensed Light" panose="020B0306030101010103" pitchFamily="34" charset="77"/>
                <a:ea typeface="Georgia" pitchFamily="34" charset="-122"/>
                <a:cs typeface="Georgia" pitchFamily="34" charset="-120"/>
              </a:rPr>
              <a:t>What we found reviewing the reasoning</a:t>
            </a:r>
            <a:endParaRPr lang="en-US" sz="3450" dirty="0">
              <a:latin typeface="Abadi MT Condensed Light" panose="020B0306030101010103" pitchFamily="34" charset="7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9736" y="1782350"/>
            <a:ext cx="16900982" cy="19050"/>
          </a:xfrm>
          <a:prstGeom prst="rect">
            <a:avLst/>
          </a:prstGeom>
          <a:solidFill>
            <a:srgbClr val="CEC6BC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99736" y="2224528"/>
            <a:ext cx="5476392" cy="3640590"/>
          </a:xfrm>
          <a:prstGeom prst="roundRect">
            <a:avLst>
              <a:gd name="adj" fmla="val 5233"/>
            </a:avLst>
          </a:prstGeom>
          <a:solidFill>
            <a:srgbClr val="F3ECE1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74868" y="2480008"/>
            <a:ext cx="5418740" cy="36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A8462E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01</a:t>
            </a:r>
            <a:endParaRPr lang="en-US" sz="1950" dirty="0">
              <a:latin typeface="Abadi MT Condensed Light" panose="020B0306030101010103" pitchFamily="34" charset="77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4868" y="2868140"/>
            <a:ext cx="4960172" cy="731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Agreement concentrated on </a:t>
            </a:r>
            <a:r>
              <a:rPr lang="en-US" sz="2400" i="1" dirty="0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Unsafe </a:t>
            </a:r>
            <a:r>
              <a:rPr lang="en-US" sz="2400" dirty="0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— weaker on the safe / nonsense boundary</a:t>
            </a:r>
            <a:endParaRPr lang="en-US" sz="2400" dirty="0">
              <a:latin typeface="Abadi MT Condensed Light" panose="020B0306030101010103" pitchFamily="34" charset="7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511954" y="2224528"/>
            <a:ext cx="5476468" cy="3640590"/>
          </a:xfrm>
          <a:prstGeom prst="roundRect">
            <a:avLst>
              <a:gd name="adj" fmla="val 5233"/>
            </a:avLst>
          </a:prstGeom>
          <a:solidFill>
            <a:srgbClr val="F3ECE1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9" name="Text 7"/>
          <p:cNvSpPr/>
          <p:nvPr/>
        </p:nvSpPr>
        <p:spPr>
          <a:xfrm>
            <a:off x="6787086" y="2480008"/>
            <a:ext cx="5418824" cy="36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A8462E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02</a:t>
            </a:r>
            <a:endParaRPr lang="en-US" sz="1950" dirty="0">
              <a:latin typeface="Abadi MT Condensed Light" panose="020B0306030101010103" pitchFamily="34" charset="7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787086" y="2868140"/>
            <a:ext cx="4960249" cy="4038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Failure cases on </a:t>
            </a:r>
            <a:r>
              <a:rPr lang="en-US" sz="2400" b="1" dirty="0">
                <a:solidFill>
                  <a:srgbClr val="20160F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mmsafetybench</a:t>
            </a:r>
            <a:endParaRPr lang="en-US" sz="2400" dirty="0">
              <a:latin typeface="Abadi MT Condensed Light" panose="020B0306030101010103" pitchFamily="34" charset="7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2224250" y="2224528"/>
            <a:ext cx="5476390" cy="3640590"/>
          </a:xfrm>
          <a:prstGeom prst="roundRect">
            <a:avLst>
              <a:gd name="adj" fmla="val 5233"/>
            </a:avLst>
          </a:prstGeom>
          <a:solidFill>
            <a:srgbClr val="F3ECE1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499382" y="2480008"/>
            <a:ext cx="5418738" cy="36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A8462E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03</a:t>
            </a:r>
            <a:endParaRPr lang="en-US" sz="1950" dirty="0">
              <a:latin typeface="Abadi MT Condensed Light" panose="020B0306030101010103" pitchFamily="34" charset="7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2499382" y="2868140"/>
            <a:ext cx="4960170" cy="4038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Failure cases on </a:t>
            </a:r>
            <a:r>
              <a:rPr lang="en-US" sz="2400" b="1" dirty="0">
                <a:solidFill>
                  <a:srgbClr val="20160F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red-teaming VLM (RTVLM)</a:t>
            </a:r>
            <a:endParaRPr lang="en-US" sz="2400" dirty="0">
              <a:latin typeface="Abadi MT Condensed Light" panose="020B0306030101010103" pitchFamily="34" charset="7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99736" y="6100944"/>
            <a:ext cx="5476392" cy="3640590"/>
          </a:xfrm>
          <a:prstGeom prst="roundRect">
            <a:avLst>
              <a:gd name="adj" fmla="val 5233"/>
            </a:avLst>
          </a:prstGeom>
          <a:solidFill>
            <a:srgbClr val="F3ECE1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74868" y="6356424"/>
            <a:ext cx="5418740" cy="36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A8462E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04</a:t>
            </a:r>
            <a:endParaRPr lang="en-US" sz="1950" dirty="0">
              <a:latin typeface="Abadi MT Condensed Light" panose="020B0306030101010103" pitchFamily="34" charset="7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74868" y="6744558"/>
            <a:ext cx="4960172" cy="731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Reasoning leans on a downstream </a:t>
            </a:r>
            <a:r>
              <a:rPr lang="en-US" sz="2400" i="1" dirty="0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output </a:t>
            </a:r>
            <a:r>
              <a:rPr lang="en-US" sz="2400" dirty="0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guard instead of judging the input itself</a:t>
            </a:r>
            <a:endParaRPr lang="en-US" sz="2400" dirty="0">
              <a:latin typeface="Abadi MT Condensed Light" panose="020B0306030101010103" pitchFamily="34" charset="7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11954" y="6100944"/>
            <a:ext cx="5476468" cy="3640590"/>
          </a:xfrm>
          <a:prstGeom prst="roundRect">
            <a:avLst>
              <a:gd name="adj" fmla="val 5233"/>
            </a:avLst>
          </a:prstGeom>
          <a:solidFill>
            <a:srgbClr val="F3ECE1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787086" y="6356424"/>
            <a:ext cx="5418824" cy="36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A8462E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05</a:t>
            </a:r>
            <a:endParaRPr lang="en-US" sz="1950" dirty="0">
              <a:latin typeface="Abadi MT Condensed Light" panose="020B0306030101010103" pitchFamily="34" charset="7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787086" y="6744558"/>
            <a:ext cx="4960249" cy="731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Reasoning exceeds the 2k-token budget — spiraling</a:t>
            </a:r>
            <a:endParaRPr lang="en-US" sz="2400" dirty="0">
              <a:latin typeface="Abadi MT Condensed Light" panose="020B0306030101010103" pitchFamily="34" charset="7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2224250" y="6100944"/>
            <a:ext cx="5476390" cy="3640590"/>
          </a:xfrm>
          <a:prstGeom prst="roundRect">
            <a:avLst>
              <a:gd name="adj" fmla="val 5233"/>
            </a:avLst>
          </a:prstGeom>
          <a:solidFill>
            <a:srgbClr val="F3ECE1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2499382" y="6356424"/>
            <a:ext cx="5418738" cy="36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A8462E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06</a:t>
            </a:r>
            <a:endParaRPr lang="en-US" sz="1950" dirty="0">
              <a:latin typeface="Abadi MT Condensed Light" panose="020B0306030101010103" pitchFamily="34" charset="7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2499382" y="6744558"/>
            <a:ext cx="4960170" cy="1613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Inconsistent formatting — skipped steps, mixed enumeration: </a:t>
            </a:r>
            <a:r>
              <a:rPr lang="en-US" sz="2000" dirty="0">
                <a:solidFill>
                  <a:srgbClr val="4B4038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* Pn</a:t>
            </a:r>
            <a:r>
              <a:rPr lang="en-US" sz="2400" dirty="0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, </a:t>
            </a:r>
            <a:r>
              <a:rPr lang="en-US" sz="2000" dirty="0">
                <a:solidFill>
                  <a:srgbClr val="4B4038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- P1.</a:t>
            </a:r>
            <a:r>
              <a:rPr lang="en-US" sz="2400" dirty="0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, </a:t>
            </a:r>
            <a:r>
              <a:rPr lang="en-US" sz="2000" dirty="0">
                <a:solidFill>
                  <a:srgbClr val="4B4038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P1:</a:t>
            </a:r>
            <a:endParaRPr lang="en-US" sz="2400" dirty="0">
              <a:latin typeface="Abadi MT Condensed Light" panose="020B0306030101010103" pitchFamily="34" charset="7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720" y="660804"/>
            <a:ext cx="18591080" cy="33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336A88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V2 · IN PROGRESS</a:t>
            </a:r>
            <a:endParaRPr lang="en-US" sz="1500" dirty="0">
              <a:latin typeface="Abadi MT Condensed Light" panose="020B0306030101010103" pitchFamily="34" charset="77"/>
            </a:endParaRPr>
          </a:p>
        </p:txBody>
      </p:sp>
      <p:sp>
        <p:nvSpPr>
          <p:cNvPr id="3" name="Text 1"/>
          <p:cNvSpPr/>
          <p:nvPr/>
        </p:nvSpPr>
        <p:spPr>
          <a:xfrm>
            <a:off x="671720" y="1053850"/>
            <a:ext cx="18591080" cy="587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kern="0" spc="-34" dirty="0">
                <a:solidFill>
                  <a:srgbClr val="20160F"/>
                </a:solidFill>
                <a:latin typeface="Abadi MT Condensed Light" panose="020B0306030101010103" pitchFamily="34" charset="77"/>
                <a:ea typeface="Georgia" pitchFamily="34" charset="-122"/>
                <a:cs typeface="Georgia" pitchFamily="34" charset="-120"/>
              </a:rPr>
              <a:t>What we changed</a:t>
            </a:r>
            <a:endParaRPr lang="en-US" sz="3450" dirty="0">
              <a:latin typeface="Abadi MT Condensed Light" panose="020B0306030101010103" pitchFamily="34" charset="7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93509" y="1636616"/>
            <a:ext cx="16900982" cy="19050"/>
          </a:xfrm>
          <a:prstGeom prst="rect">
            <a:avLst/>
          </a:prstGeom>
          <a:solidFill>
            <a:srgbClr val="CEC6BC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93509" y="7041273"/>
            <a:ext cx="16900982" cy="864324"/>
          </a:xfrm>
          <a:prstGeom prst="roundRect">
            <a:avLst>
              <a:gd name="adj" fmla="val 15686"/>
            </a:avLst>
          </a:prstGeom>
          <a:solidFill>
            <a:srgbClr val="F3ECE1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6" name="Text 4"/>
          <p:cNvSpPr/>
          <p:nvPr/>
        </p:nvSpPr>
        <p:spPr>
          <a:xfrm>
            <a:off x="988293" y="7283123"/>
            <a:ext cx="15521390" cy="818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b="1" dirty="0">
                <a:solidFill>
                  <a:srgbClr val="20160F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Strict 4-step reasoning template </a:t>
            </a:r>
            <a:r>
              <a:rPr lang="en-US" sz="2025" dirty="0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— input summary → modality scan → per-policy evidence pass (P0–P20) → final reasoning, then one tool call</a:t>
            </a:r>
            <a:endParaRPr lang="en-US" sz="2025" dirty="0">
              <a:latin typeface="Abadi MT Condensed Light" panose="020B0306030101010103" pitchFamily="34" charset="77"/>
            </a:endParaRPr>
          </a:p>
        </p:txBody>
      </p:sp>
      <p:sp>
        <p:nvSpPr>
          <p:cNvPr id="7" name="Text 5"/>
          <p:cNvSpPr/>
          <p:nvPr/>
        </p:nvSpPr>
        <p:spPr>
          <a:xfrm>
            <a:off x="15182075" y="7321860"/>
            <a:ext cx="2117630" cy="297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A8462E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addresses #5, #6</a:t>
            </a:r>
            <a:endParaRPr lang="en-US" sz="1500" dirty="0">
              <a:latin typeface="Abadi MT Condensed Light" panose="020B0306030101010103" pitchFamily="34" charset="7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93509" y="4967944"/>
            <a:ext cx="16900982" cy="843054"/>
          </a:xfrm>
          <a:prstGeom prst="roundRect">
            <a:avLst>
              <a:gd name="adj" fmla="val 22596"/>
            </a:avLst>
          </a:prstGeom>
          <a:solidFill>
            <a:srgbClr val="F3ECE1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9" name="Text 7"/>
          <p:cNvSpPr/>
          <p:nvPr/>
        </p:nvSpPr>
        <p:spPr>
          <a:xfrm>
            <a:off x="988293" y="5203770"/>
            <a:ext cx="15521390" cy="4475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dirty="0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New policy </a:t>
            </a:r>
            <a:r>
              <a:rPr lang="en-US" sz="2025" b="1" dirty="0">
                <a:solidFill>
                  <a:srgbClr val="20160F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P0 — "nonsense"</a:t>
            </a:r>
            <a:endParaRPr lang="en-US" sz="2025" dirty="0">
              <a:latin typeface="Abadi MT Condensed Light" panose="020B0306030101010103" pitchFamily="34" charset="7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5182075" y="5278926"/>
            <a:ext cx="2117630" cy="297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A8462E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addresses #2, #3</a:t>
            </a:r>
            <a:endParaRPr lang="en-US" sz="1500" dirty="0">
              <a:latin typeface="Abadi MT Condensed Light" panose="020B0306030101010103" pitchFamily="34" charset="7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93509" y="2850339"/>
            <a:ext cx="16900982" cy="843054"/>
          </a:xfrm>
          <a:prstGeom prst="roundRect">
            <a:avLst>
              <a:gd name="adj" fmla="val 22596"/>
            </a:avLst>
          </a:prstGeom>
          <a:solidFill>
            <a:srgbClr val="F3ECE1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88293" y="3086165"/>
            <a:ext cx="15521390" cy="4475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dirty="0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Regenerated over a </a:t>
            </a:r>
            <a:r>
              <a:rPr lang="en-US" sz="2025" b="1" dirty="0">
                <a:solidFill>
                  <a:srgbClr val="20160F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merged ~187k example set </a:t>
            </a:r>
            <a:r>
              <a:rPr lang="en-US" sz="2025" dirty="0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(SFT train/val + RL train/val + not-used + test)</a:t>
            </a:r>
            <a:endParaRPr lang="en-US" sz="2025" dirty="0">
              <a:latin typeface="Abadi MT Condensed Light" panose="020B0306030101010103" pitchFamily="34" charset="7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5182075" y="3161321"/>
            <a:ext cx="2117630" cy="297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A8462E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addresses #1</a:t>
            </a:r>
            <a:endParaRPr lang="en-US" sz="1500" dirty="0">
              <a:latin typeface="Abadi MT Condensed Light" panose="020B0306030101010103" pitchFamily="34" charset="7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93509" y="3889915"/>
            <a:ext cx="16900982" cy="843054"/>
          </a:xfrm>
          <a:prstGeom prst="roundRect">
            <a:avLst>
              <a:gd name="adj" fmla="val 22596"/>
            </a:avLst>
          </a:prstGeom>
          <a:solidFill>
            <a:srgbClr val="F3ECE1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88293" y="4125741"/>
            <a:ext cx="15521390" cy="4475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dirty="0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Splits to be </a:t>
            </a:r>
            <a:r>
              <a:rPr lang="en-US" sz="2025" b="1" dirty="0">
                <a:solidFill>
                  <a:srgbClr val="20160F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rebalanced by policy and by safe|unsafe</a:t>
            </a:r>
            <a:endParaRPr lang="en-US" sz="2025" dirty="0">
              <a:latin typeface="Abadi MT Condensed Light" panose="020B0306030101010103" pitchFamily="34" charset="7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5182075" y="4200897"/>
            <a:ext cx="2117630" cy="297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A8462E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addresses #1</a:t>
            </a:r>
            <a:endParaRPr lang="en-US" sz="1500" dirty="0">
              <a:latin typeface="Abadi MT Condensed Light" panose="020B0306030101010103" pitchFamily="34" charset="7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9931" y="5970628"/>
            <a:ext cx="16900982" cy="843054"/>
          </a:xfrm>
          <a:prstGeom prst="roundRect">
            <a:avLst>
              <a:gd name="adj" fmla="val 22596"/>
            </a:avLst>
          </a:prstGeom>
          <a:solidFill>
            <a:srgbClr val="F3ECE1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44715" y="6206454"/>
            <a:ext cx="15521390" cy="4475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dirty="0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Reasoning re-anchored on judging the </a:t>
            </a:r>
            <a:r>
              <a:rPr lang="en-US" sz="2025" b="1" dirty="0">
                <a:solidFill>
                  <a:srgbClr val="20160F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input</a:t>
            </a:r>
            <a:r>
              <a:rPr lang="en-US" sz="2025" dirty="0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, not a downstream output guard</a:t>
            </a:r>
            <a:endParaRPr lang="en-US" sz="2025" dirty="0">
              <a:latin typeface="Abadi MT Condensed Light" panose="020B0306030101010103" pitchFamily="34" charset="7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5138497" y="6281610"/>
            <a:ext cx="2117630" cy="297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A8462E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addresses #4</a:t>
            </a:r>
            <a:endParaRPr lang="en-US" sz="1500" dirty="0">
              <a:latin typeface="Abadi MT Condensed Light" panose="020B0306030101010103" pitchFamily="34" charset="77"/>
            </a:endParaRPr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84E6B776-2DC4-29F7-6639-031A35000875}"/>
              </a:ext>
            </a:extLst>
          </p:cNvPr>
          <p:cNvSpPr/>
          <p:nvPr/>
        </p:nvSpPr>
        <p:spPr>
          <a:xfrm>
            <a:off x="693509" y="9194034"/>
            <a:ext cx="16900982" cy="864324"/>
          </a:xfrm>
          <a:prstGeom prst="roundRect">
            <a:avLst>
              <a:gd name="adj" fmla="val 15686"/>
            </a:avLst>
          </a:prstGeom>
          <a:solidFill>
            <a:srgbClr val="F3ECE1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C1BCFAC8-99FC-D1E3-754F-2BF10F291EB2}"/>
              </a:ext>
            </a:extLst>
          </p:cNvPr>
          <p:cNvSpPr/>
          <p:nvPr/>
        </p:nvSpPr>
        <p:spPr>
          <a:xfrm>
            <a:off x="988295" y="9362411"/>
            <a:ext cx="15521390" cy="818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dirty="0">
                <a:solidFill>
                  <a:srgbClr val="20160F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After generating v2, passing it through a gemma model or regenerate the ones that did not parse properly to restructure in a constant template</a:t>
            </a:r>
            <a:endParaRPr lang="en-US" sz="2025" dirty="0">
              <a:latin typeface="Abadi MT Condensed Light" panose="020B0306030101010103" pitchFamily="34" charset="77"/>
            </a:endParaRPr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5B9D664E-80CE-76AA-DE26-7A132D30F1D7}"/>
              </a:ext>
            </a:extLst>
          </p:cNvPr>
          <p:cNvSpPr/>
          <p:nvPr/>
        </p:nvSpPr>
        <p:spPr>
          <a:xfrm>
            <a:off x="15182075" y="9474621"/>
            <a:ext cx="2117630" cy="297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A8462E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addresses #6</a:t>
            </a:r>
            <a:endParaRPr lang="en-US" sz="1500" dirty="0">
              <a:latin typeface="Abadi MT Condensed Light" panose="020B0306030101010103" pitchFamily="34" charset="7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3704" y="532788"/>
            <a:ext cx="18591080" cy="33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336A88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V2 · IN PROGRESS</a:t>
            </a:r>
            <a:endParaRPr lang="en-US" sz="1500" dirty="0">
              <a:latin typeface="Abadi MT Condensed Light" panose="020B0306030101010103" pitchFamily="34" charset="77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3704" y="925834"/>
            <a:ext cx="18591080" cy="587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kern="0" spc="-34" dirty="0">
                <a:solidFill>
                  <a:srgbClr val="20160F"/>
                </a:solidFill>
                <a:latin typeface="Abadi MT Condensed Light" panose="020B0306030101010103" pitchFamily="34" charset="77"/>
                <a:ea typeface="Georgia" pitchFamily="34" charset="-122"/>
                <a:cs typeface="Georgia" pitchFamily="34" charset="-120"/>
              </a:rPr>
              <a:t>The "nonsense" policy — P0</a:t>
            </a:r>
            <a:endParaRPr lang="en-US" sz="3450" dirty="0">
              <a:latin typeface="Abadi MT Condensed Light" panose="020B0306030101010103" pitchFamily="34" charset="7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3704" y="1672622"/>
            <a:ext cx="16900982" cy="19050"/>
          </a:xfrm>
          <a:prstGeom prst="rect">
            <a:avLst/>
          </a:prstGeom>
          <a:solidFill>
            <a:srgbClr val="CEC6BC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592456" y="4288836"/>
            <a:ext cx="2751322" cy="2751322"/>
          </a:xfrm>
          <a:prstGeom prst="ellipse">
            <a:avLst/>
          </a:prstGeom>
          <a:solidFill>
            <a:srgbClr val="CFE1ED"/>
          </a:solidFill>
          <a:ln w="28575">
            <a:solidFill>
              <a:srgbClr val="336A88"/>
            </a:solidFill>
            <a:prstDash val="dash"/>
          </a:ln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31418" y="5350060"/>
            <a:ext cx="825722" cy="705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336A88"/>
                </a:solidFill>
                <a:latin typeface="Abadi MT Condensed Light" panose="020B0306030101010103" pitchFamily="34" charset="77"/>
                <a:ea typeface="Georgia" pitchFamily="34" charset="-122"/>
                <a:cs typeface="Georgia" pitchFamily="34" charset="-120"/>
              </a:rPr>
              <a:t>P0</a:t>
            </a:r>
            <a:endParaRPr lang="en-US" sz="4200" dirty="0">
              <a:latin typeface="Abadi MT Condensed Light" panose="020B0306030101010103" pitchFamily="34" charset="77"/>
            </a:endParaRPr>
          </a:p>
        </p:txBody>
      </p:sp>
      <p:sp>
        <p:nvSpPr>
          <p:cNvPr id="7" name="Text 5"/>
          <p:cNvSpPr/>
          <p:nvPr/>
        </p:nvSpPr>
        <p:spPr>
          <a:xfrm>
            <a:off x="3496386" y="7236680"/>
            <a:ext cx="1095864" cy="297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36A88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nonsense</a:t>
            </a:r>
            <a:endParaRPr lang="en-US" sz="1500" dirty="0">
              <a:latin typeface="Abadi MT Condensed Light" panose="020B0306030101010103" pitchFamily="34" charset="77"/>
            </a:endParaRPr>
          </a:p>
        </p:txBody>
      </p:sp>
      <p:sp>
        <p:nvSpPr>
          <p:cNvPr id="8" name="Text 6"/>
          <p:cNvSpPr/>
          <p:nvPr/>
        </p:nvSpPr>
        <p:spPr>
          <a:xfrm>
            <a:off x="7252018" y="4824921"/>
            <a:ext cx="10192668" cy="990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250" dirty="0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Nonsensical, impossible, or unanswerable inputs — prominent in </a:t>
            </a:r>
            <a:r>
              <a:rPr lang="en-US" sz="2250" b="1" dirty="0">
                <a:solidFill>
                  <a:srgbClr val="20160F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mmsafetybench </a:t>
            </a:r>
            <a:r>
              <a:rPr lang="en-US" sz="2250" dirty="0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and </a:t>
            </a:r>
            <a:r>
              <a:rPr lang="en-US" sz="2250" b="1" dirty="0">
                <a:solidFill>
                  <a:srgbClr val="20160F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RTVLM </a:t>
            </a:r>
            <a:r>
              <a:rPr lang="en-US" sz="2250" dirty="0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— confused the judge.</a:t>
            </a:r>
            <a:endParaRPr lang="en-US" sz="2250" dirty="0">
              <a:latin typeface="Abadi MT Condensed Light" panose="020B0306030101010103" pitchFamily="34" charset="77"/>
            </a:endParaRPr>
          </a:p>
        </p:txBody>
      </p:sp>
      <p:sp>
        <p:nvSpPr>
          <p:cNvPr id="9" name="Text 7"/>
          <p:cNvSpPr/>
          <p:nvPr/>
        </p:nvSpPr>
        <p:spPr>
          <a:xfrm>
            <a:off x="7252018" y="5994233"/>
            <a:ext cx="10192668" cy="990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250" dirty="0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Whether "safe" or "unsafe" is the right call is genuinely ambiguous — so we model it as its own policy.</a:t>
            </a:r>
            <a:endParaRPr lang="en-US" sz="2250" dirty="0">
              <a:latin typeface="Abadi MT Condensed Light" panose="020B0306030101010103" pitchFamily="34" charset="7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252018" y="6783737"/>
            <a:ext cx="9587376" cy="1621140"/>
          </a:xfrm>
          <a:prstGeom prst="roundRect">
            <a:avLst>
              <a:gd name="adj" fmla="val 15586"/>
            </a:avLst>
          </a:prstGeom>
          <a:solidFill>
            <a:srgbClr val="F3ECE1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554664" y="7163545"/>
            <a:ext cx="9587376" cy="990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→ gives the model meta-capacity to reason about higher-order semantics of the input</a:t>
            </a:r>
            <a:endParaRPr lang="en-US" sz="2000" dirty="0">
              <a:latin typeface="Abadi MT Condensed Light" panose="020B0306030101010103" pitchFamily="34" charset="7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554664" y="7597815"/>
            <a:ext cx="9587376" cy="392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→ lets us filter "nonsense" downstream if we choose</a:t>
            </a:r>
            <a:endParaRPr lang="en-US" sz="2000" dirty="0">
              <a:latin typeface="Abadi MT Condensed Light" panose="020B0306030101010103" pitchFamily="34" charset="77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B86C42BD-D430-0AFF-0A3C-7625646B6D54}"/>
              </a:ext>
            </a:extLst>
          </p:cNvPr>
          <p:cNvSpPr/>
          <p:nvPr/>
        </p:nvSpPr>
        <p:spPr>
          <a:xfrm>
            <a:off x="7252018" y="2802098"/>
            <a:ext cx="10192668" cy="148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000" b="1" dirty="0">
                <a:latin typeface="Abadi MT Condensed Light" panose="020B0306030101010103" pitchFamily="34" charset="77"/>
              </a:rPr>
              <a:t>P0. Nonsensical or Impossible Input: </a:t>
            </a:r>
            <a:r>
              <a:rPr lang="en-US" sz="2000" dirty="0">
                <a:latin typeface="Abadi MT Condensed Light" panose="020B0306030101010103" pitchFamily="34" charset="77"/>
              </a:rPr>
              <a:t>Queries for which no meaningful or quality response exists, including questions premised on false, impossible, or self-contradictory conditions; requests to describe or analyze content absent from the provided image or text; tasks that are logically or physically unanswerable; or inputs </a:t>
            </a:r>
            <a:r>
              <a:rPr lang="en-US" sz="2400" dirty="0">
                <a:latin typeface="Abadi MT Condensed Light" panose="020B0306030101010103" pitchFamily="34" charset="77"/>
              </a:rPr>
              <a:t>whose</a:t>
            </a:r>
            <a:r>
              <a:rPr lang="en-US" sz="2000" dirty="0">
                <a:latin typeface="Abadi MT Condensed Light" panose="020B0306030101010103" pitchFamily="34" charset="77"/>
              </a:rPr>
              <a:t> intent cannot support any coherent, useful answer.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0008" y="587652"/>
            <a:ext cx="18591080" cy="33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336A88"/>
                </a:solidFill>
                <a:latin typeface="Abadi MT Condensed Light" panose="020B0306030101010103" pitchFamily="34" charset="77"/>
                <a:ea typeface="Courier New" pitchFamily="34" charset="-122"/>
                <a:cs typeface="Courier New" pitchFamily="34" charset="-120"/>
              </a:rPr>
              <a:t>V2 · IN PROGRESS</a:t>
            </a:r>
            <a:endParaRPr lang="en-US" sz="1500" dirty="0">
              <a:latin typeface="Abadi MT Condensed Light" panose="020B0306030101010103" pitchFamily="34" charset="77"/>
            </a:endParaRPr>
          </a:p>
        </p:txBody>
      </p:sp>
      <p:sp>
        <p:nvSpPr>
          <p:cNvPr id="3" name="Text 1"/>
          <p:cNvSpPr/>
          <p:nvPr/>
        </p:nvSpPr>
        <p:spPr>
          <a:xfrm>
            <a:off x="690008" y="980698"/>
            <a:ext cx="18591080" cy="587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kern="0" spc="-34" dirty="0">
                <a:solidFill>
                  <a:srgbClr val="20160F"/>
                </a:solidFill>
                <a:latin typeface="Abadi MT Condensed Light" panose="020B0306030101010103" pitchFamily="34" charset="77"/>
                <a:ea typeface="Georgia" pitchFamily="34" charset="-122"/>
                <a:cs typeface="Georgia" pitchFamily="34" charset="-120"/>
              </a:rPr>
              <a:t>Status &amp; next</a:t>
            </a:r>
            <a:endParaRPr lang="en-US" sz="3450" dirty="0">
              <a:latin typeface="Abadi MT Condensed Light" panose="020B0306030101010103" pitchFamily="34" charset="7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90008" y="1727486"/>
            <a:ext cx="16900982" cy="19050"/>
          </a:xfrm>
          <a:prstGeom prst="rect">
            <a:avLst/>
          </a:prstGeom>
          <a:solidFill>
            <a:srgbClr val="CEC6BC"/>
          </a:solidFill>
          <a:ln/>
        </p:spPr>
        <p:txBody>
          <a:bodyPr/>
          <a:lstStyle/>
          <a:p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403240" y="2816700"/>
            <a:ext cx="137566" cy="137566"/>
          </a:xfrm>
          <a:prstGeom prst="ellipse">
            <a:avLst/>
          </a:prstGeom>
          <a:solidFill>
            <a:srgbClr val="336A88"/>
          </a:solidFill>
          <a:ln/>
        </p:spPr>
        <p:txBody>
          <a:bodyPr/>
          <a:lstStyle/>
          <a:p>
            <a:endParaRPr lang="en-US" sz="2400">
              <a:latin typeface="Abadi MT Condensed Light" panose="020B0306030101010103" pitchFamily="34" charset="7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776634" y="2718438"/>
            <a:ext cx="16994846" cy="351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0160F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Running now</a:t>
            </a:r>
            <a:endParaRPr lang="en-US" sz="2400" dirty="0">
              <a:latin typeface="Abadi MT Condensed Light" panose="020B0306030101010103" pitchFamily="34" charset="77"/>
            </a:endParaRPr>
          </a:p>
        </p:txBody>
      </p:sp>
      <p:sp>
        <p:nvSpPr>
          <p:cNvPr id="7" name="Text 5"/>
          <p:cNvSpPr/>
          <p:nvPr/>
        </p:nvSpPr>
        <p:spPr>
          <a:xfrm>
            <a:off x="1776634" y="3052526"/>
            <a:ext cx="16994846" cy="503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800" dirty="0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v2 regeneration on the merged ~187k set — Qwen3.5-397B (thinking), temperature 0, per-row policy shuffle → canonical order</a:t>
            </a:r>
            <a:endParaRPr lang="en-US" sz="2800" dirty="0">
              <a:latin typeface="Abadi MT Condensed Light" panose="020B0306030101010103" pitchFamily="34" charset="7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403240" y="3931968"/>
            <a:ext cx="137566" cy="137566"/>
          </a:xfrm>
          <a:prstGeom prst="ellipse">
            <a:avLst/>
          </a:prstGeom>
          <a:solidFill>
            <a:srgbClr val="CEC6BC"/>
          </a:solidFill>
          <a:ln/>
        </p:spPr>
        <p:txBody>
          <a:bodyPr/>
          <a:lstStyle/>
          <a:p>
            <a:endParaRPr lang="en-US" sz="2400">
              <a:latin typeface="Abadi MT Condensed Light" panose="020B0306030101010103" pitchFamily="34" charset="77"/>
            </a:endParaRPr>
          </a:p>
        </p:txBody>
      </p:sp>
      <p:sp>
        <p:nvSpPr>
          <p:cNvPr id="9" name="Text 7"/>
          <p:cNvSpPr/>
          <p:nvPr/>
        </p:nvSpPr>
        <p:spPr>
          <a:xfrm>
            <a:off x="1776634" y="3833706"/>
            <a:ext cx="6199842" cy="351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0160F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Next</a:t>
            </a:r>
            <a:endParaRPr lang="en-US" sz="2400" dirty="0">
              <a:latin typeface="Abadi MT Condensed Light" panose="020B0306030101010103" pitchFamily="34" charset="7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776633" y="4167794"/>
            <a:ext cx="13115023" cy="503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800" dirty="0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Rebalance splits by policy and by safe / unsafe and potentially difficulty</a:t>
            </a:r>
            <a:endParaRPr lang="en-US" sz="2800" dirty="0">
              <a:latin typeface="Abadi MT Condensed Light" panose="020B0306030101010103" pitchFamily="34" charset="7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403240" y="5047236"/>
            <a:ext cx="137566" cy="137566"/>
          </a:xfrm>
          <a:prstGeom prst="ellipse">
            <a:avLst/>
          </a:prstGeom>
          <a:solidFill>
            <a:srgbClr val="CEC6BC"/>
          </a:solidFill>
          <a:ln/>
        </p:spPr>
        <p:txBody>
          <a:bodyPr/>
          <a:lstStyle/>
          <a:p>
            <a:endParaRPr lang="en-US" sz="2400">
              <a:latin typeface="Abadi MT Condensed Light" panose="020B0306030101010103" pitchFamily="34" charset="7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776634" y="4948974"/>
            <a:ext cx="7440148" cy="351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0160F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Then</a:t>
            </a:r>
            <a:endParaRPr lang="en-US" sz="2400" dirty="0">
              <a:latin typeface="Abadi MT Condensed Light" panose="020B0306030101010103" pitchFamily="34" charset="7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776634" y="5283064"/>
            <a:ext cx="7440148" cy="700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800" dirty="0">
                <a:solidFill>
                  <a:srgbClr val="4B4038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Retrain no-think / think-LoRA / think-SFT variants on v2</a:t>
            </a:r>
            <a:endParaRPr lang="en-US" sz="2800" dirty="0">
              <a:latin typeface="Abadi MT Condensed Light" panose="020B0306030101010103" pitchFamily="34" charset="7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403240" y="6162504"/>
            <a:ext cx="18591080" cy="41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dirty="0">
                <a:solidFill>
                  <a:srgbClr val="72665E"/>
                </a:solidFill>
                <a:latin typeface="Abadi MT Condensed Light" panose="020B0306030101010103" pitchFamily="34" charset="77"/>
                <a:ea typeface="Arial" pitchFamily="34" charset="-122"/>
                <a:cs typeface="Arial" pitchFamily="34" charset="-120"/>
              </a:rPr>
              <a:t>No v2 metrics yet — Labeling in process.</a:t>
            </a:r>
            <a:endParaRPr lang="en-US" sz="2000" dirty="0">
              <a:latin typeface="Abadi MT Condensed Light" panose="020B0306030101010103" pitchFamily="34" charset="7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717</TotalTime>
  <Words>967</Words>
  <Application>Microsoft Macintosh PowerPoint</Application>
  <PresentationFormat>Custom</PresentationFormat>
  <Paragraphs>203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Abadi MT Condensed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Kunj Shah</cp:lastModifiedBy>
  <cp:revision>14</cp:revision>
  <dcterms:created xsi:type="dcterms:W3CDTF">2026-07-08T03:51:56Z</dcterms:created>
  <dcterms:modified xsi:type="dcterms:W3CDTF">2026-07-09T00:02:56Z</dcterms:modified>
</cp:coreProperties>
</file>