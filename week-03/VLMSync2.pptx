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75" r:id="rId3"/>
    <p:sldId id="277" r:id="rId4"/>
    <p:sldId id="259" r:id="rId5"/>
    <p:sldId id="278" r:id="rId6"/>
    <p:sldId id="279" r:id="rId7"/>
    <p:sldId id="263" r:id="rId8"/>
    <p:sldId id="280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1" r:id="rId17"/>
    <p:sldId id="273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/>
    <p:restoredTop sz="94689"/>
  </p:normalViewPr>
  <p:slideViewPr>
    <p:cSldViewPr snapToGrid="0">
      <p:cViewPr varScale="1">
        <p:scale>
          <a:sx n="137" d="100"/>
          <a:sy n="137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358D-AF2A-1C48-DF0C-177A25E5B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1129D-6944-802C-F8F3-A1489ADB0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AD392-F4A7-BECF-14E8-FD379485A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60B74-FDEC-4FB4-3F40-1701FA95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24CAC-0F4D-1196-B42E-56C8831D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0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3E57-9198-C8B2-5227-B7EEF8CA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7A001-F1A1-B7C7-7201-E98472EFC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E5604-E7F6-114E-832A-037A27BBF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6FD4-F75A-812F-B20B-1D143DD3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33A20-CCAE-3BA8-2884-1F7D8F22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2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5181-3D8A-8596-5982-DCB67776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F3E60-837D-3048-2BB0-08A4813C7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741EE-A8A3-825E-6F04-C3012DF3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3933-A355-7D5C-E2DC-49F53B95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D80C6-73CB-28C8-3E6D-7E4F587C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2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0964-756C-C63E-FE54-231501A3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8632-61DE-1D57-B8EF-546A0E4B3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95DF5-105D-214D-C5BF-A37D61064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BD4A-3CB4-CB55-8BF5-62585C8D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C9C6D-11D1-9785-C80C-A2D835F8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0D4E-B50B-9605-091A-A66117F7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5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DCA1-5CA1-3AC0-49E3-07D54058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31D8E-ABF3-FF58-6B6F-4F559ABD6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447D8-0E38-0179-35A1-097C11DC1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06FE8-EF59-D82F-C053-C239DA8BC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53BAE-89F7-440D-8A44-E4A1BC660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D8506-B8EC-4408-CB12-6CFDDB8B1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C0D79-22DD-7C1D-AFEC-9C833A06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A34AF-8902-54A2-860F-7DA38A6A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4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389F-2582-5700-0EAB-C33D3586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35049-2F44-B697-E488-516CF0BC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D5730-6239-EF20-8040-3D721187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19B35-C364-6219-A265-3E9300C3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9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0A3B3-7A4F-1E8B-0BA3-5B6E1F32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43184-AB8E-B33D-D04F-3905327E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7D324-227B-B5DB-55D1-F0229C99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8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C9FC-9027-8A8F-3B3A-4DA483B1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0525-587E-F7FE-9A3A-82C0685D1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26E78-0EA6-76AA-964E-814A34CE0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7A51B-3AAF-CB9E-BC33-EF1DFA78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5B535-44C3-97B9-47B6-822CEC49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43FA2-E2D7-B87D-A0F2-C84393DA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9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3772-3252-C74A-5E2A-AD93740E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F1188-684F-F8B7-73A7-FF4805AC1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EEC36-BCB8-4F09-A060-BEE06CD26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7AF9C-6127-CDF5-6CD4-212A00E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C9478-D45D-9EF8-A44B-DEA673D5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D07A7-E46E-98A0-B258-4A0EA1A9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8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8E71-6447-2D46-6809-4520ED43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8A273-3F43-9A52-64E1-E36683785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CCF5-2920-D959-AD96-E4B2928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D83D3-6409-29F1-7DD5-E65E1D58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449F9-1E52-052C-5362-C4908E50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2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A95ED-0FD3-8120-C0AB-AD33251FF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1873D-805E-2E6A-B38A-F70B21B5D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752D3-352D-A3AD-93A7-8DD496EF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0F196-769F-F2FC-573D-C040F3C8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CD34-702D-36D1-80AD-2D87025F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4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0E3CD-9999-4F66-CD4B-138A8992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77299-3AC1-8693-E803-B5CA6759C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31CC-0070-EB36-C4DF-E46CE4EC9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A9E3D-F5BD-3D43-A817-F89444A664AD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BAB1-E7F7-9ED2-1C80-0DF7B60B5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3622A-3621-B3B3-9F70-4DE497965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7B8C9-C3F6-F747-ADDE-51CB2714D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2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2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2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642136-F7E3-2B48-BEE1-7A879C58696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D5507-8DD9-6D48-9F0D-0DFE91DA2382}"/>
              </a:ext>
            </a:extLst>
          </p:cNvPr>
          <p:cNvSpPr txBox="1"/>
          <p:nvPr/>
        </p:nvSpPr>
        <p:spPr>
          <a:xfrm>
            <a:off x="762000" y="1016000"/>
            <a:ext cx="508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B7A99"/>
                </a:solidFill>
                <a:latin typeface="Calibri"/>
                <a:cs typeface="Calibri"/>
              </a:rPr>
              <a:t>Run pipelinev2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16B88-D628-164D-B1EB-5D4F04CB2475}"/>
              </a:ext>
            </a:extLst>
          </p:cNvPr>
          <p:cNvSpPr txBox="1"/>
          <p:nvPr/>
        </p:nvSpPr>
        <p:spPr>
          <a:xfrm>
            <a:off x="762000" y="2032000"/>
            <a:ext cx="1066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2233"/>
                </a:solidFill>
                <a:latin typeface="Cambria"/>
              </a:rPr>
              <a:t>Multimodal Input-Guardrail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F0515-52F2-C84E-A3A0-20872D46F830}"/>
              </a:ext>
            </a:extLst>
          </p:cNvPr>
          <p:cNvSpPr txBox="1"/>
          <p:nvPr/>
        </p:nvSpPr>
        <p:spPr>
          <a:xfrm>
            <a:off x="762000" y="2794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1F4E79"/>
                </a:solidFill>
                <a:latin typeface="Cambria"/>
              </a:rPr>
              <a:t>An Analysis of Guardrail Agreement &amp; Verification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10F29-01BD-4B47-9987-E90E33F38D09}"/>
              </a:ext>
            </a:extLst>
          </p:cNvPr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25691-0AB0-C348-8742-A7F15807FE3F}"/>
              </a:ext>
            </a:extLst>
          </p:cNvPr>
          <p:cNvSpPr txBox="1"/>
          <p:nvPr/>
        </p:nvSpPr>
        <p:spPr>
          <a:xfrm>
            <a:off x="762000" y="3937000"/>
            <a:ext cx="1066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1A2233"/>
                </a:solidFill>
                <a:latin typeface="Calibri"/>
                <a:cs typeface="Calibri"/>
              </a:rPr>
              <a:t>How well do Claude and Qwen guardrails align, and can Gemma tell us when to trust them?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7D0C1-66FB-6947-98A0-A7DB026D95A6}"/>
              </a:ext>
            </a:extLst>
          </p:cNvPr>
          <p:cNvSpPr txBox="1"/>
          <p:nvPr/>
        </p:nvSpPr>
        <p:spPr>
          <a:xfrm>
            <a:off x="762000" y="6096000"/>
            <a:ext cx="1066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Run pipelinev1   •   2026-06-08   •   12 multimodal safety datasets   •   1184 records   •   1142 matched</a:t>
            </a:r>
          </a:p>
        </p:txBody>
      </p:sp>
    </p:spTree>
    <p:extLst>
      <p:ext uri="{BB962C8B-B14F-4D97-AF65-F5344CB8AC3E}">
        <p14:creationId xmlns:p14="http://schemas.microsoft.com/office/powerpoint/2010/main" val="327751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8702CB-A392-564A-BFCE-9C67C19DA4A5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A7D07-E3F1-0442-B4B4-DE60A3607426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1F4E79"/>
                </a:solidFill>
                <a:latin typeface="Cambria"/>
              </a:rPr>
              <a:t>Policy Taxonomy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11D4E-4028-3B4B-BFD8-34A1138722D0}"/>
              </a:ext>
            </a:extLst>
          </p:cNvPr>
          <p:cNvSpPr txBox="1"/>
          <p:nvPr/>
        </p:nvSpPr>
        <p:spPr>
          <a:xfrm>
            <a:off x="762000" y="12954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5B7A99"/>
                </a:solidFill>
              </a:rPr>
              <a:t>24 policies labeled P1–P24. Their order is permuted randomly before each call so guardrails cannot anchor on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46536-DDD5-FF49-BBFC-3AFB0AE3DA46}"/>
              </a:ext>
            </a:extLst>
          </p:cNvPr>
          <p:cNvSpPr/>
          <p:nvPr/>
        </p:nvSpPr>
        <p:spPr>
          <a:xfrm>
            <a:off x="762000" y="1752600"/>
            <a:ext cx="10668000" cy="12700"/>
          </a:xfrm>
          <a:prstGeom prst="rect">
            <a:avLst/>
          </a:prstGeom>
          <a:solidFill>
            <a:srgbClr val="B8C3C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B9B0B-B464-FA4D-8DBA-17963A6CCEC4}"/>
              </a:ext>
            </a:extLst>
          </p:cNvPr>
          <p:cNvSpPr txBox="1"/>
          <p:nvPr/>
        </p:nvSpPr>
        <p:spPr>
          <a:xfrm>
            <a:off x="762000" y="19050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2488F-48E6-0847-91FF-5383685F72F9}"/>
              </a:ext>
            </a:extLst>
          </p:cNvPr>
          <p:cNvSpPr txBox="1"/>
          <p:nvPr/>
        </p:nvSpPr>
        <p:spPr>
          <a:xfrm>
            <a:off x="1270000" y="19050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Prompt Injection, Jailbreaks &amp; Obfuscation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F083E-E993-AB47-B95E-9B4E684C7407}"/>
              </a:ext>
            </a:extLst>
          </p:cNvPr>
          <p:cNvSpPr txBox="1"/>
          <p:nvPr/>
        </p:nvSpPr>
        <p:spPr>
          <a:xfrm>
            <a:off x="4318000" y="19050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B56AB-BA5D-5749-8948-DE1405525026}"/>
              </a:ext>
            </a:extLst>
          </p:cNvPr>
          <p:cNvSpPr txBox="1"/>
          <p:nvPr/>
        </p:nvSpPr>
        <p:spPr>
          <a:xfrm>
            <a:off x="4826000" y="19050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System Prompt &amp; Guardrail Leakage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489636-61D8-3641-AE5E-19E0E6E28058}"/>
              </a:ext>
            </a:extLst>
          </p:cNvPr>
          <p:cNvSpPr txBox="1"/>
          <p:nvPr/>
        </p:nvSpPr>
        <p:spPr>
          <a:xfrm>
            <a:off x="7874000" y="19050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FD7C2B-93EB-E74C-A2B4-8C1EA44D09CF}"/>
              </a:ext>
            </a:extLst>
          </p:cNvPr>
          <p:cNvSpPr txBox="1"/>
          <p:nvPr/>
        </p:nvSpPr>
        <p:spPr>
          <a:xfrm>
            <a:off x="8382000" y="19050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Model Denial of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F7DD8A-B8E0-6642-B48D-D166198B9D56}"/>
              </a:ext>
            </a:extLst>
          </p:cNvPr>
          <p:cNvSpPr txBox="1"/>
          <p:nvPr/>
        </p:nvSpPr>
        <p:spPr>
          <a:xfrm>
            <a:off x="762000" y="24892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AE6E77-476A-3540-9CD5-A3B6ED72F679}"/>
              </a:ext>
            </a:extLst>
          </p:cNvPr>
          <p:cNvSpPr txBox="1"/>
          <p:nvPr/>
        </p:nvSpPr>
        <p:spPr>
          <a:xfrm>
            <a:off x="1270000" y="24892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Cyber Abuse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49C2A-9586-9A40-A782-9B057BEA6DD6}"/>
              </a:ext>
            </a:extLst>
          </p:cNvPr>
          <p:cNvSpPr txBox="1"/>
          <p:nvPr/>
        </p:nvSpPr>
        <p:spPr>
          <a:xfrm>
            <a:off x="4318000" y="24892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0BCA15-D3A0-1C42-A4AE-BA1AE1BE5A57}"/>
              </a:ext>
            </a:extLst>
          </p:cNvPr>
          <p:cNvSpPr txBox="1"/>
          <p:nvPr/>
        </p:nvSpPr>
        <p:spPr>
          <a:xfrm>
            <a:off x="4826000" y="24892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Platform Anti-Abuse Circumvention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CDA48-A89E-7547-9966-944FBBCB327B}"/>
              </a:ext>
            </a:extLst>
          </p:cNvPr>
          <p:cNvSpPr txBox="1"/>
          <p:nvPr/>
        </p:nvSpPr>
        <p:spPr>
          <a:xfrm>
            <a:off x="7874000" y="24892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06ACD2-15AE-3A4A-80E9-B292318CDB3C}"/>
              </a:ext>
            </a:extLst>
          </p:cNvPr>
          <p:cNvSpPr txBox="1"/>
          <p:nvPr/>
        </p:nvSpPr>
        <p:spPr>
          <a:xfrm>
            <a:off x="8382000" y="24892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Digital Credentials, Secrets &amp; Confidential Info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DF880-99B8-F74B-8849-C26CD4794408}"/>
              </a:ext>
            </a:extLst>
          </p:cNvPr>
          <p:cNvSpPr txBox="1"/>
          <p:nvPr/>
        </p:nvSpPr>
        <p:spPr>
          <a:xfrm>
            <a:off x="762000" y="30734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C13B99-EA52-AC46-B6A4-251C4D6F7F09}"/>
              </a:ext>
            </a:extLst>
          </p:cNvPr>
          <p:cNvSpPr txBox="1"/>
          <p:nvPr/>
        </p:nvSpPr>
        <p:spPr>
          <a:xfrm>
            <a:off x="1270000" y="3073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Sensitive Personal Information &amp; PII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76750A-34AE-B74A-977F-AE20930AE2EE}"/>
              </a:ext>
            </a:extLst>
          </p:cNvPr>
          <p:cNvSpPr txBox="1"/>
          <p:nvPr/>
        </p:nvSpPr>
        <p:spPr>
          <a:xfrm>
            <a:off x="4318000" y="30734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BF18F-F2B4-9947-93A0-8399C0983D47}"/>
              </a:ext>
            </a:extLst>
          </p:cNvPr>
          <p:cNvSpPr txBox="1"/>
          <p:nvPr/>
        </p:nvSpPr>
        <p:spPr>
          <a:xfrm>
            <a:off x="4826000" y="3073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Copyright, Plagiarism &amp; Unauthorized Reproduction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0952F7-D209-1B4F-BADA-2030A72BB9F1}"/>
              </a:ext>
            </a:extLst>
          </p:cNvPr>
          <p:cNvSpPr txBox="1"/>
          <p:nvPr/>
        </p:nvSpPr>
        <p:spPr>
          <a:xfrm>
            <a:off x="7874000" y="30734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B89559-DEA8-D84A-BAB1-6E97EC11D0E1}"/>
              </a:ext>
            </a:extLst>
          </p:cNvPr>
          <p:cNvSpPr txBox="1"/>
          <p:nvPr/>
        </p:nvSpPr>
        <p:spPr>
          <a:xfrm>
            <a:off x="8382000" y="3073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Misinformation &amp; Civic Deception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5D065B-D654-264B-8DA4-571C79C5CCFD}"/>
              </a:ext>
            </a:extLst>
          </p:cNvPr>
          <p:cNvSpPr txBox="1"/>
          <p:nvPr/>
        </p:nvSpPr>
        <p:spPr>
          <a:xfrm>
            <a:off x="762000" y="36576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167542-0E90-F54D-8E33-ED3B5B6F874A}"/>
              </a:ext>
            </a:extLst>
          </p:cNvPr>
          <p:cNvSpPr txBox="1"/>
          <p:nvPr/>
        </p:nvSpPr>
        <p:spPr>
          <a:xfrm>
            <a:off x="1270000" y="36576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Synthetic Media, Impersonation &amp; Defamation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C1E1A9-7294-5E45-B732-0436FF16AC66}"/>
              </a:ext>
            </a:extLst>
          </p:cNvPr>
          <p:cNvSpPr txBox="1"/>
          <p:nvPr/>
        </p:nvSpPr>
        <p:spPr>
          <a:xfrm>
            <a:off x="4318000" y="36576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45315F-9C32-2948-85A3-A71AC2995C0D}"/>
              </a:ext>
            </a:extLst>
          </p:cNvPr>
          <p:cNvSpPr txBox="1"/>
          <p:nvPr/>
        </p:nvSpPr>
        <p:spPr>
          <a:xfrm>
            <a:off x="4826000" y="36576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Hate &amp; Discriminatory Abuse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9903BE-BA64-5140-ABF9-1FAD9B4FA76B}"/>
              </a:ext>
            </a:extLst>
          </p:cNvPr>
          <p:cNvSpPr txBox="1"/>
          <p:nvPr/>
        </p:nvSpPr>
        <p:spPr>
          <a:xfrm>
            <a:off x="7874000" y="36576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E29C05-575E-F746-AF5E-67BA83B267F1}"/>
              </a:ext>
            </a:extLst>
          </p:cNvPr>
          <p:cNvSpPr txBox="1"/>
          <p:nvPr/>
        </p:nvSpPr>
        <p:spPr>
          <a:xfrm>
            <a:off x="8382000" y="36576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Harassment, Coercion &amp; Targeted Abuse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47B6C7-2B85-3846-A0E2-465A39845E72}"/>
              </a:ext>
            </a:extLst>
          </p:cNvPr>
          <p:cNvSpPr txBox="1"/>
          <p:nvPr/>
        </p:nvSpPr>
        <p:spPr>
          <a:xfrm>
            <a:off x="762000" y="42418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D53B2D-F9E4-C54C-B244-317D82726FDC}"/>
              </a:ext>
            </a:extLst>
          </p:cNvPr>
          <p:cNvSpPr txBox="1"/>
          <p:nvPr/>
        </p:nvSpPr>
        <p:spPr>
          <a:xfrm>
            <a:off x="1270000" y="42418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Violence &amp; Physical Harm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B43612-4B71-B74E-BDD6-5AD70C528F16}"/>
              </a:ext>
            </a:extLst>
          </p:cNvPr>
          <p:cNvSpPr txBox="1"/>
          <p:nvPr/>
        </p:nvSpPr>
        <p:spPr>
          <a:xfrm>
            <a:off x="4318000" y="42418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B46F55-D7CA-D041-8873-08C96546673F}"/>
              </a:ext>
            </a:extLst>
          </p:cNvPr>
          <p:cNvSpPr txBox="1"/>
          <p:nvPr/>
        </p:nvSpPr>
        <p:spPr>
          <a:xfrm>
            <a:off x="4826000" y="42418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Reckless Endangerment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550AE7-8022-CE45-A894-9B1A5527737B}"/>
              </a:ext>
            </a:extLst>
          </p:cNvPr>
          <p:cNvSpPr txBox="1"/>
          <p:nvPr/>
        </p:nvSpPr>
        <p:spPr>
          <a:xfrm>
            <a:off x="7874000" y="42418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9C604E-9ABD-5341-8890-EEAF707FC98E}"/>
              </a:ext>
            </a:extLst>
          </p:cNvPr>
          <p:cNvSpPr txBox="1"/>
          <p:nvPr/>
        </p:nvSpPr>
        <p:spPr>
          <a:xfrm>
            <a:off x="8382000" y="42418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Self-Harm &amp; Suicide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06A91-A3B7-5649-A077-BFD85A562E54}"/>
              </a:ext>
            </a:extLst>
          </p:cNvPr>
          <p:cNvSpPr txBox="1"/>
          <p:nvPr/>
        </p:nvSpPr>
        <p:spPr>
          <a:xfrm>
            <a:off x="762000" y="48260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07749F-9866-9A4A-B299-5561E3DF00BF}"/>
              </a:ext>
            </a:extLst>
          </p:cNvPr>
          <p:cNvSpPr txBox="1"/>
          <p:nvPr/>
        </p:nvSpPr>
        <p:spPr>
          <a:xfrm>
            <a:off x="1270000" y="48260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Sexual Content &amp; Pornography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149BDD-A7A6-314E-90A9-279C241C8E23}"/>
              </a:ext>
            </a:extLst>
          </p:cNvPr>
          <p:cNvSpPr txBox="1"/>
          <p:nvPr/>
        </p:nvSpPr>
        <p:spPr>
          <a:xfrm>
            <a:off x="4318000" y="48260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6D9048-D5E8-4347-B10F-2690B8F12BA2}"/>
              </a:ext>
            </a:extLst>
          </p:cNvPr>
          <p:cNvSpPr txBox="1"/>
          <p:nvPr/>
        </p:nvSpPr>
        <p:spPr>
          <a:xfrm>
            <a:off x="4826000" y="48260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Sexual Exploitation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92F909-D3CB-BC4F-9A93-1A2FBFA3402A}"/>
              </a:ext>
            </a:extLst>
          </p:cNvPr>
          <p:cNvSpPr txBox="1"/>
          <p:nvPr/>
        </p:nvSpPr>
        <p:spPr>
          <a:xfrm>
            <a:off x="7874000" y="48260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2F9243-C3D3-A64D-BDC2-0B3CB4888F63}"/>
              </a:ext>
            </a:extLst>
          </p:cNvPr>
          <p:cNvSpPr txBox="1"/>
          <p:nvPr/>
        </p:nvSpPr>
        <p:spPr>
          <a:xfrm>
            <a:off x="8382000" y="48260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Child Safety &amp; Minor Exploitation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DB1526-5D6E-394E-A92E-E254BFFC1E7A}"/>
              </a:ext>
            </a:extLst>
          </p:cNvPr>
          <p:cNvSpPr txBox="1"/>
          <p:nvPr/>
        </p:nvSpPr>
        <p:spPr>
          <a:xfrm>
            <a:off x="762000" y="54102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199B47-4991-A84B-B3C0-36E32A790299}"/>
              </a:ext>
            </a:extLst>
          </p:cNvPr>
          <p:cNvSpPr txBox="1"/>
          <p:nvPr/>
        </p:nvSpPr>
        <p:spPr>
          <a:xfrm>
            <a:off x="1270000" y="54102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Weapons, CBRN &amp; Dangerous Materials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CA3837-66FC-E045-9799-96EA13E084CF}"/>
              </a:ext>
            </a:extLst>
          </p:cNvPr>
          <p:cNvSpPr txBox="1"/>
          <p:nvPr/>
        </p:nvSpPr>
        <p:spPr>
          <a:xfrm>
            <a:off x="4318000" y="54102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23B837-B0A8-DE48-A2BA-B436FE3F2C28}"/>
              </a:ext>
            </a:extLst>
          </p:cNvPr>
          <p:cNvSpPr txBox="1"/>
          <p:nvPr/>
        </p:nvSpPr>
        <p:spPr>
          <a:xfrm>
            <a:off x="4826000" y="54102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Substance Misuse &amp; Regulated Goods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536E3F-E17A-0049-9B21-109B1B2A6291}"/>
              </a:ext>
            </a:extLst>
          </p:cNvPr>
          <p:cNvSpPr txBox="1"/>
          <p:nvPr/>
        </p:nvSpPr>
        <p:spPr>
          <a:xfrm>
            <a:off x="7874000" y="54102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6D8C19-F014-A643-8B43-F25C4B547A06}"/>
              </a:ext>
            </a:extLst>
          </p:cNvPr>
          <p:cNvSpPr txBox="1"/>
          <p:nvPr/>
        </p:nvSpPr>
        <p:spPr>
          <a:xfrm>
            <a:off x="8382000" y="54102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Animal &amp; Environmental Harm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547F1D-DE65-6549-928B-452E8A6668E5}"/>
              </a:ext>
            </a:extLst>
          </p:cNvPr>
          <p:cNvSpPr txBox="1"/>
          <p:nvPr/>
        </p:nvSpPr>
        <p:spPr>
          <a:xfrm>
            <a:off x="762000" y="59944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9C32EA-322F-4F45-9B06-9FD19E20A263}"/>
              </a:ext>
            </a:extLst>
          </p:cNvPr>
          <p:cNvSpPr txBox="1"/>
          <p:nvPr/>
        </p:nvSpPr>
        <p:spPr>
          <a:xfrm>
            <a:off x="1270000" y="5994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Regulated Professional Advice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018E38-B591-3C43-BD3B-0BDDA789E754}"/>
              </a:ext>
            </a:extLst>
          </p:cNvPr>
          <p:cNvSpPr txBox="1"/>
          <p:nvPr/>
        </p:nvSpPr>
        <p:spPr>
          <a:xfrm>
            <a:off x="4318000" y="59944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C8000A-FA3E-EA4C-A465-35ECD4D9F38A}"/>
              </a:ext>
            </a:extLst>
          </p:cNvPr>
          <p:cNvSpPr txBox="1"/>
          <p:nvPr/>
        </p:nvSpPr>
        <p:spPr>
          <a:xfrm>
            <a:off x="4826000" y="5994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Fraud, Scams, Forgery &amp; Property Crime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60C914-2DA2-1243-8A56-2CDBA4531464}"/>
              </a:ext>
            </a:extLst>
          </p:cNvPr>
          <p:cNvSpPr txBox="1"/>
          <p:nvPr/>
        </p:nvSpPr>
        <p:spPr>
          <a:xfrm>
            <a:off x="7874000" y="5994400"/>
            <a:ext cx="45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P24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01C674-5D99-8C41-B443-476A60ADCDCE}"/>
              </a:ext>
            </a:extLst>
          </p:cNvPr>
          <p:cNvSpPr txBox="1"/>
          <p:nvPr/>
        </p:nvSpPr>
        <p:spPr>
          <a:xfrm>
            <a:off x="8382000" y="5994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A2233"/>
                </a:solidFill>
                <a:latin typeface="Calibri"/>
                <a:cs typeface="Calibri"/>
              </a:rPr>
              <a:t>Academic Dishonesty</a:t>
            </a:r>
          </a:p>
        </p:txBody>
      </p:sp>
    </p:spTree>
    <p:extLst>
      <p:ext uri="{BB962C8B-B14F-4D97-AF65-F5344CB8AC3E}">
        <p14:creationId xmlns:p14="http://schemas.microsoft.com/office/powerpoint/2010/main" val="364148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F3FDFCE-549F-6B42-B00C-12C712C42FE6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8E1365-F44D-004F-BBD2-E0403534101D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Setup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E182FB-08EB-1D4B-80CB-9459C8B73E5B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B7280"/>
                </a:solidFill>
                <a:latin typeface="Calibri"/>
                <a:cs typeface="Calibri"/>
              </a:rPr>
              <a:t>The only methodology slide — the rest is analysis.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3B72B3-4518-D742-A7E5-865FDA034D05}"/>
              </a:ext>
            </a:extLst>
          </p:cNvPr>
          <p:cNvSpPr txBox="1"/>
          <p:nvPr/>
        </p:nvSpPr>
        <p:spPr>
          <a:xfrm>
            <a:off x="762000" y="18415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Task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146667-09D6-394E-9624-658C2CBF8D65}"/>
              </a:ext>
            </a:extLst>
          </p:cNvPr>
          <p:cNvSpPr txBox="1"/>
          <p:nvPr/>
        </p:nvSpPr>
        <p:spPr>
          <a:xfrm>
            <a:off x="2540000" y="1841500"/>
            <a:ext cx="8890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An input guardrail labels each multimodal user input (text + image) as safe or unsafe against a fixed policy taxonomy </a:t>
            </a:r>
          </a:p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(</a:t>
            </a:r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P1–P24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: prompt injection, CBRN, CSAM, self-harm, hate, PII, malware…) before it reaches the model.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5015EF-8A00-B745-AD9F-C3A4303B0DBE}"/>
              </a:ext>
            </a:extLst>
          </p:cNvPr>
          <p:cNvSpPr/>
          <p:nvPr/>
        </p:nvSpPr>
        <p:spPr>
          <a:xfrm>
            <a:off x="762000" y="27559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96A34-987B-904A-ABEF-55F4762E4ED4}"/>
              </a:ext>
            </a:extLst>
          </p:cNvPr>
          <p:cNvSpPr txBox="1"/>
          <p:nvPr/>
        </p:nvSpPr>
        <p:spPr>
          <a:xfrm>
            <a:off x="762000" y="28575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92391F-0632-6749-B126-745065E87C29}"/>
              </a:ext>
            </a:extLst>
          </p:cNvPr>
          <p:cNvSpPr txBox="1"/>
          <p:nvPr/>
        </p:nvSpPr>
        <p:spPr>
          <a:xfrm>
            <a:off x="2540000" y="2857500"/>
            <a:ext cx="8890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Claude-Opus-4.8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and </a:t>
            </a:r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Qwen3.5-4B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are independent guardrails. </a:t>
            </a:r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google/gemma-4-31b-it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is a verifier that reads Claude's verdicts and emits agree / disagree. Gemma never sees Qwen.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F0F986-71DD-D54C-8FAA-620EF2EA40ED}"/>
              </a:ext>
            </a:extLst>
          </p:cNvPr>
          <p:cNvSpPr/>
          <p:nvPr/>
        </p:nvSpPr>
        <p:spPr>
          <a:xfrm>
            <a:off x="762000" y="37719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003B77-EF92-0D44-8C55-2612999189E4}"/>
              </a:ext>
            </a:extLst>
          </p:cNvPr>
          <p:cNvSpPr txBox="1"/>
          <p:nvPr/>
        </p:nvSpPr>
        <p:spPr>
          <a:xfrm>
            <a:off x="762000" y="38735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Comparison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D33F98-DE6A-8548-B941-25F0751D206D}"/>
              </a:ext>
            </a:extLst>
          </p:cNvPr>
          <p:cNvSpPr txBox="1"/>
          <p:nvPr/>
        </p:nvSpPr>
        <p:spPr>
          <a:xfrm>
            <a:off x="2540000" y="3873500"/>
            <a:ext cx="8890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Qwen vs. Gemma-verified-Claude.   Flow:  Claude outputs → Verification through Gemma ┐</a:t>
            </a:r>
          </a:p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				           	             Qwen outputs ┘  → Evaluation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62C9BC-5FFB-3843-B992-5F5B2B08A02C}"/>
              </a:ext>
            </a:extLst>
          </p:cNvPr>
          <p:cNvSpPr/>
          <p:nvPr/>
        </p:nvSpPr>
        <p:spPr>
          <a:xfrm>
            <a:off x="762000" y="47879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D544C0-0B7D-6940-8A2C-93DCB40B03AE}"/>
              </a:ext>
            </a:extLst>
          </p:cNvPr>
          <p:cNvSpPr txBox="1"/>
          <p:nvPr/>
        </p:nvSpPr>
        <p:spPr>
          <a:xfrm>
            <a:off x="762000" y="48895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Scope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0362EC-8966-EC4A-B5A0-92E96DD55907}"/>
              </a:ext>
            </a:extLst>
          </p:cNvPr>
          <p:cNvSpPr txBox="1"/>
          <p:nvPr/>
        </p:nvSpPr>
        <p:spPr>
          <a:xfrm>
            <a:off x="2540000" y="4889500"/>
            <a:ext cx="8890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12 datasets, ~100 records each.   1184 total, 1142 with a binary verdict from both guardrails (96.4% coverage). </a:t>
            </a:r>
          </a:p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Verdict labels: safe/unsafe.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66C969-FB09-BE4D-B19F-2D8B7B29B0E8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8BB482-6844-6C4A-A3F1-DF96A494954E}"/>
              </a:ext>
            </a:extLst>
          </p:cNvPr>
          <p:cNvSpPr txBox="1"/>
          <p:nvPr/>
        </p:nvSpPr>
        <p:spPr>
          <a:xfrm>
            <a:off x="990600" y="6070600"/>
            <a:ext cx="1041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Two independent labelers + one external auditor over 1184 multimodal safety cases.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4CF858-EDBB-E144-B1A9-C9D0014E5C98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2855251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94A28A5-E82F-AD4D-8A4E-6EB513D69A3A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FA10C4-4959-6A4A-9A54-7E876D919248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Executive Analysis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66AB4A-BE8B-834B-891F-6C2081B1EFEA}"/>
              </a:ext>
            </a:extLst>
          </p:cNvPr>
          <p:cNvSpPr txBox="1"/>
          <p:nvPr/>
        </p:nvSpPr>
        <p:spPr>
          <a:xfrm>
            <a:off x="762000" y="1714500"/>
            <a:ext cx="3810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200" b="1">
                <a:solidFill>
                  <a:srgbClr val="1F4E79"/>
                </a:solidFill>
                <a:latin typeface="Cambria"/>
              </a:rPr>
              <a:t>81.8%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081801-FA2D-B845-99CC-D6B9E28A9320}"/>
              </a:ext>
            </a:extLst>
          </p:cNvPr>
          <p:cNvSpPr txBox="1"/>
          <p:nvPr/>
        </p:nvSpPr>
        <p:spPr>
          <a:xfrm>
            <a:off x="762000" y="2819400"/>
            <a:ext cx="635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Claude–Qwen raw agreement   ·   934 / 1142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414E2A-047B-6A4E-8A8E-78AA0293494D}"/>
              </a:ext>
            </a:extLst>
          </p:cNvPr>
          <p:cNvSpPr txBox="1"/>
          <p:nvPr/>
        </p:nvSpPr>
        <p:spPr>
          <a:xfrm>
            <a:off x="7620000" y="1968500"/>
            <a:ext cx="381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3600" b="1">
                <a:solidFill>
                  <a:srgbClr val="1A2233"/>
                </a:solidFill>
                <a:latin typeface="Cambria"/>
              </a:rPr>
              <a:t>κ = </a:t>
            </a:r>
            <a:r>
              <a:rPr lang="en-US" sz="3600" b="1">
                <a:solidFill>
                  <a:srgbClr val="1A2233"/>
                </a:solidFill>
                <a:latin typeface="Cambria"/>
              </a:rPr>
              <a:t>0.619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DA10AB-5403-934E-95C7-B4824C9B85C3}"/>
              </a:ext>
            </a:extLst>
          </p:cNvPr>
          <p:cNvSpPr txBox="1"/>
          <p:nvPr/>
        </p:nvSpPr>
        <p:spPr>
          <a:xfrm>
            <a:off x="7620000" y="2565400"/>
            <a:ext cx="381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Cohen's </a:t>
            </a:r>
            <a:r>
              <a:rPr lang="el-GR" sz="1200">
                <a:solidFill>
                  <a:srgbClr val="6B7280"/>
                </a:solidFill>
                <a:latin typeface="Calibri"/>
                <a:cs typeface="Calibri"/>
              </a:rPr>
              <a:t>κ — </a:t>
            </a:r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Substantial
just above the 0.61 "substantial" line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0B4947-24F7-004B-B0F4-AFC08C3BB98F}"/>
              </a:ext>
            </a:extLst>
          </p:cNvPr>
          <p:cNvSpPr/>
          <p:nvPr/>
        </p:nvSpPr>
        <p:spPr>
          <a:xfrm>
            <a:off x="762000" y="34925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31CD5B-4455-884B-B999-BDAB6B1A4E0A}"/>
              </a:ext>
            </a:extLst>
          </p:cNvPr>
          <p:cNvSpPr txBox="1"/>
          <p:nvPr/>
        </p:nvSpPr>
        <p:spPr>
          <a:xfrm>
            <a:off x="762000" y="38735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5842C9-5DED-A546-9F0C-7824BE3B4FFD}"/>
              </a:ext>
            </a:extLst>
          </p:cNvPr>
          <p:cNvSpPr txBox="1"/>
          <p:nvPr/>
        </p:nvSpPr>
        <p:spPr>
          <a:xfrm>
            <a:off x="1460500" y="3873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Qwen is systematically stricter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8C258D-8E23-5446-83E4-AC3BFA3BB641}"/>
              </a:ext>
            </a:extLst>
          </p:cNvPr>
          <p:cNvSpPr txBox="1"/>
          <p:nvPr/>
        </p:nvSpPr>
        <p:spPr>
          <a:xfrm>
            <a:off x="6477000" y="3873500"/>
            <a:ext cx="4953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~2.2× more disagreement via over-flagging than under-flagging.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1E031A-1C7D-5442-90BE-1D4388FB80B9}"/>
              </a:ext>
            </a:extLst>
          </p:cNvPr>
          <p:cNvSpPr txBox="1"/>
          <p:nvPr/>
        </p:nvSpPr>
        <p:spPr>
          <a:xfrm>
            <a:off x="762000" y="44323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D1CFB4-CB38-224B-AFAA-9BE35F98F1C3}"/>
              </a:ext>
            </a:extLst>
          </p:cNvPr>
          <p:cNvSpPr txBox="1"/>
          <p:nvPr/>
        </p:nvSpPr>
        <p:spPr>
          <a:xfrm>
            <a:off x="1460500" y="4432300"/>
            <a:ext cx="4826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Gemma broadly supports Claude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073371-93AE-0945-ABD7-C09B9CEAFC69}"/>
              </a:ext>
            </a:extLst>
          </p:cNvPr>
          <p:cNvSpPr txBox="1"/>
          <p:nvPr/>
        </p:nvSpPr>
        <p:spPr>
          <a:xfrm>
            <a:off x="6477000" y="4432300"/>
            <a:ext cx="4953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92.4% agreement.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AD5C1F-BBA5-1B44-9EBD-971E5A9BC2F2}"/>
              </a:ext>
            </a:extLst>
          </p:cNvPr>
          <p:cNvSpPr txBox="1"/>
          <p:nvPr/>
        </p:nvSpPr>
        <p:spPr>
          <a:xfrm>
            <a:off x="762000" y="49911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B92388-FDD2-D441-9A56-F3213F431635}"/>
              </a:ext>
            </a:extLst>
          </p:cNvPr>
          <p:cNvSpPr txBox="1"/>
          <p:nvPr/>
        </p:nvSpPr>
        <p:spPr>
          <a:xfrm>
            <a:off x="1460500" y="49911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Gemma signals confidence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B4D588-89A9-8A45-A591-8F5AFF39A947}"/>
              </a:ext>
            </a:extLst>
          </p:cNvPr>
          <p:cNvSpPr txBox="1"/>
          <p:nvPr/>
        </p:nvSpPr>
        <p:spPr>
          <a:xfrm>
            <a:off x="6477000" y="4991100"/>
            <a:ext cx="4953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Claude–Qwen agreement: 81.9% when Gemma backs, 76.0% when it disagrees.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457288-A3DE-8A4E-9CF7-A30E45639F12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0FD6DB-40F5-924E-B017-DC7710EC7786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Disagreement is real but structured — and largely predictable from Gemma.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EAE55E-0343-9047-B458-A69FA87B3226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370267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3E299C-31A2-F445-BAE2-5B2B78F8A462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5F00D-82F8-A442-AAAD-65B370E2AE47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Verdict Distributions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267749-CEDA-A64E-8362-073019FDC0AA}"/>
              </a:ext>
            </a:extLst>
          </p:cNvPr>
          <p:cNvSpPr txBox="1"/>
          <p:nvPr/>
        </p:nvSpPr>
        <p:spPr>
          <a:xfrm>
            <a:off x="762000" y="1714500"/>
            <a:ext cx="5080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400" b="1">
                <a:solidFill>
                  <a:srgbClr val="1F4E79"/>
                </a:solidFill>
                <a:latin typeface="Cambria"/>
              </a:rPr>
              <a:t>+9.1 pts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4E030-7BA0-1046-8374-0F6A81953F37}"/>
              </a:ext>
            </a:extLst>
          </p:cNvPr>
          <p:cNvSpPr txBox="1"/>
          <p:nvPr/>
        </p:nvSpPr>
        <p:spPr>
          <a:xfrm>
            <a:off x="762000" y="2794000"/>
            <a:ext cx="635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Qwen unsafe rate vs. Claude   ·   63.9% vs. 56.8%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31356F-61E7-BA4C-BAFF-2C7D17F2DADF}"/>
              </a:ext>
            </a:extLst>
          </p:cNvPr>
          <p:cNvSpPr txBox="1"/>
          <p:nvPr/>
        </p:nvSpPr>
        <p:spPr>
          <a:xfrm>
            <a:off x="7239000" y="1778000"/>
            <a:ext cx="419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Verdict counts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2CA5055-45BF-B147-979D-40B08549C363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095500"/>
          <a:ext cx="4191000" cy="1714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53988421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7012763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151967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endParaRPr lang="en-US" sz="1100" b="1">
                        <a:solidFill>
                          <a:srgbClr val="6B7280"/>
                        </a:solidFill>
                        <a:latin typeface="Calibri"/>
                        <a:cs typeface="Calibri"/>
                      </a:endParaRP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Claude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Qwen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82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safe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484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412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1405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unsafe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673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757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87166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needs_review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911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missing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22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86170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805F404-5EAE-C843-A52C-4E6D3EEFD5B8}"/>
              </a:ext>
            </a:extLst>
          </p:cNvPr>
          <p:cNvSpPr/>
          <p:nvPr/>
        </p:nvSpPr>
        <p:spPr>
          <a:xfrm>
            <a:off x="762000" y="41910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0825FC-5290-0B49-96FA-2D19B48B9385}"/>
              </a:ext>
            </a:extLst>
          </p:cNvPr>
          <p:cNvSpPr txBox="1"/>
          <p:nvPr/>
        </p:nvSpPr>
        <p:spPr>
          <a:xfrm>
            <a:off x="762000" y="45085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CCA384-EB98-A245-92FF-9511BF18CD82}"/>
              </a:ext>
            </a:extLst>
          </p:cNvPr>
          <p:cNvSpPr txBox="1"/>
          <p:nvPr/>
        </p:nvSpPr>
        <p:spPr>
          <a:xfrm>
            <a:off x="762000" y="47625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The two guardrails are not drawing the safe/unsafe boundary in the same place — Qwen's threshold for "unsafe" is materially lower. Qwen also issues 12% more unsafe labels (757 vs 673)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0CB8E8-AA85-9448-B96D-4A20EE5536EE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D31E9-BB8A-754C-97E1-1D58F280D020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Qwen labels roughly one-in-five borderline cases more aggressively than Claude.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1F608D-047A-564B-B133-DD47B925328E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74764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E8ED62EB-65F5-5F47-A8E3-D1A61055A66C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5A8B8-0A74-D342-BD79-826253CAB0C7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Reading Cohen’s </a:t>
            </a:r>
            <a:r>
              <a:rPr lang="el-GR" sz="2600" b="1">
                <a:solidFill>
                  <a:srgbClr val="1A2233"/>
                </a:solidFill>
                <a:latin typeface="Cambria"/>
              </a:rPr>
              <a:t>κ</a:t>
            </a:r>
            <a:r>
              <a:rPr lang="en-US" sz="2600" b="1">
                <a:solidFill>
                  <a:srgbClr val="1A2233"/>
                </a:solidFill>
                <a:latin typeface="Cambria"/>
              </a:rPr>
              <a:t> </a:t>
            </a:r>
            <a:r>
              <a:rPr lang="en-US" sz="1100" b="1">
                <a:solidFill>
                  <a:srgbClr val="1A2233"/>
                </a:solidFill>
                <a:latin typeface="Cambria"/>
              </a:rPr>
              <a:t>(Consideting claude as ground truth for this slide)</a:t>
            </a:r>
            <a:endParaRPr lang="en-US" sz="2600" b="1">
              <a:solidFill>
                <a:srgbClr val="1A2233"/>
              </a:solidFill>
              <a:latin typeface="Cambri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B59F6D-C2C8-014C-9B50-255EA9390C38}"/>
              </a:ext>
            </a:extLst>
          </p:cNvPr>
          <p:cNvSpPr txBox="1"/>
          <p:nvPr/>
        </p:nvSpPr>
        <p:spPr>
          <a:xfrm>
            <a:off x="762000" y="1778000"/>
            <a:ext cx="4191000" cy="13234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0" b="1">
                <a:solidFill>
                  <a:srgbClr val="1F4E79"/>
                </a:solidFill>
                <a:latin typeface="Cambria"/>
              </a:rPr>
              <a:t>0.619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7CFAA6-7C26-CD47-8784-E8F33FDCF961}"/>
              </a:ext>
            </a:extLst>
          </p:cNvPr>
          <p:cNvSpPr txBox="1"/>
          <p:nvPr/>
        </p:nvSpPr>
        <p:spPr>
          <a:xfrm>
            <a:off x="762000" y="2984500"/>
            <a:ext cx="635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Cohen's </a:t>
            </a:r>
            <a:r>
              <a:rPr lang="el-GR" sz="1400">
                <a:solidFill>
                  <a:srgbClr val="6B7280"/>
                </a:solidFill>
                <a:latin typeface="Calibri"/>
                <a:cs typeface="Calibri"/>
              </a:rPr>
              <a:t>κ   ·   </a:t>
            </a:r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Substantial, just above the 0.61 substantial line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5AC29A-5613-C946-9648-01A2BE4B227A}"/>
              </a:ext>
            </a:extLst>
          </p:cNvPr>
          <p:cNvSpPr txBox="1"/>
          <p:nvPr/>
        </p:nvSpPr>
        <p:spPr>
          <a:xfrm>
            <a:off x="7239000" y="18415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Raw agreement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E8C37A-1E2A-D545-9B18-6A33B65A7A68}"/>
              </a:ext>
            </a:extLst>
          </p:cNvPr>
          <p:cNvSpPr txBox="1"/>
          <p:nvPr/>
        </p:nvSpPr>
        <p:spPr>
          <a:xfrm>
            <a:off x="9398000" y="1790700"/>
            <a:ext cx="114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2233"/>
                </a:solidFill>
                <a:latin typeface="Cambria"/>
              </a:rPr>
              <a:t>81.8%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CAD8A8-9959-E749-A381-07A8B7A7593F}"/>
              </a:ext>
            </a:extLst>
          </p:cNvPr>
          <p:cNvSpPr txBox="1"/>
          <p:nvPr/>
        </p:nvSpPr>
        <p:spPr>
          <a:xfrm>
            <a:off x="10604500" y="1841500"/>
            <a:ext cx="101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934 / 1142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3D7A49-95F6-C642-9D2D-2F2B49C0EE93}"/>
              </a:ext>
            </a:extLst>
          </p:cNvPr>
          <p:cNvSpPr txBox="1"/>
          <p:nvPr/>
        </p:nvSpPr>
        <p:spPr>
          <a:xfrm>
            <a:off x="7239000" y="22479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Precision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5A1FCF-AD0C-824C-9CE4-3291175D027D}"/>
              </a:ext>
            </a:extLst>
          </p:cNvPr>
          <p:cNvSpPr txBox="1"/>
          <p:nvPr/>
        </p:nvSpPr>
        <p:spPr>
          <a:xfrm>
            <a:off x="9398000" y="2197100"/>
            <a:ext cx="114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2233"/>
                </a:solidFill>
                <a:latin typeface="Cambria"/>
              </a:rPr>
              <a:t>0.807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4B8749-7AEA-1E4C-B273-3885CE1AACBD}"/>
              </a:ext>
            </a:extLst>
          </p:cNvPr>
          <p:cNvSpPr txBox="1"/>
          <p:nvPr/>
        </p:nvSpPr>
        <p:spPr>
          <a:xfrm>
            <a:off x="10604500" y="22479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TP / (TP+FP)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E37252-01ED-6741-86DD-0D1396EFE05E}"/>
              </a:ext>
            </a:extLst>
          </p:cNvPr>
          <p:cNvSpPr txBox="1"/>
          <p:nvPr/>
        </p:nvSpPr>
        <p:spPr>
          <a:xfrm>
            <a:off x="7239000" y="26543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Recall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B89E44-81E6-1943-ACB1-E65C976FD57B}"/>
              </a:ext>
            </a:extLst>
          </p:cNvPr>
          <p:cNvSpPr txBox="1"/>
          <p:nvPr/>
        </p:nvSpPr>
        <p:spPr>
          <a:xfrm>
            <a:off x="9398000" y="2603500"/>
            <a:ext cx="114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2233"/>
                </a:solidFill>
                <a:latin typeface="Cambria"/>
              </a:rPr>
              <a:t>0.898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FB505D-1275-CE40-B5EB-800431B6A112}"/>
              </a:ext>
            </a:extLst>
          </p:cNvPr>
          <p:cNvSpPr txBox="1"/>
          <p:nvPr/>
        </p:nvSpPr>
        <p:spPr>
          <a:xfrm>
            <a:off x="10604500" y="26543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TP / (TP+FN)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EFDF9C-7235-994E-A907-DAAA9C435868}"/>
              </a:ext>
            </a:extLst>
          </p:cNvPr>
          <p:cNvSpPr txBox="1"/>
          <p:nvPr/>
        </p:nvSpPr>
        <p:spPr>
          <a:xfrm>
            <a:off x="7239000" y="30607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F1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37C448-636E-6E4E-9551-95ADD94EB8D6}"/>
              </a:ext>
            </a:extLst>
          </p:cNvPr>
          <p:cNvSpPr txBox="1"/>
          <p:nvPr/>
        </p:nvSpPr>
        <p:spPr>
          <a:xfrm>
            <a:off x="9398000" y="3009900"/>
            <a:ext cx="114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2233"/>
                </a:solidFill>
                <a:latin typeface="Cambria"/>
              </a:rPr>
              <a:t>0.850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F58FEA-0578-3D4B-9794-FF8B55679056}"/>
              </a:ext>
            </a:extLst>
          </p:cNvPr>
          <p:cNvSpPr txBox="1"/>
          <p:nvPr/>
        </p:nvSpPr>
        <p:spPr>
          <a:xfrm>
            <a:off x="10604500" y="30607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en-US" sz="1000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720932F-51EA-A744-994A-C589870E703A}"/>
              </a:ext>
            </a:extLst>
          </p:cNvPr>
          <p:cNvSpPr/>
          <p:nvPr/>
        </p:nvSpPr>
        <p:spPr>
          <a:xfrm>
            <a:off x="762000" y="37465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6A9C2D9-59E3-9A42-85D4-14E2E04B48D7}"/>
              </a:ext>
            </a:extLst>
          </p:cNvPr>
          <p:cNvSpPr/>
          <p:nvPr/>
        </p:nvSpPr>
        <p:spPr>
          <a:xfrm>
            <a:off x="762000" y="4191000"/>
            <a:ext cx="2133600" cy="2286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329EDB-75C9-E840-9B47-284B2C30C335}"/>
              </a:ext>
            </a:extLst>
          </p:cNvPr>
          <p:cNvSpPr txBox="1"/>
          <p:nvPr/>
        </p:nvSpPr>
        <p:spPr>
          <a:xfrm>
            <a:off x="762000" y="4470400"/>
            <a:ext cx="2133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Poor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D94152-D922-B346-A4AC-90684FDF9F5D}"/>
              </a:ext>
            </a:extLst>
          </p:cNvPr>
          <p:cNvSpPr/>
          <p:nvPr/>
        </p:nvSpPr>
        <p:spPr>
          <a:xfrm>
            <a:off x="2895600" y="4191000"/>
            <a:ext cx="2133600" cy="2286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44499A-2FEF-2F4C-9CCC-8A6A865D21F5}"/>
              </a:ext>
            </a:extLst>
          </p:cNvPr>
          <p:cNvSpPr txBox="1"/>
          <p:nvPr/>
        </p:nvSpPr>
        <p:spPr>
          <a:xfrm>
            <a:off x="2895600" y="4470400"/>
            <a:ext cx="2133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Fair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AE7EA46-0BFA-1D42-AC80-9130D7F3CB8D}"/>
              </a:ext>
            </a:extLst>
          </p:cNvPr>
          <p:cNvSpPr/>
          <p:nvPr/>
        </p:nvSpPr>
        <p:spPr>
          <a:xfrm>
            <a:off x="5029200" y="4191000"/>
            <a:ext cx="2133600" cy="228600"/>
          </a:xfrm>
          <a:prstGeom prst="rect">
            <a:avLst/>
          </a:prstGeom>
          <a:solidFill>
            <a:srgbClr val="8C9B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2BB385-9B88-7649-A6C4-C33DBA9087FA}"/>
              </a:ext>
            </a:extLst>
          </p:cNvPr>
          <p:cNvSpPr txBox="1"/>
          <p:nvPr/>
        </p:nvSpPr>
        <p:spPr>
          <a:xfrm>
            <a:off x="5029200" y="4470400"/>
            <a:ext cx="2133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Moderate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E56474-3E33-5840-ABCF-BB5B3911DF6C}"/>
              </a:ext>
            </a:extLst>
          </p:cNvPr>
          <p:cNvSpPr/>
          <p:nvPr/>
        </p:nvSpPr>
        <p:spPr>
          <a:xfrm>
            <a:off x="7162800" y="4191000"/>
            <a:ext cx="2133600" cy="228600"/>
          </a:xfrm>
          <a:prstGeom prst="rect">
            <a:avLst/>
          </a:prstGeom>
          <a:solidFill>
            <a:srgbClr val="5B7A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02D788-8D58-9042-9914-D98DCCFA2D10}"/>
              </a:ext>
            </a:extLst>
          </p:cNvPr>
          <p:cNvSpPr txBox="1"/>
          <p:nvPr/>
        </p:nvSpPr>
        <p:spPr>
          <a:xfrm>
            <a:off x="7162800" y="4470400"/>
            <a:ext cx="2133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Substantial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A72B54B-176B-2549-AE67-41306E41EC01}"/>
              </a:ext>
            </a:extLst>
          </p:cNvPr>
          <p:cNvSpPr/>
          <p:nvPr/>
        </p:nvSpPr>
        <p:spPr>
          <a:xfrm>
            <a:off x="9296400" y="4191000"/>
            <a:ext cx="2133600" cy="228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0E9DA9-7A26-4849-BAC6-25C81D3F2637}"/>
              </a:ext>
            </a:extLst>
          </p:cNvPr>
          <p:cNvSpPr txBox="1"/>
          <p:nvPr/>
        </p:nvSpPr>
        <p:spPr>
          <a:xfrm>
            <a:off x="9296400" y="4470400"/>
            <a:ext cx="2133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Almost perfect</a:t>
            </a:r>
          </a:p>
        </p:txBody>
      </p:sp>
      <p:sp>
        <p:nvSpPr>
          <p:cNvPr id="76" name="Down Arrow 75">
            <a:extLst>
              <a:ext uri="{FF2B5EF4-FFF2-40B4-BE49-F238E27FC236}">
                <a16:creationId xmlns:a16="http://schemas.microsoft.com/office/drawing/2014/main" id="{89E17FC4-FFB6-1C43-A2C6-E13636C73DC8}"/>
              </a:ext>
            </a:extLst>
          </p:cNvPr>
          <p:cNvSpPr/>
          <p:nvPr/>
        </p:nvSpPr>
        <p:spPr>
          <a:xfrm>
            <a:off x="7217586" y="3962400"/>
            <a:ext cx="203200" cy="203200"/>
          </a:xfrm>
          <a:prstGeom prst="downArrow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AC2E64-EE4F-E24D-AD81-7FBBA0D11EE9}"/>
              </a:ext>
            </a:extLst>
          </p:cNvPr>
          <p:cNvSpPr txBox="1"/>
          <p:nvPr/>
        </p:nvSpPr>
        <p:spPr>
          <a:xfrm>
            <a:off x="6811186" y="3708400"/>
            <a:ext cx="1016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100" b="1">
                <a:solidFill>
                  <a:srgbClr val="B8860B"/>
                </a:solidFill>
                <a:latin typeface="Cambria"/>
              </a:rPr>
              <a:t>κ = </a:t>
            </a:r>
            <a:r>
              <a:rPr lang="en-US" sz="1100" b="1">
                <a:solidFill>
                  <a:srgbClr val="B8860B"/>
                </a:solidFill>
                <a:latin typeface="Cambria"/>
              </a:rPr>
              <a:t>0.619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D73D17-65AE-F14E-ACA4-FE2D021CD089}"/>
              </a:ext>
            </a:extLst>
          </p:cNvPr>
          <p:cNvSpPr txBox="1"/>
          <p:nvPr/>
        </p:nvSpPr>
        <p:spPr>
          <a:xfrm>
            <a:off x="762000" y="50165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4D8168-0B09-BA43-BBCF-22EF11C62D83}"/>
              </a:ext>
            </a:extLst>
          </p:cNvPr>
          <p:cNvSpPr txBox="1"/>
          <p:nvPr/>
        </p:nvSpPr>
        <p:spPr>
          <a:xfrm>
            <a:off x="762000" y="52451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Raw 82% agreement overstates alignment because both guardrails flag a lot of unsafe by base rate. Recall 0.898 means Qwen catches 90% of Claude-unsafe; precision 0.807 means 1/5 of Qwen-unsafe flags are records Claude considered safe.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06919DD-B340-BF49-9831-3BD740811650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EC3FA9-C90F-3049-9E3E-749C1B13BD81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Chance-corrected alignment is Moderate — driven down by boundary disputes, not gross errors.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4C2B71-7D17-3344-96C7-D3FF4D8017ED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873932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17E47AF3-6344-F84F-9EB8-C38DCD805676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147B3-4925-4D43-8152-F6FC5D4F66AC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Confusion Matrix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8BF66-C099-3C4A-B287-567C3A5AB658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Claude as reference, unsafe = positive   ·   n = 1142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3572FF-37FA-6C45-85A2-7409969137B3}"/>
              </a:ext>
            </a:extLst>
          </p:cNvPr>
          <p:cNvSpPr txBox="1"/>
          <p:nvPr/>
        </p:nvSpPr>
        <p:spPr>
          <a:xfrm>
            <a:off x="2222500" y="1765300"/>
            <a:ext cx="2095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Qwen: safe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2FB343-0BAC-0E4F-B88F-0E8899B5BDEC}"/>
              </a:ext>
            </a:extLst>
          </p:cNvPr>
          <p:cNvSpPr txBox="1"/>
          <p:nvPr/>
        </p:nvSpPr>
        <p:spPr>
          <a:xfrm>
            <a:off x="4318000" y="1765300"/>
            <a:ext cx="2095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Qwen: unsafe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B4DF25-EA32-AB45-AECA-7CFD835158A1}"/>
              </a:ext>
            </a:extLst>
          </p:cNvPr>
          <p:cNvSpPr txBox="1"/>
          <p:nvPr/>
        </p:nvSpPr>
        <p:spPr>
          <a:xfrm>
            <a:off x="889000" y="267335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Claude: safe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94AE3F-D40D-414D-96A8-8CE501C012DE}"/>
              </a:ext>
            </a:extLst>
          </p:cNvPr>
          <p:cNvSpPr txBox="1"/>
          <p:nvPr/>
        </p:nvSpPr>
        <p:spPr>
          <a:xfrm>
            <a:off x="889000" y="413385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Claude: unsafe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3E301C-2F8F-8843-9800-375554D0281F}"/>
              </a:ext>
            </a:extLst>
          </p:cNvPr>
          <p:cNvSpPr/>
          <p:nvPr/>
        </p:nvSpPr>
        <p:spPr>
          <a:xfrm>
            <a:off x="2222500" y="2095500"/>
            <a:ext cx="2044700" cy="1409700"/>
          </a:xfrm>
          <a:prstGeom prst="rect">
            <a:avLst/>
          </a:prstGeom>
          <a:solidFill>
            <a:srgbClr val="5B7A99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Cambria"/>
              </a:rPr>
              <a:t>343
TN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1B2E19-7FDD-5C4F-9219-7FD944E65368}"/>
              </a:ext>
            </a:extLst>
          </p:cNvPr>
          <p:cNvSpPr/>
          <p:nvPr/>
        </p:nvSpPr>
        <p:spPr>
          <a:xfrm>
            <a:off x="4318000" y="2095500"/>
            <a:ext cx="2044700" cy="1409700"/>
          </a:xfrm>
          <a:prstGeom prst="rect">
            <a:avLst/>
          </a:prstGeom>
          <a:solidFill>
            <a:srgbClr val="B8860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Cambria"/>
              </a:rPr>
              <a:t>141
FP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D6F7921-7AE2-C54E-A6CE-8C5E22DABC97}"/>
              </a:ext>
            </a:extLst>
          </p:cNvPr>
          <p:cNvSpPr/>
          <p:nvPr/>
        </p:nvSpPr>
        <p:spPr>
          <a:xfrm>
            <a:off x="2222500" y="3556000"/>
            <a:ext cx="2044700" cy="1409700"/>
          </a:xfrm>
          <a:prstGeom prst="rect">
            <a:avLst/>
          </a:prstGeom>
          <a:solidFill>
            <a:srgbClr val="E5E7E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1A2233"/>
                </a:solidFill>
                <a:latin typeface="Cambria"/>
              </a:rPr>
              <a:t>67
FN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108497C-A54C-354D-8C56-8D1F6F32019B}"/>
              </a:ext>
            </a:extLst>
          </p:cNvPr>
          <p:cNvSpPr/>
          <p:nvPr/>
        </p:nvSpPr>
        <p:spPr>
          <a:xfrm>
            <a:off x="4318000" y="3556000"/>
            <a:ext cx="2044700" cy="1409700"/>
          </a:xfrm>
          <a:prstGeom prst="rect">
            <a:avLst/>
          </a:prstGeom>
          <a:solidFill>
            <a:srgbClr val="1F4E79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Cambria"/>
              </a:rPr>
              <a:t>591
TP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160F13-32E0-594F-ADB0-B246B8D3406C}"/>
              </a:ext>
            </a:extLst>
          </p:cNvPr>
          <p:cNvSpPr txBox="1"/>
          <p:nvPr/>
        </p:nvSpPr>
        <p:spPr>
          <a:xfrm>
            <a:off x="7366000" y="2349500"/>
            <a:ext cx="4191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1F4E79"/>
                </a:solidFill>
                <a:latin typeface="Cambria"/>
              </a:rPr>
              <a:t>2.1 :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53E624-4EF0-904C-B85A-8D7D97FC5674}"/>
              </a:ext>
            </a:extLst>
          </p:cNvPr>
          <p:cNvSpPr txBox="1"/>
          <p:nvPr/>
        </p:nvSpPr>
        <p:spPr>
          <a:xfrm>
            <a:off x="7366000" y="3429000"/>
            <a:ext cx="4191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FP : FN asymmetry   ·   141 vs 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B6CE4C-3B56-EB49-A143-02DBA89CF94B}"/>
              </a:ext>
            </a:extLst>
          </p:cNvPr>
          <p:cNvSpPr txBox="1"/>
          <p:nvPr/>
        </p:nvSpPr>
        <p:spPr>
          <a:xfrm>
            <a:off x="7366000" y="3937000"/>
            <a:ext cx="4191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FP rate    29.1%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C39D13-E677-D540-80FF-80178BE1ABA9}"/>
              </a:ext>
            </a:extLst>
          </p:cNvPr>
          <p:cNvSpPr txBox="1"/>
          <p:nvPr/>
        </p:nvSpPr>
        <p:spPr>
          <a:xfrm>
            <a:off x="7366000" y="4216400"/>
            <a:ext cx="4191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FN rate    10.2%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01D255-6D91-1741-8499-351EB8C91310}"/>
              </a:ext>
            </a:extLst>
          </p:cNvPr>
          <p:cNvSpPr txBox="1"/>
          <p:nvPr/>
        </p:nvSpPr>
        <p:spPr>
          <a:xfrm>
            <a:off x="762000" y="51054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B46BAB-B3A1-B849-A2C5-34D2FB470543}"/>
              </a:ext>
            </a:extLst>
          </p:cNvPr>
          <p:cNvSpPr txBox="1"/>
          <p:nvPr/>
        </p:nvSpPr>
        <p:spPr>
          <a:xfrm>
            <a:off x="762000" y="5334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The dominant divergence is the 141 FP cell — inputs Claude cleared but Qwen blocked. Swapping Claude→Qwen as the gate would convert ~29% of currently-allowed borderline traffic into blocks while recovering relatively few additional true catches.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B4192AD-0499-1E4D-B5B4-676CFA5AD6AF}"/>
              </a:ext>
            </a:extLst>
          </p:cNvPr>
          <p:cNvSpPr/>
          <p:nvPr/>
        </p:nvSpPr>
        <p:spPr>
          <a:xfrm>
            <a:off x="762000" y="60706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F6A6F1-9708-684F-89C2-A24885274557}"/>
              </a:ext>
            </a:extLst>
          </p:cNvPr>
          <p:cNvSpPr txBox="1"/>
          <p:nvPr/>
        </p:nvSpPr>
        <p:spPr>
          <a:xfrm>
            <a:off x="990600" y="61087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Disagreement is overwhelmingly Qwen over-blocking, not Claude missing.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5D6677-ABB8-2F41-9D97-841DCA79D646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9615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87F0BA9-040C-174E-A7E3-142D922002A7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3675C4-2BA6-8543-96D8-7C5EB4185E2B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Direction of Disagreement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31B0E6-9DB9-374F-973C-C780083DB838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Of the 208 disagreements, which way does each guardrail push?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C233BC-BD82-2740-83A8-9B092ED7AA5B}"/>
              </a:ext>
            </a:extLst>
          </p:cNvPr>
          <p:cNvSpPr txBox="1"/>
          <p:nvPr/>
        </p:nvSpPr>
        <p:spPr>
          <a:xfrm>
            <a:off x="762000" y="2032000"/>
            <a:ext cx="146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mbria"/>
              </a:rPr>
              <a:t>Qwen stricter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F51FB7-6405-F44D-B480-2BA3F01840B5}"/>
              </a:ext>
            </a:extLst>
          </p:cNvPr>
          <p:cNvSpPr/>
          <p:nvPr/>
        </p:nvSpPr>
        <p:spPr>
          <a:xfrm>
            <a:off x="2286000" y="2032000"/>
            <a:ext cx="7467600" cy="635000"/>
          </a:xfrm>
          <a:prstGeom prst="rect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9147BC-B1BB-CB4B-8F37-17C2BECAD1FE}"/>
              </a:ext>
            </a:extLst>
          </p:cNvPr>
          <p:cNvSpPr txBox="1"/>
          <p:nvPr/>
        </p:nvSpPr>
        <p:spPr>
          <a:xfrm>
            <a:off x="2438400" y="2082513"/>
            <a:ext cx="1016000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Cambria"/>
              </a:rPr>
              <a:t>141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BAB41-2034-2C45-B8EC-0EB2534B8818}"/>
              </a:ext>
            </a:extLst>
          </p:cNvPr>
          <p:cNvSpPr txBox="1"/>
          <p:nvPr/>
        </p:nvSpPr>
        <p:spPr>
          <a:xfrm>
            <a:off x="762000" y="2349500"/>
            <a:ext cx="1460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Claude safe → Qwen unsafe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3DE95E-F31B-EC48-9389-0E96FBA9A241}"/>
              </a:ext>
            </a:extLst>
          </p:cNvPr>
          <p:cNvSpPr txBox="1"/>
          <p:nvPr/>
        </p:nvSpPr>
        <p:spPr>
          <a:xfrm>
            <a:off x="762000" y="2984500"/>
            <a:ext cx="146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mbria"/>
              </a:rPr>
              <a:t>Claude stricter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63E2EB-4630-5A4B-B507-C04EFCE6C8EA}"/>
              </a:ext>
            </a:extLst>
          </p:cNvPr>
          <p:cNvSpPr/>
          <p:nvPr/>
        </p:nvSpPr>
        <p:spPr>
          <a:xfrm>
            <a:off x="2285998" y="2984500"/>
            <a:ext cx="3543301" cy="63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DD765B-E1FB-AD41-A53D-04E6454A63A8}"/>
              </a:ext>
            </a:extLst>
          </p:cNvPr>
          <p:cNvSpPr txBox="1"/>
          <p:nvPr/>
        </p:nvSpPr>
        <p:spPr>
          <a:xfrm>
            <a:off x="2438400" y="3035013"/>
            <a:ext cx="1016000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Cambria"/>
              </a:rPr>
              <a:t>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2948F1-5634-7347-97DB-B9B8DE59EF46}"/>
              </a:ext>
            </a:extLst>
          </p:cNvPr>
          <p:cNvSpPr txBox="1"/>
          <p:nvPr/>
        </p:nvSpPr>
        <p:spPr>
          <a:xfrm>
            <a:off x="762000" y="3302000"/>
            <a:ext cx="1460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Claude unsafe → Qwen safe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DC587F-F649-D14C-9916-0EC1A0C48D62}"/>
              </a:ext>
            </a:extLst>
          </p:cNvPr>
          <p:cNvSpPr txBox="1"/>
          <p:nvPr/>
        </p:nvSpPr>
        <p:spPr>
          <a:xfrm>
            <a:off x="762000" y="4064000"/>
            <a:ext cx="2540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1F4E79"/>
                </a:solidFill>
                <a:latin typeface="Cambria"/>
              </a:rPr>
              <a:t>2.1×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2EEFA3-2C62-4348-A0B6-12820C29F576}"/>
              </a:ext>
            </a:extLst>
          </p:cNvPr>
          <p:cNvSpPr txBox="1"/>
          <p:nvPr/>
        </p:nvSpPr>
        <p:spPr>
          <a:xfrm>
            <a:off x="3556000" y="4318000"/>
            <a:ext cx="787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A2233"/>
                </a:solidFill>
                <a:latin typeface="Calibri"/>
                <a:cs typeface="Calibri"/>
              </a:rPr>
              <a:t>the strictness pulls 2.1× harder toward unsafe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C84E5C-787D-5742-B268-517AA7FD71A8}"/>
              </a:ext>
            </a:extLst>
          </p:cNvPr>
          <p:cNvSpPr txBox="1"/>
          <p:nvPr/>
        </p:nvSpPr>
        <p:spPr>
          <a:xfrm>
            <a:off x="762000" y="51435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7AB268-249C-044F-93C5-044D22C9D4BF}"/>
              </a:ext>
            </a:extLst>
          </p:cNvPr>
          <p:cNvSpPr txBox="1"/>
          <p:nvPr/>
        </p:nvSpPr>
        <p:spPr>
          <a:xfrm>
            <a:off x="762000" y="53721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Qwen optimizes recall (catch more, tolerate false alarms); Claude optimizes precision (allow more, risk misses). Neither is "wrong" — it is a tunable trade-off.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1CF7DA-96C2-104D-AEED-8EF914BBFCB0}"/>
              </a:ext>
            </a:extLst>
          </p:cNvPr>
          <p:cNvSpPr/>
          <p:nvPr/>
        </p:nvSpPr>
        <p:spPr>
          <a:xfrm>
            <a:off x="762000" y="60706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D348CD-B182-5541-8E93-C4035FB05E26}"/>
              </a:ext>
            </a:extLst>
          </p:cNvPr>
          <p:cNvSpPr txBox="1"/>
          <p:nvPr/>
        </p:nvSpPr>
        <p:spPr>
          <a:xfrm>
            <a:off x="990600" y="6108700"/>
            <a:ext cx="1041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The guardrails encode different risk appetites — the gap is a policy choice, not a bug.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96DA01-4973-6C4B-A4E4-10FF74CF361A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3149611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FC463C67-AC32-1646-8BA1-9FB3677EFC70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48AA18-90F7-C944-94CE-F4254B6FA4B1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Gemma's Verdict on Claude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46D27-E5EA-7A4B-8C7C-4AADFBA2F576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How often does the verifier back Claude — and where does it push back?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EF85D6-18E5-934F-8C36-874D1BF9109B}"/>
              </a:ext>
            </a:extLst>
          </p:cNvPr>
          <p:cNvSpPr txBox="1"/>
          <p:nvPr/>
        </p:nvSpPr>
        <p:spPr>
          <a:xfrm>
            <a:off x="762000" y="1778000"/>
            <a:ext cx="5080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200" b="1">
                <a:solidFill>
                  <a:srgbClr val="1F4E79"/>
                </a:solidFill>
                <a:latin typeface="Cambria"/>
              </a:rPr>
              <a:t>92.4%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48856-C6BF-6C41-B3F8-77C0AB344D47}"/>
              </a:ext>
            </a:extLst>
          </p:cNvPr>
          <p:cNvSpPr txBox="1"/>
          <p:nvPr/>
        </p:nvSpPr>
        <p:spPr>
          <a:xfrm>
            <a:off x="762000" y="2895600"/>
            <a:ext cx="635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Gemma agrees with Claude   ·   1094 / 1184 verified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AA21C5-1AC7-3847-BE8F-D5DEA4AC67B0}"/>
              </a:ext>
            </a:extLst>
          </p:cNvPr>
          <p:cNvSpPr txBox="1"/>
          <p:nvPr/>
        </p:nvSpPr>
        <p:spPr>
          <a:xfrm>
            <a:off x="762000" y="3683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Gemma dispute rate by Claude's verdict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465DFA-6475-9C49-B87E-6371CB82F917}"/>
              </a:ext>
            </a:extLst>
          </p:cNvPr>
          <p:cNvSpPr txBox="1"/>
          <p:nvPr/>
        </p:nvSpPr>
        <p:spPr>
          <a:xfrm>
            <a:off x="762000" y="40132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Claude unsafe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355463-7910-584E-9B4C-307A3E6D73EC}"/>
              </a:ext>
            </a:extLst>
          </p:cNvPr>
          <p:cNvSpPr/>
          <p:nvPr/>
        </p:nvSpPr>
        <p:spPr>
          <a:xfrm>
            <a:off x="2667000" y="4063999"/>
            <a:ext cx="6350000" cy="206177"/>
          </a:xfrm>
          <a:prstGeom prst="rect">
            <a:avLst/>
          </a:prstGeom>
          <a:solidFill>
            <a:srgbClr val="E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F1602F-B709-A940-B7E1-015A1C62CDAD}"/>
              </a:ext>
            </a:extLst>
          </p:cNvPr>
          <p:cNvSpPr/>
          <p:nvPr/>
        </p:nvSpPr>
        <p:spPr>
          <a:xfrm>
            <a:off x="2666999" y="4064000"/>
            <a:ext cx="243255" cy="206176"/>
          </a:xfrm>
          <a:prstGeom prst="rect">
            <a:avLst/>
          </a:prstGeom>
          <a:solidFill>
            <a:srgbClr val="1F7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2448A2-CBC6-AD4F-8D4B-50AB7E017EBD}"/>
              </a:ext>
            </a:extLst>
          </p:cNvPr>
          <p:cNvSpPr txBox="1"/>
          <p:nvPr/>
        </p:nvSpPr>
        <p:spPr>
          <a:xfrm>
            <a:off x="9144000" y="4013200"/>
            <a:ext cx="228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3.7%   (24 / 642)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288B3C-0828-DC43-90F2-E1DB9ABE731B}"/>
              </a:ext>
            </a:extLst>
          </p:cNvPr>
          <p:cNvSpPr txBox="1"/>
          <p:nvPr/>
        </p:nvSpPr>
        <p:spPr>
          <a:xfrm>
            <a:off x="762000" y="4419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Claude safe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A94CBA-F14A-324A-87BD-1B29892E5B0A}"/>
              </a:ext>
            </a:extLst>
          </p:cNvPr>
          <p:cNvSpPr/>
          <p:nvPr/>
        </p:nvSpPr>
        <p:spPr>
          <a:xfrm>
            <a:off x="2667000" y="4470400"/>
            <a:ext cx="6350000" cy="177800"/>
          </a:xfrm>
          <a:prstGeom prst="rect">
            <a:avLst/>
          </a:prstGeom>
          <a:solidFill>
            <a:srgbClr val="E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A532A2-AAA2-0544-AC8B-2850A7494887}"/>
              </a:ext>
            </a:extLst>
          </p:cNvPr>
          <p:cNvSpPr/>
          <p:nvPr/>
        </p:nvSpPr>
        <p:spPr>
          <a:xfrm>
            <a:off x="2667000" y="4470400"/>
            <a:ext cx="357554" cy="177800"/>
          </a:xfrm>
          <a:prstGeom prst="rect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9DF4C8-61B5-1C4C-9A47-75C636C76F90}"/>
              </a:ext>
            </a:extLst>
          </p:cNvPr>
          <p:cNvSpPr txBox="1"/>
          <p:nvPr/>
        </p:nvSpPr>
        <p:spPr>
          <a:xfrm>
            <a:off x="9144000" y="4419600"/>
            <a:ext cx="228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5.7%   (26 / 452)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B61163-72B6-EB45-BF7C-AE56D0FA6729}"/>
              </a:ext>
            </a:extLst>
          </p:cNvPr>
          <p:cNvSpPr txBox="1"/>
          <p:nvPr/>
        </p:nvSpPr>
        <p:spPr>
          <a:xfrm>
            <a:off x="762000" y="49784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B8A7EB-AA4C-3D44-A14C-E32E5A0091AD}"/>
              </a:ext>
            </a:extLst>
          </p:cNvPr>
          <p:cNvSpPr txBox="1"/>
          <p:nvPr/>
        </p:nvSpPr>
        <p:spPr>
          <a:xfrm>
            <a:off x="762000" y="5207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When Gemma disagrees, it nearly always says "Claude called this safe, but I'm not sure." Two independent models both suspect Claude's safe verdicts more than its unsafe ones.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13B2E0F-ED3A-A54C-85B3-59676E7015C0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8C896A-B85B-E148-AE7E-320838750517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Claude's unsafe calls are rock-solid; its safe calls are where risk concentrates.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D37F41-6038-3347-89E6-2758C9295932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316566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916A34B-6B69-EA4D-A4C6-198EDA681D07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ECA755-A359-834F-8C64-C9372C5976E4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Gemma as a Confidence Filter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10E4B2-36EC-8647-8A8E-BD2FAB2E6D16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The key result. Gemma never sees Qwen, yet predicts where the two will clash.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248162-2488-5746-8478-BDB76D1881EC}"/>
              </a:ext>
            </a:extLst>
          </p:cNvPr>
          <p:cNvSpPr txBox="1"/>
          <p:nvPr/>
        </p:nvSpPr>
        <p:spPr>
          <a:xfrm>
            <a:off x="762000" y="1841500"/>
            <a:ext cx="6096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400" b="1">
                <a:solidFill>
                  <a:srgbClr val="1F4E79"/>
                </a:solidFill>
                <a:latin typeface="Cambria"/>
              </a:rPr>
              <a:t>+5.9 pts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1F9FF3-0AB3-8D42-A69E-688E101135C7}"/>
              </a:ext>
            </a:extLst>
          </p:cNvPr>
          <p:cNvSpPr txBox="1"/>
          <p:nvPr/>
        </p:nvSpPr>
        <p:spPr>
          <a:xfrm>
            <a:off x="762000" y="2921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Lift in Claude–Qwen agreement when Gemma backs Claude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E649D5-5472-CF43-B0A7-8F915A0DB32D}"/>
              </a:ext>
            </a:extLst>
          </p:cNvPr>
          <p:cNvSpPr txBox="1"/>
          <p:nvPr/>
        </p:nvSpPr>
        <p:spPr>
          <a:xfrm>
            <a:off x="762000" y="3746500"/>
            <a:ext cx="355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Gemma agrees with Claude  (n = 1079)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D2E04B-C650-7C49-B5EC-554AEB1B44F5}"/>
              </a:ext>
            </a:extLst>
          </p:cNvPr>
          <p:cNvSpPr/>
          <p:nvPr/>
        </p:nvSpPr>
        <p:spPr>
          <a:xfrm>
            <a:off x="4445000" y="3797300"/>
            <a:ext cx="5588000" cy="177800"/>
          </a:xfrm>
          <a:prstGeom prst="rect">
            <a:avLst/>
          </a:prstGeom>
          <a:solidFill>
            <a:srgbClr val="E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5C6FBB-EA17-474D-BF95-32753D5877F1}"/>
              </a:ext>
            </a:extLst>
          </p:cNvPr>
          <p:cNvSpPr/>
          <p:nvPr/>
        </p:nvSpPr>
        <p:spPr>
          <a:xfrm>
            <a:off x="4445000" y="3797300"/>
            <a:ext cx="4575908" cy="177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92CD8C-ACFD-8F49-8FEE-7E828DBE59EF}"/>
              </a:ext>
            </a:extLst>
          </p:cNvPr>
          <p:cNvSpPr txBox="1"/>
          <p:nvPr/>
        </p:nvSpPr>
        <p:spPr>
          <a:xfrm>
            <a:off x="10160000" y="3746500"/>
            <a:ext cx="127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4E79"/>
                </a:solidFill>
                <a:latin typeface="Calibri"/>
                <a:cs typeface="Calibri"/>
              </a:rPr>
              <a:t>81.9%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026DC9-B5F8-604E-ADD9-437F19E0429C}"/>
              </a:ext>
            </a:extLst>
          </p:cNvPr>
          <p:cNvSpPr txBox="1"/>
          <p:nvPr/>
        </p:nvSpPr>
        <p:spPr>
          <a:xfrm>
            <a:off x="762000" y="4165600"/>
            <a:ext cx="355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Gemma disagrees with Claude  (n = 50)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4DC556-4E10-0F4B-AA3C-A28A00918AB8}"/>
              </a:ext>
            </a:extLst>
          </p:cNvPr>
          <p:cNvSpPr/>
          <p:nvPr/>
        </p:nvSpPr>
        <p:spPr>
          <a:xfrm>
            <a:off x="4445000" y="4216400"/>
            <a:ext cx="5588000" cy="177800"/>
          </a:xfrm>
          <a:prstGeom prst="rect">
            <a:avLst/>
          </a:prstGeom>
          <a:solidFill>
            <a:srgbClr val="E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976FF9-DBB4-284C-BAE0-86EDC2C6F33C}"/>
              </a:ext>
            </a:extLst>
          </p:cNvPr>
          <p:cNvSpPr/>
          <p:nvPr/>
        </p:nvSpPr>
        <p:spPr>
          <a:xfrm>
            <a:off x="4445000" y="4216400"/>
            <a:ext cx="4241800" cy="177800"/>
          </a:xfrm>
          <a:prstGeom prst="rect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4434FE-93C6-5A4D-BD5F-155506EC3281}"/>
              </a:ext>
            </a:extLst>
          </p:cNvPr>
          <p:cNvSpPr txBox="1"/>
          <p:nvPr/>
        </p:nvSpPr>
        <p:spPr>
          <a:xfrm>
            <a:off x="10160000" y="4165600"/>
            <a:ext cx="127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B8860B"/>
                </a:solidFill>
                <a:latin typeface="Calibri"/>
                <a:cs typeface="Calibri"/>
              </a:rPr>
              <a:t>76.0%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EB2CE9-FE87-D74C-80FE-292125DCF3A2}"/>
              </a:ext>
            </a:extLst>
          </p:cNvPr>
          <p:cNvSpPr txBox="1"/>
          <p:nvPr/>
        </p:nvSpPr>
        <p:spPr>
          <a:xfrm>
            <a:off x="762000" y="4673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8860B"/>
                </a:solidFill>
                <a:latin typeface="Calibri"/>
                <a:cs typeface="Calibri"/>
              </a:rPr>
              <a:t>A Gemma "disagree" turns the Claude–Qwen contest into a near coin-flip.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94465D-C6B4-C041-B28F-5C862903F303}"/>
              </a:ext>
            </a:extLst>
          </p:cNvPr>
          <p:cNvSpPr txBox="1"/>
          <p:nvPr/>
        </p:nvSpPr>
        <p:spPr>
          <a:xfrm>
            <a:off x="762000" y="51054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BE9112-5A23-8F4E-A292-CFFD92AB524B}"/>
              </a:ext>
            </a:extLst>
          </p:cNvPr>
          <p:cNvSpPr txBox="1"/>
          <p:nvPr/>
        </p:nvSpPr>
        <p:spPr>
          <a:xfrm>
            <a:off x="762000" y="533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Gemma's flag isolates low-confidence records cheaply, without requiring a third labeler in production. Use it to route the right records to human review.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1679FB-BCAD-1744-B658-1F76351E290E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9CF277-5BD1-B842-8F25-F82F9B41CE34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Gemma-disagreement is a cheap, independent low-confidence detector.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04993E-F3F1-A040-BDEF-1D6F7D08738F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11107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445DD2-F93A-AE4B-AD63-9A49C12FF5E0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47BD6-3DAA-0A4E-9D42-606C1098EC16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How Much Disagreement Does Gemma Explain?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1D5F4-5178-5B47-8230-8677246D31B1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Of the 208 Claude–Qwen disagreements, who does Gemma side with?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D4BEE-7FAA-874C-B42B-C222621201F9}"/>
              </a:ext>
            </a:extLst>
          </p:cNvPr>
          <p:cNvSpPr txBox="1"/>
          <p:nvPr/>
        </p:nvSpPr>
        <p:spPr>
          <a:xfrm>
            <a:off x="762000" y="2159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mbria"/>
              </a:rPr>
              <a:t>Gemma sided with Claude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33E0DC-8E61-4149-A9B1-FA9D2BC7C8E0}"/>
              </a:ext>
            </a:extLst>
          </p:cNvPr>
          <p:cNvSpPr/>
          <p:nvPr/>
        </p:nvSpPr>
        <p:spPr>
          <a:xfrm>
            <a:off x="3937000" y="2222500"/>
            <a:ext cx="6096000" cy="228600"/>
          </a:xfrm>
          <a:prstGeom prst="rect">
            <a:avLst/>
          </a:prstGeom>
          <a:solidFill>
            <a:srgbClr val="E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3E8B0D-68C2-CB40-9343-AEA16CB75741}"/>
              </a:ext>
            </a:extLst>
          </p:cNvPr>
          <p:cNvSpPr/>
          <p:nvPr/>
        </p:nvSpPr>
        <p:spPr>
          <a:xfrm>
            <a:off x="3937000" y="2222500"/>
            <a:ext cx="5822462" cy="228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BFD36-8B7A-2E4D-8E8D-5E14FFBA01FB}"/>
              </a:ext>
            </a:extLst>
          </p:cNvPr>
          <p:cNvSpPr txBox="1"/>
          <p:nvPr/>
        </p:nvSpPr>
        <p:spPr>
          <a:xfrm>
            <a:off x="10160000" y="2133600"/>
            <a:ext cx="127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1F4E79"/>
                </a:solidFill>
                <a:latin typeface="Cambria"/>
              </a:rPr>
              <a:t>198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F36EE-6AC2-754F-B28A-154DE2A676C5}"/>
              </a:ext>
            </a:extLst>
          </p:cNvPr>
          <p:cNvSpPr txBox="1"/>
          <p:nvPr/>
        </p:nvSpPr>
        <p:spPr>
          <a:xfrm>
            <a:off x="762000" y="2730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mbria"/>
              </a:rPr>
              <a:t>Gemma sided against Claude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1D3D8E-D37A-2B4D-9A5F-6FC4E59343CB}"/>
              </a:ext>
            </a:extLst>
          </p:cNvPr>
          <p:cNvSpPr/>
          <p:nvPr/>
        </p:nvSpPr>
        <p:spPr>
          <a:xfrm>
            <a:off x="3937000" y="2794000"/>
            <a:ext cx="6096000" cy="228600"/>
          </a:xfrm>
          <a:prstGeom prst="rect">
            <a:avLst/>
          </a:prstGeom>
          <a:solidFill>
            <a:srgbClr val="E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CBB24-A40E-E241-883B-9D7F273524E2}"/>
              </a:ext>
            </a:extLst>
          </p:cNvPr>
          <p:cNvSpPr/>
          <p:nvPr/>
        </p:nvSpPr>
        <p:spPr>
          <a:xfrm>
            <a:off x="3937000" y="2794000"/>
            <a:ext cx="265723" cy="228600"/>
          </a:xfrm>
          <a:prstGeom prst="rect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F7BE2B-852D-E348-92CB-D6DB6FC2314F}"/>
              </a:ext>
            </a:extLst>
          </p:cNvPr>
          <p:cNvSpPr txBox="1"/>
          <p:nvPr/>
        </p:nvSpPr>
        <p:spPr>
          <a:xfrm>
            <a:off x="10183446" y="2689638"/>
            <a:ext cx="127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B8860B"/>
                </a:solidFill>
                <a:latin typeface="Cambria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F44D7D-9846-1F47-B9C7-0337F322E57A}"/>
              </a:ext>
            </a:extLst>
          </p:cNvPr>
          <p:cNvSpPr txBox="1"/>
          <p:nvPr/>
        </p:nvSpPr>
        <p:spPr>
          <a:xfrm>
            <a:off x="762000" y="3619500"/>
            <a:ext cx="3810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400" b="1">
                <a:solidFill>
                  <a:srgbClr val="1F4E79"/>
                </a:solidFill>
                <a:latin typeface="Cambria"/>
              </a:rPr>
              <a:t>95.2%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59040-3A65-DE4D-A6FC-6CADFA301841}"/>
              </a:ext>
            </a:extLst>
          </p:cNvPr>
          <p:cNvSpPr txBox="1"/>
          <p:nvPr/>
        </p:nvSpPr>
        <p:spPr>
          <a:xfrm>
            <a:off x="762000" y="46355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  <a:latin typeface="Calibri"/>
                <a:cs typeface="Calibri"/>
              </a:rPr>
              <a:t>of contested records, Gemma still backs Claude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565804-0001-5844-B270-1437888B23BB}"/>
              </a:ext>
            </a:extLst>
          </p:cNvPr>
          <p:cNvSpPr txBox="1"/>
          <p:nvPr/>
        </p:nvSpPr>
        <p:spPr>
          <a:xfrm>
            <a:off x="762000" y="5080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7461D4-ABD0-C142-8F87-76E1682BF34B}"/>
              </a:ext>
            </a:extLst>
          </p:cNvPr>
          <p:cNvSpPr txBox="1"/>
          <p:nvPr/>
        </p:nvSpPr>
        <p:spPr>
          <a:xfrm>
            <a:off x="762000" y="53086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233"/>
                </a:solidFill>
                <a:latin typeface="Calibri"/>
                <a:cs typeface="Calibri"/>
              </a:rPr>
              <a:t>Two readings coexist: most Qwen over-flags are false alarms (Gemma vindicates Claude), while the ~5% where Gemma also breaks from Claude isolate the genuinely ambiguous cases.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0249D-EB9F-594D-8BD5-F9A830797CC3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621FD-A714-D24E-922D-6EC3B4DA4896}"/>
              </a:ext>
            </a:extLst>
          </p:cNvPr>
          <p:cNvSpPr txBox="1"/>
          <p:nvPr/>
        </p:nvSpPr>
        <p:spPr>
          <a:xfrm>
            <a:off x="990600" y="6070600"/>
            <a:ext cx="1041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Gemma converts 208 raw disagreements into ~10 genuinely-uncertain cases worth human eyes.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B1B7E-D953-C842-BBDC-4D634D51D3E5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253747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2ED3F-A730-7D45-B1F8-E5FD944F8438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12C0F-A9CD-3143-A5CE-D68FFC850667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1A2233"/>
                </a:solidFill>
                <a:latin typeface="Cambria"/>
              </a:rPr>
              <a:t>Per-Dataset Agreement &amp; the </a:t>
            </a:r>
            <a:r>
              <a:rPr lang="el-GR" sz="2400" b="1">
                <a:solidFill>
                  <a:srgbClr val="1A2233"/>
                </a:solidFill>
                <a:latin typeface="Cambria"/>
              </a:rPr>
              <a:t>κ </a:t>
            </a:r>
            <a:r>
              <a:rPr lang="en-US" sz="2400" b="1">
                <a:solidFill>
                  <a:srgbClr val="1A2233"/>
                </a:solidFill>
                <a:latin typeface="Cambria"/>
              </a:rPr>
              <a:t>Base-Rate Paradox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E780A-911B-F44E-AEF1-852FBFE574F8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B7280"/>
                </a:solidFill>
                <a:latin typeface="Calibri"/>
                <a:cs typeface="Calibri"/>
              </a:rPr>
              <a:t>100% agreement with </a:t>
            </a:r>
            <a:r>
              <a:rPr lang="el-GR" sz="1200" i="1">
                <a:solidFill>
                  <a:srgbClr val="6B7280"/>
                </a:solidFill>
                <a:latin typeface="Calibri"/>
                <a:cs typeface="Calibri"/>
              </a:rPr>
              <a:t>κ = 0 </a:t>
            </a:r>
            <a:r>
              <a:rPr lang="en-US" sz="1200" i="1">
                <a:solidFill>
                  <a:srgbClr val="6B7280"/>
                </a:solidFill>
                <a:latin typeface="Calibri"/>
                <a:cs typeface="Calibri"/>
              </a:rPr>
              <a:t>is not a bug — it's a label-balance artifact.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9BC7A6-FA69-594E-B74C-47308025D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26618"/>
              </p:ext>
            </p:extLst>
          </p:nvPr>
        </p:nvGraphicFramePr>
        <p:xfrm>
          <a:off x="762000" y="1714500"/>
          <a:ext cx="5461000" cy="3878580"/>
        </p:xfrm>
        <a:graphic>
          <a:graphicData uri="http://schemas.openxmlformats.org/drawingml/2006/table">
            <a:tbl>
              <a:tblPr/>
              <a:tblGrid>
                <a:gridCol w="1365250">
                  <a:extLst>
                    <a:ext uri="{9D8B030D-6E8A-4147-A177-3AD203B41FA5}">
                      <a16:colId xmlns:a16="http://schemas.microsoft.com/office/drawing/2014/main" val="3311275613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339497133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731603001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641301137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C–Q agree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κ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4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hades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100.0%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35148138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mmdecodingtrust-i2t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99.0%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09915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salad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91.0%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0.48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955855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omnisafebench-mm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95.2%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0.58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105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redteaming-vlm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84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90.1%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0.8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6463203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siuo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73.0%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0.31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2167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mm-safetybench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85.1%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0.48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41577084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vlguard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74.0%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0.47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66596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spavl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74.7%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0.51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72450018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unisafe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66.3%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0.19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05682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vlsbench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66.7%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0.27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94688928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beavertails-v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70.4%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1A2233"/>
                          </a:solidFill>
                          <a:latin typeface="Calibri"/>
                          <a:cs typeface="Calibri"/>
                        </a:rPr>
                        <a:t>0.38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6896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3C9A66-650B-EB41-851F-1F9B262BEC22}"/>
              </a:ext>
            </a:extLst>
          </p:cNvPr>
          <p:cNvSpPr txBox="1"/>
          <p:nvPr/>
        </p:nvSpPr>
        <p:spPr>
          <a:xfrm>
            <a:off x="6731000" y="1778000"/>
            <a:ext cx="469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4400" b="1">
                <a:solidFill>
                  <a:srgbClr val="1F4E79"/>
                </a:solidFill>
                <a:latin typeface="Cambria"/>
              </a:rPr>
              <a:t>κ = 0.00</a:t>
            </a:r>
            <a:endParaRPr lang="en-US" sz="4400" b="1">
              <a:solidFill>
                <a:srgbClr val="1F4E79"/>
              </a:solidFill>
              <a:latin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86C33-40A2-4F48-95FC-CA1341250EC4}"/>
              </a:ext>
            </a:extLst>
          </p:cNvPr>
          <p:cNvSpPr txBox="1"/>
          <p:nvPr/>
        </p:nvSpPr>
        <p:spPr>
          <a:xfrm>
            <a:off x="6731000" y="2540000"/>
            <a:ext cx="4699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300">
                <a:solidFill>
                  <a:srgbClr val="6B7280"/>
                </a:solidFill>
                <a:latin typeface="Calibri"/>
                <a:cs typeface="Calibri"/>
              </a:rPr>
              <a:t>at 100% agreement   </a:t>
            </a:r>
            <a:r>
              <a:rPr lang="en-US" sz="1400">
                <a:solidFill>
                  <a:srgbClr val="6B7280"/>
                </a:solidFill>
                <a:cs typeface="Calibri"/>
              </a:rPr>
              <a:t>·   hades</a:t>
            </a:r>
            <a:endParaRPr lang="en-US" sz="1300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74EC2-A8F0-364A-9CBF-3E94C0507A1F}"/>
              </a:ext>
            </a:extLst>
          </p:cNvPr>
          <p:cNvSpPr txBox="1"/>
          <p:nvPr/>
        </p:nvSpPr>
        <p:spPr>
          <a:xfrm>
            <a:off x="6731000" y="3048000"/>
            <a:ext cx="469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When nearly all records are unsafe, there is no variance for </a:t>
            </a:r>
            <a:r>
              <a:rPr lang="el-GR" sz="1300">
                <a:solidFill>
                  <a:srgbClr val="1A2233"/>
                </a:solidFill>
                <a:latin typeface="Calibri"/>
                <a:cs typeface="Calibri"/>
              </a:rPr>
              <a:t>κ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to reward — high agreement is "free."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93062-E002-414F-9F49-BA20C476003A}"/>
              </a:ext>
            </a:extLst>
          </p:cNvPr>
          <p:cNvSpPr txBox="1"/>
          <p:nvPr/>
        </p:nvSpPr>
        <p:spPr>
          <a:xfrm>
            <a:off x="6731000" y="3810000"/>
            <a:ext cx="4699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3200" b="1">
                <a:solidFill>
                  <a:srgbClr val="1A2233"/>
                </a:solidFill>
                <a:latin typeface="Cambria"/>
              </a:rPr>
              <a:t>κ = 0.</a:t>
            </a:r>
            <a:r>
              <a:rPr lang="en-US" sz="3200" b="1">
                <a:solidFill>
                  <a:srgbClr val="1A2233"/>
                </a:solidFill>
                <a:latin typeface="Cambria"/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70E65-D155-F846-AFA8-DF6A96086168}"/>
              </a:ext>
            </a:extLst>
          </p:cNvPr>
          <p:cNvSpPr txBox="1"/>
          <p:nvPr/>
        </p:nvSpPr>
        <p:spPr>
          <a:xfrm>
            <a:off x="6731000" y="43815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at only 90% agreement   ·   redteaming-vlm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2A069C-AF93-C149-8C6B-09E753BFD466}"/>
              </a:ext>
            </a:extLst>
          </p:cNvPr>
          <p:cNvSpPr txBox="1"/>
          <p:nvPr/>
        </p:nvSpPr>
        <p:spPr>
          <a:xfrm>
            <a:off x="6731000" y="4762500"/>
            <a:ext cx="469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Balanced label distributions reveal the honest signal — lower raw agreement, much higher </a:t>
            </a:r>
            <a:r>
              <a:rPr lang="el-GR" sz="1300">
                <a:solidFill>
                  <a:srgbClr val="1A2233"/>
                </a:solidFill>
                <a:latin typeface="Calibri"/>
                <a:cs typeface="Calibri"/>
              </a:rPr>
              <a:t>κ.</a:t>
            </a:r>
            <a:endParaRPr lang="en-US" sz="1300">
              <a:solidFill>
                <a:srgbClr val="1A2233"/>
              </a:solidFill>
              <a:latin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226081-D9BB-7E4C-BD3E-4E50DBECECA2}"/>
              </a:ext>
            </a:extLst>
          </p:cNvPr>
          <p:cNvSpPr/>
          <p:nvPr/>
        </p:nvSpPr>
        <p:spPr>
          <a:xfrm>
            <a:off x="762000" y="5815340"/>
            <a:ext cx="45719" cy="29971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5A36E4-0B94-CE41-BF4F-74F25232FECE}"/>
              </a:ext>
            </a:extLst>
          </p:cNvPr>
          <p:cNvSpPr txBox="1"/>
          <p:nvPr/>
        </p:nvSpPr>
        <p:spPr>
          <a:xfrm>
            <a:off x="807719" y="5834390"/>
            <a:ext cx="4942451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1A2233"/>
                </a:solidFill>
                <a:latin typeface="Calibri"/>
                <a:cs typeface="Calibri"/>
              </a:rPr>
              <a:t>High agreement ≠ high alignment — read </a:t>
            </a:r>
            <a:r>
              <a:rPr lang="el-GR" sz="1050" b="1">
                <a:solidFill>
                  <a:srgbClr val="1A2233"/>
                </a:solidFill>
                <a:latin typeface="Calibri"/>
                <a:cs typeface="Calibri"/>
              </a:rPr>
              <a:t>κ </a:t>
            </a:r>
            <a:r>
              <a:rPr lang="en-US" sz="1050" b="1">
                <a:solidFill>
                  <a:srgbClr val="1A2233"/>
                </a:solidFill>
                <a:latin typeface="Calibri"/>
                <a:cs typeface="Calibri"/>
              </a:rPr>
              <a:t>and raw agreement together, never alone.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B46E1-148C-0946-807A-0579578FFBC8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6128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2CADA8-89DA-3C46-B1E4-0964F9FDC3DE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EC399-F2B1-8440-BED4-2A7C0618BD8C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Dataset Difficulty Tiers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71A5A-672E-3F40-B385-25ED405EBB62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Three clusters by Claude–Qwen agreement.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C68DD-AC6A-AC4E-80AD-E4C7276572CB}"/>
              </a:ext>
            </a:extLst>
          </p:cNvPr>
          <p:cNvSpPr/>
          <p:nvPr/>
        </p:nvSpPr>
        <p:spPr>
          <a:xfrm>
            <a:off x="762000" y="1905000"/>
            <a:ext cx="76200" cy="1016000"/>
          </a:xfrm>
          <a:prstGeom prst="rect">
            <a:avLst/>
          </a:prstGeom>
          <a:solidFill>
            <a:srgbClr val="8C9B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13683-16F7-0444-94CD-49073C9B87BB}"/>
              </a:ext>
            </a:extLst>
          </p:cNvPr>
          <p:cNvSpPr txBox="1"/>
          <p:nvPr/>
        </p:nvSpPr>
        <p:spPr>
          <a:xfrm>
            <a:off x="1079500" y="19050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233"/>
                </a:solidFill>
                <a:latin typeface="Cambria"/>
              </a:rPr>
              <a:t>Easy / saturated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85B12-1227-5C45-B6F7-C08B289E70F4}"/>
              </a:ext>
            </a:extLst>
          </p:cNvPr>
          <p:cNvSpPr txBox="1"/>
          <p:nvPr/>
        </p:nvSpPr>
        <p:spPr>
          <a:xfrm>
            <a:off x="1079500" y="22860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8C9BAB"/>
                </a:solidFill>
                <a:latin typeface="Calibri"/>
                <a:cs typeface="Calibri"/>
              </a:rPr>
              <a:t>≥ 90%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D1601-9152-1F43-8BD0-C2938BAB4A90}"/>
              </a:ext>
            </a:extLst>
          </p:cNvPr>
          <p:cNvSpPr txBox="1"/>
          <p:nvPr/>
        </p:nvSpPr>
        <p:spPr>
          <a:xfrm>
            <a:off x="4064000" y="1997808"/>
            <a:ext cx="736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hades   ·   mmdecodingtrust-i2t   ·   salad   ·   omnisafebench-mm</a:t>
            </a:r>
            <a:r>
              <a:rPr lang="en-US" sz="1300">
                <a:solidFill>
                  <a:srgbClr val="1A2233"/>
                </a:solidFill>
                <a:cs typeface="Calibri"/>
              </a:rPr>
              <a:t>   ·   redteaming-vlm   ·  salad </a:t>
            </a:r>
            <a:endParaRPr lang="en-US" sz="1300">
              <a:solidFill>
                <a:srgbClr val="1A2233"/>
              </a:solidFill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1F649-9760-614A-9990-5A9CF081C4D4}"/>
              </a:ext>
            </a:extLst>
          </p:cNvPr>
          <p:cNvSpPr/>
          <p:nvPr/>
        </p:nvSpPr>
        <p:spPr>
          <a:xfrm>
            <a:off x="762000" y="30480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BC3FAF-8BAE-474A-8FD1-13E1036A25D1}"/>
              </a:ext>
            </a:extLst>
          </p:cNvPr>
          <p:cNvSpPr/>
          <p:nvPr/>
        </p:nvSpPr>
        <p:spPr>
          <a:xfrm>
            <a:off x="762000" y="3175000"/>
            <a:ext cx="76200" cy="1016000"/>
          </a:xfrm>
          <a:prstGeom prst="rect">
            <a:avLst/>
          </a:prstGeom>
          <a:solidFill>
            <a:srgbClr val="5B7A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6EAE1-4640-5847-B980-BA153178F5E7}"/>
              </a:ext>
            </a:extLst>
          </p:cNvPr>
          <p:cNvSpPr txBox="1"/>
          <p:nvPr/>
        </p:nvSpPr>
        <p:spPr>
          <a:xfrm>
            <a:off x="1079500" y="31750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233"/>
                </a:solidFill>
                <a:latin typeface="Cambria"/>
              </a:rPr>
              <a:t>Moderate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C6C3E-ECC5-3D44-910E-0E71DB477D84}"/>
              </a:ext>
            </a:extLst>
          </p:cNvPr>
          <p:cNvSpPr txBox="1"/>
          <p:nvPr/>
        </p:nvSpPr>
        <p:spPr>
          <a:xfrm>
            <a:off x="1079500" y="35560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B7A99"/>
                </a:solidFill>
                <a:latin typeface="Calibri"/>
                <a:cs typeface="Calibri"/>
              </a:rPr>
              <a:t>70–86%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A47E0-3196-6E41-B4B5-B1C20406775C}"/>
              </a:ext>
            </a:extLst>
          </p:cNvPr>
          <p:cNvSpPr txBox="1"/>
          <p:nvPr/>
        </p:nvSpPr>
        <p:spPr>
          <a:xfrm>
            <a:off x="4064000" y="3276600"/>
            <a:ext cx="736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Beavertails-v   ·   siuo   ·   mm-safetybench   ·   vlguard   ·   spavl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A2E944-F573-1A4E-84AF-27FA0B43E198}"/>
              </a:ext>
            </a:extLst>
          </p:cNvPr>
          <p:cNvSpPr/>
          <p:nvPr/>
        </p:nvSpPr>
        <p:spPr>
          <a:xfrm>
            <a:off x="762000" y="43180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F46A6-5A6C-F541-8806-6D6820AC8AAA}"/>
              </a:ext>
            </a:extLst>
          </p:cNvPr>
          <p:cNvSpPr/>
          <p:nvPr/>
        </p:nvSpPr>
        <p:spPr>
          <a:xfrm>
            <a:off x="762000" y="4445000"/>
            <a:ext cx="76200" cy="1016000"/>
          </a:xfrm>
          <a:prstGeom prst="rect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8CDF2-CE44-AB49-970A-BFC683DB2223}"/>
              </a:ext>
            </a:extLst>
          </p:cNvPr>
          <p:cNvSpPr txBox="1"/>
          <p:nvPr/>
        </p:nvSpPr>
        <p:spPr>
          <a:xfrm>
            <a:off x="1079500" y="44450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233"/>
                </a:solidFill>
                <a:latin typeface="Cambria"/>
              </a:rPr>
              <a:t>Hard / contested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586409-56BC-5B4C-9A37-3492D1FB248B}"/>
              </a:ext>
            </a:extLst>
          </p:cNvPr>
          <p:cNvSpPr txBox="1"/>
          <p:nvPr/>
        </p:nvSpPr>
        <p:spPr>
          <a:xfrm>
            <a:off x="1079500" y="48260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8860B"/>
                </a:solidFill>
                <a:latin typeface="Calibri"/>
                <a:cs typeface="Calibri"/>
              </a:rPr>
              <a:t>&lt; 70%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ACB763-DF7F-C04F-957E-24779E15B30F}"/>
              </a:ext>
            </a:extLst>
          </p:cNvPr>
          <p:cNvSpPr txBox="1"/>
          <p:nvPr/>
        </p:nvSpPr>
        <p:spPr>
          <a:xfrm>
            <a:off x="4064000" y="4546600"/>
            <a:ext cx="736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unisafe (67.3%)   ·   vlsbench (65.3%)   ·   beavertails-v (60.0%)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4B7454-12F0-7D45-A05E-0830CC3F3166}"/>
              </a:ext>
            </a:extLst>
          </p:cNvPr>
          <p:cNvSpPr/>
          <p:nvPr/>
        </p:nvSpPr>
        <p:spPr>
          <a:xfrm>
            <a:off x="762000" y="55880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215F8-9EBD-F24D-8F0B-9A38D68251B1}"/>
              </a:ext>
            </a:extLst>
          </p:cNvPr>
          <p:cNvSpPr txBox="1"/>
          <p:nvPr/>
        </p:nvSpPr>
        <p:spPr>
          <a:xfrm>
            <a:off x="762000" y="561975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8F543-C6C8-BB47-8393-F48FB22DCE37}"/>
              </a:ext>
            </a:extLst>
          </p:cNvPr>
          <p:cNvSpPr txBox="1"/>
          <p:nvPr/>
        </p:nvSpPr>
        <p:spPr>
          <a:xfrm>
            <a:off x="762000" y="583565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Difficulty tracks label balance and image-grounded ambiguity. The hard tier is where Claude (precision) and Qwen (recall) most often part ways.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68F371-50C6-D248-8173-A6C06630C4EB}"/>
              </a:ext>
            </a:extLst>
          </p:cNvPr>
          <p:cNvSpPr/>
          <p:nvPr/>
        </p:nvSpPr>
        <p:spPr>
          <a:xfrm>
            <a:off x="762000" y="6280150"/>
            <a:ext cx="50800" cy="304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5EFEEA-37A9-2042-A55C-427A381EB4B9}"/>
              </a:ext>
            </a:extLst>
          </p:cNvPr>
          <p:cNvSpPr txBox="1"/>
          <p:nvPr/>
        </p:nvSpPr>
        <p:spPr>
          <a:xfrm>
            <a:off x="990600" y="630555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Three datasets — beavertails-v, vlsbench, unisafe — drive most of the genuine disagreement.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71C255-827A-C04F-BE9E-8DAEE663C839}"/>
              </a:ext>
            </a:extLst>
          </p:cNvPr>
          <p:cNvSpPr txBox="1"/>
          <p:nvPr/>
        </p:nvSpPr>
        <p:spPr>
          <a:xfrm>
            <a:off x="11049000" y="6604000"/>
            <a:ext cx="635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710460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97515-517C-724C-96C9-967A32DB4F48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C554D-8472-3D42-8F59-48D2E9784DBF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Where Gemma Distrusts Claude Most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44F78-9C6B-F442-8B9A-AF14F68995B5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Gemma-disagree count per dataset — one massive outlier.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CF920-F2C5-A246-8775-81169EB2D9F1}"/>
              </a:ext>
            </a:extLst>
          </p:cNvPr>
          <p:cNvSpPr txBox="1"/>
          <p:nvPr/>
        </p:nvSpPr>
        <p:spPr>
          <a:xfrm>
            <a:off x="762000" y="18415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233"/>
                </a:solidFill>
                <a:latin typeface="Calibri"/>
                <a:cs typeface="Calibri"/>
              </a:rPr>
              <a:t>redteaming-vlm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F54FB7-9339-5547-B3CB-F2CFCE9AE8FE}"/>
              </a:ext>
            </a:extLst>
          </p:cNvPr>
          <p:cNvSpPr/>
          <p:nvPr/>
        </p:nvSpPr>
        <p:spPr>
          <a:xfrm>
            <a:off x="2921000" y="1892300"/>
            <a:ext cx="6038362" cy="228600"/>
          </a:xfrm>
          <a:prstGeom prst="rect">
            <a:avLst/>
          </a:prstGeom>
          <a:solidFill>
            <a:srgbClr val="B886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583CB-08BF-9047-A9F3-D7DDD784B04C}"/>
              </a:ext>
            </a:extLst>
          </p:cNvPr>
          <p:cNvSpPr txBox="1"/>
          <p:nvPr/>
        </p:nvSpPr>
        <p:spPr>
          <a:xfrm>
            <a:off x="9080500" y="1841500"/>
            <a:ext cx="177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B8860B"/>
                </a:solidFill>
                <a:latin typeface="Calibri"/>
                <a:cs typeface="Calibri"/>
              </a:rPr>
              <a:t>33 / 84 (39.2%)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F667A-AE4F-7244-B25D-61218AC5C160}"/>
              </a:ext>
            </a:extLst>
          </p:cNvPr>
          <p:cNvSpPr txBox="1"/>
          <p:nvPr/>
        </p:nvSpPr>
        <p:spPr>
          <a:xfrm>
            <a:off x="762000" y="22987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vlsbench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7496F-70ED-BC46-B37B-BEBCE9706E13}"/>
              </a:ext>
            </a:extLst>
          </p:cNvPr>
          <p:cNvSpPr/>
          <p:nvPr/>
        </p:nvSpPr>
        <p:spPr>
          <a:xfrm>
            <a:off x="2921000" y="2349500"/>
            <a:ext cx="1111250" cy="228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7C14A-0DF0-DB46-A1FC-B9D3EA35F568}"/>
              </a:ext>
            </a:extLst>
          </p:cNvPr>
          <p:cNvSpPr txBox="1"/>
          <p:nvPr/>
        </p:nvSpPr>
        <p:spPr>
          <a:xfrm>
            <a:off x="4162181" y="2298700"/>
            <a:ext cx="177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4E79"/>
                </a:solidFill>
                <a:latin typeface="Calibri"/>
                <a:cs typeface="Calibri"/>
              </a:rPr>
              <a:t>7/100 (7.0%)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D535D-DA67-E54C-AA64-6BDBBDED3CF9}"/>
              </a:ext>
            </a:extLst>
          </p:cNvPr>
          <p:cNvSpPr txBox="1"/>
          <p:nvPr/>
        </p:nvSpPr>
        <p:spPr>
          <a:xfrm>
            <a:off x="762000" y="2755900"/>
            <a:ext cx="203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siuo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BD2A51-417D-FA4A-84F8-937D1571C432}"/>
              </a:ext>
            </a:extLst>
          </p:cNvPr>
          <p:cNvSpPr txBox="1"/>
          <p:nvPr/>
        </p:nvSpPr>
        <p:spPr>
          <a:xfrm>
            <a:off x="762000" y="3216203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all others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249D52-2B27-2E4E-831A-920A9795691C}"/>
              </a:ext>
            </a:extLst>
          </p:cNvPr>
          <p:cNvSpPr/>
          <p:nvPr/>
        </p:nvSpPr>
        <p:spPr>
          <a:xfrm>
            <a:off x="2921000" y="3267003"/>
            <a:ext cx="103554" cy="228600"/>
          </a:xfrm>
          <a:prstGeom prst="rect">
            <a:avLst/>
          </a:prstGeom>
          <a:solidFill>
            <a:srgbClr val="8C9B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E290B2-4829-A948-AF40-2333F84CA498}"/>
              </a:ext>
            </a:extLst>
          </p:cNvPr>
          <p:cNvSpPr txBox="1"/>
          <p:nvPr/>
        </p:nvSpPr>
        <p:spPr>
          <a:xfrm>
            <a:off x="3151554" y="3242780"/>
            <a:ext cx="177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9BAB"/>
                </a:solidFill>
                <a:latin typeface="Calibri"/>
                <a:cs typeface="Calibri"/>
              </a:rPr>
              <a:t>7/900 (0.7%)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ADF23-70FB-6348-8BEC-44950E7E24A6}"/>
              </a:ext>
            </a:extLst>
          </p:cNvPr>
          <p:cNvSpPr txBox="1"/>
          <p:nvPr/>
        </p:nvSpPr>
        <p:spPr>
          <a:xfrm>
            <a:off x="762000" y="4318000"/>
            <a:ext cx="2921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B8860B"/>
                </a:solidFill>
                <a:latin typeface="Cambria"/>
              </a:rPr>
              <a:t>≈ 66%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42107-B3BD-7E40-841D-454F74D3341A}"/>
              </a:ext>
            </a:extLst>
          </p:cNvPr>
          <p:cNvSpPr txBox="1"/>
          <p:nvPr/>
        </p:nvSpPr>
        <p:spPr>
          <a:xfrm>
            <a:off x="3683000" y="4679950"/>
            <a:ext cx="749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A2233"/>
                </a:solidFill>
                <a:latin typeface="Calibri"/>
                <a:cs typeface="Calibri"/>
              </a:rPr>
              <a:t>of Claude's verdicts on redteaming-vlm are contested by Gemma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940F69-4E00-3F43-8A66-A8D0C6FBE604}"/>
              </a:ext>
            </a:extLst>
          </p:cNvPr>
          <p:cNvSpPr txBox="1"/>
          <p:nvPr/>
        </p:nvSpPr>
        <p:spPr>
          <a:xfrm>
            <a:off x="762000" y="53086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CE939F-4531-B94C-AE1C-AA21A9F7FFE7}"/>
              </a:ext>
            </a:extLst>
          </p:cNvPr>
          <p:cNvSpPr txBox="1"/>
          <p:nvPr/>
        </p:nvSpPr>
        <p:spPr>
          <a:xfrm>
            <a:off x="762000" y="55372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redteaming-vlm has the highest </a:t>
            </a:r>
            <a:r>
              <a:rPr lang="el-GR" sz="1300">
                <a:solidFill>
                  <a:srgbClr val="1A2233"/>
                </a:solidFill>
                <a:latin typeface="Calibri"/>
                <a:cs typeface="Calibri"/>
              </a:rPr>
              <a:t>κ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between Claude and Qwen (0.619) yet the highest Gemma dissent — Claude and Qwen agree with each other while Gemma flags both. That pattern hints at a systematic blind spot.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8476F6-58D1-3B4D-8412-271D8BBB6352}"/>
              </a:ext>
            </a:extLst>
          </p:cNvPr>
          <p:cNvSpPr/>
          <p:nvPr/>
        </p:nvSpPr>
        <p:spPr>
          <a:xfrm>
            <a:off x="762000" y="6146800"/>
            <a:ext cx="50800" cy="3302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4C56DB-66E3-A747-B054-54259A4D38E1}"/>
              </a:ext>
            </a:extLst>
          </p:cNvPr>
          <p:cNvSpPr txBox="1"/>
          <p:nvPr/>
        </p:nvSpPr>
        <p:spPr>
          <a:xfrm>
            <a:off x="990600" y="61849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redteaming-vlm warrants a dedicated audit — Gemma flags it far beyond any other set.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F5E196-CD9C-BE4C-8425-D478E8B7C7A9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13 / 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3CB243-A9F7-95CB-DC60-12E613DD29F1}"/>
              </a:ext>
            </a:extLst>
          </p:cNvPr>
          <p:cNvSpPr/>
          <p:nvPr/>
        </p:nvSpPr>
        <p:spPr>
          <a:xfrm>
            <a:off x="2921000" y="2800206"/>
            <a:ext cx="1111250" cy="228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354AEB-39F6-5EB4-E5E5-C9ED08B800E3}"/>
              </a:ext>
            </a:extLst>
          </p:cNvPr>
          <p:cNvSpPr txBox="1"/>
          <p:nvPr/>
        </p:nvSpPr>
        <p:spPr>
          <a:xfrm>
            <a:off x="4162181" y="2749406"/>
            <a:ext cx="177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4E79"/>
                </a:solidFill>
                <a:latin typeface="Calibri"/>
                <a:cs typeface="Calibri"/>
              </a:rPr>
              <a:t>7/100 (7.0%)</a:t>
            </a:r>
          </a:p>
        </p:txBody>
      </p:sp>
    </p:spTree>
    <p:extLst>
      <p:ext uri="{BB962C8B-B14F-4D97-AF65-F5344CB8AC3E}">
        <p14:creationId xmlns:p14="http://schemas.microsoft.com/office/powerpoint/2010/main" val="3448270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DD74B-1487-684B-B25F-A160FC12E6B5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E1D98-D8F6-7345-A0A9-A31F27DEA962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Policy-Level Patterns in Disagreement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8EC1C-BF5C-324C-A604-347E0F09EB89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Where the extra strictness concentrates — and what Gemma says about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D1100-3B9C-7E44-852A-2B62EFFF6F02}"/>
              </a:ext>
            </a:extLst>
          </p:cNvPr>
          <p:cNvSpPr txBox="1"/>
          <p:nvPr/>
        </p:nvSpPr>
        <p:spPr>
          <a:xfrm>
            <a:off x="762000" y="1841500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F4E79"/>
                </a:solidFill>
                <a:latin typeface="Cambria"/>
              </a:rPr>
              <a:t>Claude stricter   ·   67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712C7-A0D0-AD48-958A-9EFC435D68C5}"/>
              </a:ext>
            </a:extLst>
          </p:cNvPr>
          <p:cNvSpPr txBox="1"/>
          <p:nvPr/>
        </p:nvSpPr>
        <p:spPr>
          <a:xfrm>
            <a:off x="762000" y="2222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B7280"/>
                </a:solidFill>
                <a:latin typeface="Calibri"/>
                <a:cs typeface="Calibri"/>
              </a:rPr>
              <a:t>Recurring policies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02ED64-92B7-5341-94A4-8E945CB8B23B}"/>
              </a:ext>
            </a:extLst>
          </p:cNvPr>
          <p:cNvSpPr txBox="1"/>
          <p:nvPr/>
        </p:nvSpPr>
        <p:spPr>
          <a:xfrm>
            <a:off x="762000" y="24638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libri"/>
                <a:cs typeface="Calibri"/>
              </a:rPr>
              <a:t>P21   ·   P19 / P11   ·   P27 / P28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F6181-3A85-7342-B5DC-9DCEBC564028}"/>
              </a:ext>
            </a:extLst>
          </p:cNvPr>
          <p:cNvSpPr txBox="1"/>
          <p:nvPr/>
        </p:nvSpPr>
        <p:spPr>
          <a:xfrm>
            <a:off x="762000" y="2895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B7280"/>
                </a:solidFill>
                <a:latin typeface="Calibri"/>
                <a:cs typeface="Calibri"/>
              </a:rPr>
              <a:t>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86436-C03E-AB42-851B-2DAD23180842}"/>
              </a:ext>
            </a:extLst>
          </p:cNvPr>
          <p:cNvSpPr txBox="1"/>
          <p:nvPr/>
        </p:nvSpPr>
        <p:spPr>
          <a:xfrm>
            <a:off x="762000" y="31369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siuo, spavl, unisafe, vlsbench, vlguard, mm-safetybench, redteaming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A0332-2595-6647-8014-B82F54AAE114}"/>
              </a:ext>
            </a:extLst>
          </p:cNvPr>
          <p:cNvSpPr txBox="1"/>
          <p:nvPr/>
        </p:nvSpPr>
        <p:spPr>
          <a:xfrm>
            <a:off x="762000" y="3746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B7280"/>
                </a:solidFill>
                <a:latin typeface="Calibri"/>
                <a:cs typeface="Calibri"/>
              </a:rPr>
              <a:t>Gemma backed Claude 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386E3-7FEA-0346-BC07-A9EF98B5F46F}"/>
              </a:ext>
            </a:extLst>
          </p:cNvPr>
          <p:cNvSpPr txBox="1"/>
          <p:nvPr/>
        </p:nvSpPr>
        <p:spPr>
          <a:xfrm>
            <a:off x="762000" y="39878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1F4E79"/>
                </a:solidFill>
                <a:latin typeface="Cambria"/>
              </a:rPr>
              <a:t>~ 61 / 67   (≈ 91%)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4AAE6-CCD8-7D41-8123-2BD25E314DAC}"/>
              </a:ext>
            </a:extLst>
          </p:cNvPr>
          <p:cNvSpPr txBox="1"/>
          <p:nvPr/>
        </p:nvSpPr>
        <p:spPr>
          <a:xfrm>
            <a:off x="6350000" y="1841500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B8860B"/>
                </a:solidFill>
                <a:latin typeface="Cambria"/>
              </a:rPr>
              <a:t>Qwen stricter   ·   141 cases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1F36DF-2D28-F646-8570-D402C7AEA4A5}"/>
              </a:ext>
            </a:extLst>
          </p:cNvPr>
          <p:cNvSpPr txBox="1"/>
          <p:nvPr/>
        </p:nvSpPr>
        <p:spPr>
          <a:xfrm>
            <a:off x="6350000" y="2222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B7280"/>
                </a:solidFill>
                <a:latin typeface="Calibri"/>
                <a:cs typeface="Calibri"/>
              </a:rPr>
              <a:t>Most common policies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3D441-2F7D-1743-A4BB-F043254899FB}"/>
              </a:ext>
            </a:extLst>
          </p:cNvPr>
          <p:cNvSpPr txBox="1"/>
          <p:nvPr/>
        </p:nvSpPr>
        <p:spPr>
          <a:xfrm>
            <a:off x="6350000" y="24638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libri"/>
                <a:cs typeface="Calibri"/>
              </a:rPr>
              <a:t>P8   ·   P9   ·   P10   ·   P28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3B7B8-9741-074F-9A67-EC8F8F6D3207}"/>
              </a:ext>
            </a:extLst>
          </p:cNvPr>
          <p:cNvSpPr txBox="1"/>
          <p:nvPr/>
        </p:nvSpPr>
        <p:spPr>
          <a:xfrm>
            <a:off x="6350000" y="2895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B7280"/>
                </a:solidFill>
                <a:latin typeface="Calibri"/>
                <a:cs typeface="Calibri"/>
              </a:rPr>
              <a:t>Pattern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D3FD9-7963-CD4C-93CB-31C0FDEB2274}"/>
              </a:ext>
            </a:extLst>
          </p:cNvPr>
          <p:cNvSpPr txBox="1"/>
          <p:nvPr/>
        </p:nvSpPr>
        <p:spPr>
          <a:xfrm>
            <a:off x="6350000" y="31369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Broad spread across datasets; clusters in beavertails-v and vlsbench.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48228-78B1-D64C-90C5-B108A10CAB1B}"/>
              </a:ext>
            </a:extLst>
          </p:cNvPr>
          <p:cNvSpPr txBox="1"/>
          <p:nvPr/>
        </p:nvSpPr>
        <p:spPr>
          <a:xfrm>
            <a:off x="6350000" y="3746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B7280"/>
                </a:solidFill>
                <a:latin typeface="Calibri"/>
                <a:cs typeface="Calibri"/>
              </a:rPr>
              <a:t>Gemma sided against Claude 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772F05-27EA-4144-949C-74949FADE8BE}"/>
              </a:ext>
            </a:extLst>
          </p:cNvPr>
          <p:cNvSpPr txBox="1"/>
          <p:nvPr/>
        </p:nvSpPr>
        <p:spPr>
          <a:xfrm>
            <a:off x="6350000" y="39878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B8860B"/>
                </a:solidFill>
                <a:latin typeface="Cambria"/>
              </a:rPr>
              <a:t>~ 7 cases   →   real Claude misses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DBFEC1-C7FD-3447-8D1B-76AFB0A2F32F}"/>
              </a:ext>
            </a:extLst>
          </p:cNvPr>
          <p:cNvSpPr/>
          <p:nvPr/>
        </p:nvSpPr>
        <p:spPr>
          <a:xfrm>
            <a:off x="6096000" y="1841500"/>
            <a:ext cx="12700" cy="26670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47DFF-DF98-6E47-A9F9-454193398993}"/>
              </a:ext>
            </a:extLst>
          </p:cNvPr>
          <p:cNvSpPr txBox="1"/>
          <p:nvPr/>
        </p:nvSpPr>
        <p:spPr>
          <a:xfrm>
            <a:off x="762000" y="50165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4E79"/>
                </a:solidFill>
                <a:latin typeface="Cambria"/>
              </a:rPr>
              <a:t>Interpretation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373A81-B5BC-6F40-8235-06EF6DF22BA4}"/>
              </a:ext>
            </a:extLst>
          </p:cNvPr>
          <p:cNvSpPr txBox="1"/>
          <p:nvPr/>
        </p:nvSpPr>
        <p:spPr>
          <a:xfrm>
            <a:off x="762000" y="52451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Claude's extra strictness is vindicated by Gemma ~91% of the time — genuine catches, not paranoia. Qwen's extra flags are mostly false alarms, but ~7 Gemma-confirmed ones are real Claude misses worth feeding back into the policy prompts.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F3084A-8C05-B149-89B4-15DBB0902E81}"/>
              </a:ext>
            </a:extLst>
          </p:cNvPr>
          <p:cNvSpPr/>
          <p:nvPr/>
        </p:nvSpPr>
        <p:spPr>
          <a:xfrm>
            <a:off x="762000" y="60706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C29AE-1E1C-6647-9292-5855549B24F6}"/>
              </a:ext>
            </a:extLst>
          </p:cNvPr>
          <p:cNvSpPr txBox="1"/>
          <p:nvPr/>
        </p:nvSpPr>
        <p:spPr>
          <a:xfrm>
            <a:off x="990600" y="6108700"/>
            <a:ext cx="1041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Claude's strictness is well-founded; ~7 Qwen flags expose true Claude misses to fix.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7B9C0B-0B7B-7540-8AB7-D07FE2AC2B92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2009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1D2375-2BCE-F54A-B583-2A83E31910E0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4F5B4-72BB-F447-AB4B-069AFB928E99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Validity Checks &amp; Limits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6EDF0-88E8-3848-B95E-E8616DA92CE2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What we explicitly tested for — and what we cannot conclude.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54AE7-0725-374E-A6FB-E59E391FBD90}"/>
              </a:ext>
            </a:extLst>
          </p:cNvPr>
          <p:cNvSpPr txBox="1"/>
          <p:nvPr/>
        </p:nvSpPr>
        <p:spPr>
          <a:xfrm>
            <a:off x="762000" y="18415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Validity checks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FFEC6-53B6-5C40-A56A-DB8E2E5300AC}"/>
              </a:ext>
            </a:extLst>
          </p:cNvPr>
          <p:cNvSpPr txBox="1"/>
          <p:nvPr/>
        </p:nvSpPr>
        <p:spPr>
          <a:xfrm>
            <a:off x="762000" y="21590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25112-4C3B-E44F-8DC9-64BEA8CD1432}"/>
              </a:ext>
            </a:extLst>
          </p:cNvPr>
          <p:cNvSpPr txBox="1"/>
          <p:nvPr/>
        </p:nvSpPr>
        <p:spPr>
          <a:xfrm>
            <a:off x="762000" y="2387600"/>
            <a:ext cx="5334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1142 / 1184 records (96.5%) carry binary verdicts from both judges.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47BD2-1BA6-B544-A135-2856094F9139}"/>
              </a:ext>
            </a:extLst>
          </p:cNvPr>
          <p:cNvSpPr txBox="1"/>
          <p:nvPr/>
        </p:nvSpPr>
        <p:spPr>
          <a:xfrm>
            <a:off x="762000" y="31115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Gemma independence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CC203-5DD5-C141-BBF8-EF2D0CDEDE07}"/>
              </a:ext>
            </a:extLst>
          </p:cNvPr>
          <p:cNvSpPr txBox="1"/>
          <p:nvPr/>
        </p:nvSpPr>
        <p:spPr>
          <a:xfrm>
            <a:off x="762000" y="3340100"/>
            <a:ext cx="5334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Verifier reads only the input + Claude's verdict — never sees Qwen — so the +5.9 pt lift is a real signal.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02063-0C0C-6D41-92BF-2F01562F1DE5}"/>
              </a:ext>
            </a:extLst>
          </p:cNvPr>
          <p:cNvSpPr txBox="1"/>
          <p:nvPr/>
        </p:nvSpPr>
        <p:spPr>
          <a:xfrm>
            <a:off x="762000" y="40640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Asymmetry confirmed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E43F5-BD3D-AD43-ADB8-4F695A6E9763}"/>
              </a:ext>
            </a:extLst>
          </p:cNvPr>
          <p:cNvSpPr txBox="1"/>
          <p:nvPr/>
        </p:nvSpPr>
        <p:spPr>
          <a:xfrm>
            <a:off x="762000" y="4292600"/>
            <a:ext cx="5334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FP : FN = 2.1 : 1 is consistent across the moderate and hard tiers; not driven by a single dataset.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9F26E3-3C50-4340-B522-25B2CAFFEE01}"/>
              </a:ext>
            </a:extLst>
          </p:cNvPr>
          <p:cNvSpPr txBox="1"/>
          <p:nvPr/>
        </p:nvSpPr>
        <p:spPr>
          <a:xfrm>
            <a:off x="762000" y="50165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Base-rate paradox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46723-F7EC-484A-B0CD-64FE8E194B97}"/>
              </a:ext>
            </a:extLst>
          </p:cNvPr>
          <p:cNvSpPr txBox="1"/>
          <p:nvPr/>
        </p:nvSpPr>
        <p:spPr>
          <a:xfrm>
            <a:off x="762000" y="5245100"/>
            <a:ext cx="533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200">
                <a:solidFill>
                  <a:srgbClr val="1A2233"/>
                </a:solidFill>
                <a:latin typeface="Calibri"/>
                <a:cs typeface="Calibri"/>
              </a:rPr>
              <a:t>κ = 0 </a:t>
            </a:r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at 100% agreement is mathematical, not a labeling error. Two datasets have ~unanimous unsafe labels.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45E8EE-76B5-FF4F-B5C7-A55CC9B599BB}"/>
              </a:ext>
            </a:extLst>
          </p:cNvPr>
          <p:cNvSpPr/>
          <p:nvPr/>
        </p:nvSpPr>
        <p:spPr>
          <a:xfrm>
            <a:off x="6286500" y="1841500"/>
            <a:ext cx="12700" cy="41275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24E36-D562-6D4A-869D-126C327F49AF}"/>
              </a:ext>
            </a:extLst>
          </p:cNvPr>
          <p:cNvSpPr txBox="1"/>
          <p:nvPr/>
        </p:nvSpPr>
        <p:spPr>
          <a:xfrm>
            <a:off x="6604000" y="1841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8860B"/>
                </a:solidFill>
                <a:latin typeface="Cambria"/>
              </a:rPr>
              <a:t>Limits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A8A2E8-84F7-4144-8DB0-1E27244C1892}"/>
              </a:ext>
            </a:extLst>
          </p:cNvPr>
          <p:cNvSpPr txBox="1"/>
          <p:nvPr/>
        </p:nvSpPr>
        <p:spPr>
          <a:xfrm>
            <a:off x="6604000" y="2159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No ground truth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E46B1-4CA7-C743-BD79-4F08B6CE4A07}"/>
              </a:ext>
            </a:extLst>
          </p:cNvPr>
          <p:cNvSpPr txBox="1"/>
          <p:nvPr/>
        </p:nvSpPr>
        <p:spPr>
          <a:xfrm>
            <a:off x="6604000" y="2387600"/>
            <a:ext cx="4826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Inter-guardrail agreement is not accuracy. None of Claude, Qwen, Gemma is treated as the oracle here.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F50881-CE85-7442-864E-7A4F0340856E}"/>
              </a:ext>
            </a:extLst>
          </p:cNvPr>
          <p:cNvSpPr txBox="1"/>
          <p:nvPr/>
        </p:nvSpPr>
        <p:spPr>
          <a:xfrm>
            <a:off x="6604000" y="31115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Small per-dataset 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FADE74-E087-2A44-977B-6B8C4632DAF1}"/>
              </a:ext>
            </a:extLst>
          </p:cNvPr>
          <p:cNvSpPr txBox="1"/>
          <p:nvPr/>
        </p:nvSpPr>
        <p:spPr>
          <a:xfrm>
            <a:off x="6604000" y="3340100"/>
            <a:ext cx="4826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~100 records per dataset; per-dataset </a:t>
            </a:r>
            <a:r>
              <a:rPr lang="el-GR" sz="1200">
                <a:solidFill>
                  <a:srgbClr val="1A2233"/>
                </a:solidFill>
                <a:latin typeface="Calibri"/>
                <a:cs typeface="Calibri"/>
              </a:rPr>
              <a:t>κ </a:t>
            </a:r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has wide confidence intervals and shouldn't be ranked precisely.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FBB9E6-95C1-144D-9D42-66248C078AA1}"/>
              </a:ext>
            </a:extLst>
          </p:cNvPr>
          <p:cNvSpPr txBox="1"/>
          <p:nvPr/>
        </p:nvSpPr>
        <p:spPr>
          <a:xfrm>
            <a:off x="6604000" y="4064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Single run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DA3380-2397-7F4D-A272-65E1E9BA7700}"/>
              </a:ext>
            </a:extLst>
          </p:cNvPr>
          <p:cNvSpPr txBox="1"/>
          <p:nvPr/>
        </p:nvSpPr>
        <p:spPr>
          <a:xfrm>
            <a:off x="6604000" y="42926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Judgments are not resampled for stochastic stability; sensitivity to temperature is untested.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61B57E-D2B0-BC4E-A3F6-8836787E59D1}"/>
              </a:ext>
            </a:extLst>
          </p:cNvPr>
          <p:cNvSpPr txBox="1"/>
          <p:nvPr/>
        </p:nvSpPr>
        <p:spPr>
          <a:xfrm>
            <a:off x="6604000" y="50165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A2233"/>
                </a:solidFill>
                <a:latin typeface="Calibri"/>
                <a:cs typeface="Calibri"/>
              </a:rPr>
              <a:t>Prompt artifacts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7022DF-B300-2E45-A2DA-4EF398029BE0}"/>
              </a:ext>
            </a:extLst>
          </p:cNvPr>
          <p:cNvSpPr txBox="1"/>
          <p:nvPr/>
        </p:nvSpPr>
        <p:spPr>
          <a:xfrm>
            <a:off x="6604000" y="52451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A2233"/>
                </a:solidFill>
                <a:latin typeface="Calibri"/>
                <a:cs typeface="Calibri"/>
              </a:rPr>
              <a:t>Differences in policy taxonomy prompts between Claude and Qwen may inflate strictness gap.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FF13D-1297-C74D-8A3B-829CD21376AE}"/>
              </a:ext>
            </a:extLst>
          </p:cNvPr>
          <p:cNvSpPr/>
          <p:nvPr/>
        </p:nvSpPr>
        <p:spPr>
          <a:xfrm>
            <a:off x="762000" y="60706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5717EF-BF11-B643-B495-2FF7191C4850}"/>
              </a:ext>
            </a:extLst>
          </p:cNvPr>
          <p:cNvSpPr txBox="1"/>
          <p:nvPr/>
        </p:nvSpPr>
        <p:spPr>
          <a:xfrm>
            <a:off x="990600" y="61087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Findings are robust at the deck-level; per-dataset </a:t>
            </a:r>
            <a:r>
              <a:rPr lang="el-GR" sz="1400" b="1">
                <a:solidFill>
                  <a:srgbClr val="1A2233"/>
                </a:solidFill>
                <a:latin typeface="Calibri"/>
                <a:cs typeface="Calibri"/>
              </a:rPr>
              <a:t>κ</a:t>
            </a:r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s need more N before fine-grained ranking.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0DFE94-720E-C64F-8FDC-D6B2186C89CA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639597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D527E0-13AC-C64A-845C-F4325F4B4682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C0ABD-0F09-CC40-A399-B85D215F6F27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01EBB-8BE9-8A40-9F6A-38076E48A74D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B7280"/>
                </a:solidFill>
                <a:latin typeface="Calibri"/>
                <a:cs typeface="Calibri"/>
              </a:rPr>
              <a:t>The five findings, in one frame.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4648D-A4AC-144D-9765-2E37DB4E1CCB}"/>
              </a:ext>
            </a:extLst>
          </p:cNvPr>
          <p:cNvSpPr txBox="1"/>
          <p:nvPr/>
        </p:nvSpPr>
        <p:spPr>
          <a:xfrm>
            <a:off x="762000" y="17780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E935D-75DB-3C44-9C67-5826C362582E}"/>
              </a:ext>
            </a:extLst>
          </p:cNvPr>
          <p:cNvSpPr txBox="1"/>
          <p:nvPr/>
        </p:nvSpPr>
        <p:spPr>
          <a:xfrm>
            <a:off x="1397000" y="1778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Moderate alignment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2CDB7-E462-BA49-A6B3-397B0839E3CD}"/>
              </a:ext>
            </a:extLst>
          </p:cNvPr>
          <p:cNvSpPr txBox="1"/>
          <p:nvPr/>
        </p:nvSpPr>
        <p:spPr>
          <a:xfrm>
            <a:off x="5969000" y="1778000"/>
            <a:ext cx="5461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81.8% raw, </a:t>
            </a:r>
            <a:r>
              <a:rPr lang="el-GR" sz="1300">
                <a:solidFill>
                  <a:srgbClr val="1A2233"/>
                </a:solidFill>
                <a:latin typeface="Calibri"/>
                <a:cs typeface="Calibri"/>
              </a:rPr>
              <a:t>κ = 0.6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19</a:t>
            </a:r>
            <a:r>
              <a:rPr lang="el-GR" sz="1300">
                <a:solidFill>
                  <a:srgbClr val="1A2233"/>
                </a:solidFill>
                <a:latin typeface="Calibri"/>
                <a:cs typeface="Calibri"/>
              </a:rPr>
              <a:t> —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just above substantial.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0ADCD-45AE-8C45-8EFB-53B14E03839B}"/>
              </a:ext>
            </a:extLst>
          </p:cNvPr>
          <p:cNvSpPr/>
          <p:nvPr/>
        </p:nvSpPr>
        <p:spPr>
          <a:xfrm>
            <a:off x="762000" y="22098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0A7C3-A346-184F-90DD-B115C320FA80}"/>
              </a:ext>
            </a:extLst>
          </p:cNvPr>
          <p:cNvSpPr txBox="1"/>
          <p:nvPr/>
        </p:nvSpPr>
        <p:spPr>
          <a:xfrm>
            <a:off x="762000" y="24130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4EA25-B293-FA4A-82B9-817877E0EB28}"/>
              </a:ext>
            </a:extLst>
          </p:cNvPr>
          <p:cNvSpPr txBox="1"/>
          <p:nvPr/>
        </p:nvSpPr>
        <p:spPr>
          <a:xfrm>
            <a:off x="1397000" y="2413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Disagreement is directional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9C94E-0A17-3542-BD87-B83ECE16B02D}"/>
              </a:ext>
            </a:extLst>
          </p:cNvPr>
          <p:cNvSpPr txBox="1"/>
          <p:nvPr/>
        </p:nvSpPr>
        <p:spPr>
          <a:xfrm>
            <a:off x="5969000" y="2413000"/>
            <a:ext cx="5461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Qwen over-flags 2.1× more often than it under-flags.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5272AB-BDC7-5D44-B12D-42196CFB08B7}"/>
              </a:ext>
            </a:extLst>
          </p:cNvPr>
          <p:cNvSpPr/>
          <p:nvPr/>
        </p:nvSpPr>
        <p:spPr>
          <a:xfrm>
            <a:off x="762000" y="28448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C997A-24F5-2744-A912-6C81C073427D}"/>
              </a:ext>
            </a:extLst>
          </p:cNvPr>
          <p:cNvSpPr txBox="1"/>
          <p:nvPr/>
        </p:nvSpPr>
        <p:spPr>
          <a:xfrm>
            <a:off x="762000" y="30480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CBFC3-C95B-9642-8DE1-A77414BE41F1}"/>
              </a:ext>
            </a:extLst>
          </p:cNvPr>
          <p:cNvSpPr txBox="1"/>
          <p:nvPr/>
        </p:nvSpPr>
        <p:spPr>
          <a:xfrm>
            <a:off x="1397000" y="3048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Claude is broadly corroborated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D57B34-E89D-ED41-AB6A-6565B8C0A2F8}"/>
              </a:ext>
            </a:extLst>
          </p:cNvPr>
          <p:cNvSpPr txBox="1"/>
          <p:nvPr/>
        </p:nvSpPr>
        <p:spPr>
          <a:xfrm>
            <a:off x="5969000" y="2971800"/>
            <a:ext cx="5461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Gemma backs Claude 95.2% of the time, including 81.9% of contested records.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8F0FB1-8555-4042-B79F-AF95CDB11BAE}"/>
              </a:ext>
            </a:extLst>
          </p:cNvPr>
          <p:cNvSpPr/>
          <p:nvPr/>
        </p:nvSpPr>
        <p:spPr>
          <a:xfrm>
            <a:off x="762000" y="34798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4D2A6-CA6C-2F4E-9C55-EB270AA28558}"/>
              </a:ext>
            </a:extLst>
          </p:cNvPr>
          <p:cNvSpPr txBox="1"/>
          <p:nvPr/>
        </p:nvSpPr>
        <p:spPr>
          <a:xfrm>
            <a:off x="762000" y="36830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4E79"/>
                </a:solidFill>
                <a:latin typeface="Cambria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7348AE-B3E1-8A40-8A1F-5138F9FAF820}"/>
              </a:ext>
            </a:extLst>
          </p:cNvPr>
          <p:cNvSpPr txBox="1"/>
          <p:nvPr/>
        </p:nvSpPr>
        <p:spPr>
          <a:xfrm>
            <a:off x="1397000" y="3683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Gemma predicts where the gap matters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892C08-1AAC-A84E-B1B0-57B0F06C65F1}"/>
              </a:ext>
            </a:extLst>
          </p:cNvPr>
          <p:cNvSpPr txBox="1"/>
          <p:nvPr/>
        </p:nvSpPr>
        <p:spPr>
          <a:xfrm>
            <a:off x="5969000" y="3606800"/>
            <a:ext cx="5461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Claude–Qwen agreement: 81.9% with Gemma backing, 76.0% with Gemma dissent (+5.9 pts).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0E204F-597C-4546-AAC1-D43129B0FC4F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618688-32FE-B34F-9CBF-0647F4219627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Disagreement is structured, directional, and largely predictable — not random noise.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BF4580-7074-A74B-91A7-F03937EB2EA8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3435525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22067C-5F0C-A843-B738-504A3509EA62}"/>
              </a:ext>
            </a:extLst>
          </p:cNvPr>
          <p:cNvSpPr/>
          <p:nvPr/>
        </p:nvSpPr>
        <p:spPr>
          <a:xfrm>
            <a:off x="762000" y="635000"/>
            <a:ext cx="457200" cy="381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B5DFE-C1BB-3743-A9E6-D6660D12924C}"/>
              </a:ext>
            </a:extLst>
          </p:cNvPr>
          <p:cNvSpPr txBox="1"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233"/>
                </a:solidFill>
                <a:latin typeface="Cambria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24498-43EB-7340-A839-F4B9229C79B0}"/>
              </a:ext>
            </a:extLst>
          </p:cNvPr>
          <p:cNvSpPr txBox="1"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B7280"/>
                </a:solidFill>
                <a:latin typeface="Calibri"/>
                <a:cs typeface="Calibri"/>
              </a:rPr>
              <a:t>Four moves — production guardrail, evals, audit, next-step research.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74539-8473-3E48-B13B-641FD7178AC7}"/>
              </a:ext>
            </a:extLst>
          </p:cNvPr>
          <p:cNvSpPr/>
          <p:nvPr/>
        </p:nvSpPr>
        <p:spPr>
          <a:xfrm>
            <a:off x="762000" y="1841500"/>
            <a:ext cx="76200" cy="762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37218-5636-ED43-8B12-123342EDA003}"/>
              </a:ext>
            </a:extLst>
          </p:cNvPr>
          <p:cNvSpPr txBox="1"/>
          <p:nvPr/>
        </p:nvSpPr>
        <p:spPr>
          <a:xfrm>
            <a:off x="1016000" y="1778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Adopt Claude + Gemma-verify in production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9CEA0-C485-0F4E-851F-222DA4F70AEE}"/>
              </a:ext>
            </a:extLst>
          </p:cNvPr>
          <p:cNvSpPr txBox="1"/>
          <p:nvPr/>
        </p:nvSpPr>
        <p:spPr>
          <a:xfrm>
            <a:off x="1016000" y="2082800"/>
            <a:ext cx="10414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Use Claude as the primary guardrail; gate "safe" verdicts that Gemma disputes (~15% of safes) into a secondary review path. Cheaper than running two production guardrails; preserves Claude's lower FP rate.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BED3FF-8FD5-BD49-B271-FC17336BF955}"/>
              </a:ext>
            </a:extLst>
          </p:cNvPr>
          <p:cNvSpPr/>
          <p:nvPr/>
        </p:nvSpPr>
        <p:spPr>
          <a:xfrm>
            <a:off x="762000" y="2857500"/>
            <a:ext cx="76200" cy="762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268DA-8BEC-E049-A327-08F7BC0A79FD}"/>
              </a:ext>
            </a:extLst>
          </p:cNvPr>
          <p:cNvSpPr txBox="1"/>
          <p:nvPr/>
        </p:nvSpPr>
        <p:spPr>
          <a:xfrm>
            <a:off x="1016000" y="2794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Stop treating raw agreement as alignment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ECFB3-C891-DD44-90A9-35018448C25D}"/>
              </a:ext>
            </a:extLst>
          </p:cNvPr>
          <p:cNvSpPr txBox="1"/>
          <p:nvPr/>
        </p:nvSpPr>
        <p:spPr>
          <a:xfrm>
            <a:off x="1016000" y="30988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Replace single-number dashboards with the </a:t>
            </a:r>
            <a:r>
              <a:rPr lang="el-GR" sz="1300">
                <a:solidFill>
                  <a:srgbClr val="1A2233"/>
                </a:solidFill>
                <a:latin typeface="Calibri"/>
                <a:cs typeface="Calibri"/>
              </a:rPr>
              <a:t>κ + </a:t>
            </a:r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raw-agreement pair, broken out by dataset tier. Easy / saturated benchmarks should be reported separately and weighted accordingly.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C3B9F2-4183-D648-8366-C7402EC871EA}"/>
              </a:ext>
            </a:extLst>
          </p:cNvPr>
          <p:cNvSpPr/>
          <p:nvPr/>
        </p:nvSpPr>
        <p:spPr>
          <a:xfrm>
            <a:off x="762000" y="3873500"/>
            <a:ext cx="76200" cy="762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09796-D612-7C4F-94C4-74F8AF973598}"/>
              </a:ext>
            </a:extLst>
          </p:cNvPr>
          <p:cNvSpPr txBox="1"/>
          <p:nvPr/>
        </p:nvSpPr>
        <p:spPr>
          <a:xfrm>
            <a:off x="1016000" y="3810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Audit the ~22 confirmed Claude misses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AA289-9EF0-5A48-AE64-26ACA0A4B213}"/>
              </a:ext>
            </a:extLst>
          </p:cNvPr>
          <p:cNvSpPr txBox="1"/>
          <p:nvPr/>
        </p:nvSpPr>
        <p:spPr>
          <a:xfrm>
            <a:off x="1016000" y="41148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Pull the Qwen-strict cases where Gemma also disagrees with Claude (mostly P8 / P9 / P10 / P28) — these are training signal for Claude's policy prompt. Roll the fix into the next eval cycle.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3750BA-70B3-3446-A98D-E1991B60A51E}"/>
              </a:ext>
            </a:extLst>
          </p:cNvPr>
          <p:cNvSpPr/>
          <p:nvPr/>
        </p:nvSpPr>
        <p:spPr>
          <a:xfrm>
            <a:off x="762000" y="4889500"/>
            <a:ext cx="76200" cy="762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D0474-4908-F741-81F7-FB25B99B7D1B}"/>
              </a:ext>
            </a:extLst>
          </p:cNvPr>
          <p:cNvSpPr txBox="1"/>
          <p:nvPr/>
        </p:nvSpPr>
        <p:spPr>
          <a:xfrm>
            <a:off x="1016000" y="4826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2233"/>
                </a:solidFill>
                <a:latin typeface="Cambria"/>
              </a:rPr>
              <a:t>Run a second pass on redteaming-vlm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55C17-ADB7-D845-A5B7-0ED11084F52C}"/>
              </a:ext>
            </a:extLst>
          </p:cNvPr>
          <p:cNvSpPr txBox="1"/>
          <p:nvPr/>
        </p:nvSpPr>
        <p:spPr>
          <a:xfrm>
            <a:off x="1016000" y="51308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233"/>
                </a:solidFill>
                <a:latin typeface="Calibri"/>
                <a:cs typeface="Calibri"/>
              </a:rPr>
              <a:t>Gemma dissents on 43% of Claude's verdicts there — disproportionate vs every other dataset. Either Claude has a systematic blind spot for that distribution, or the dataset's policy framing is mis-specified.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5AEC3B-EF13-B742-8805-DDDE449B8393}"/>
              </a:ext>
            </a:extLst>
          </p:cNvPr>
          <p:cNvSpPr/>
          <p:nvPr/>
        </p:nvSpPr>
        <p:spPr>
          <a:xfrm>
            <a:off x="762000" y="6032500"/>
            <a:ext cx="50800" cy="381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48C92F-4EAF-8C46-87B1-ADDA2134C8B5}"/>
              </a:ext>
            </a:extLst>
          </p:cNvPr>
          <p:cNvSpPr txBox="1"/>
          <p:nvPr/>
        </p:nvSpPr>
        <p:spPr>
          <a:xfrm>
            <a:off x="990600" y="60706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233"/>
                </a:solidFill>
                <a:latin typeface="Calibri"/>
                <a:cs typeface="Calibri"/>
              </a:rPr>
              <a:t>Ship Claude + Gemma-verify; backfill ~22 confirmed misses; deep-dive redteaming-vlm.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6E682B-95EF-0F4D-818A-134B2184AEE7}"/>
              </a:ext>
            </a:extLst>
          </p:cNvPr>
          <p:cNvSpPr txBox="1"/>
          <p:nvPr/>
        </p:nvSpPr>
        <p:spPr>
          <a:xfrm>
            <a:off x="11049000" y="6540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  <a:latin typeface="Calibri"/>
                <a:cs typeface="Calibri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4379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20624816]">
  <a:themeElements>
    <a:clrScheme name="Office">
      <a:dk1>
        <a:srgbClr val="1A2233"/>
      </a:dk1>
      <a:lt1>
        <a:srgbClr val="FFFFFF"/>
      </a:lt1>
      <a:dk2>
        <a:srgbClr val="2C3E50"/>
      </a:dk2>
      <a:lt2>
        <a:srgbClr val="F4F6F8"/>
      </a:lt2>
      <a:accent1>
        <a:srgbClr val="1F4E79"/>
      </a:accent1>
      <a:accent2>
        <a:srgbClr val="5B7A99"/>
      </a:accent2>
      <a:accent3>
        <a:srgbClr val="8C9BAB"/>
      </a:accent3>
      <a:accent4>
        <a:srgbClr val="B8860B"/>
      </a:accent4>
      <a:accent5>
        <a:srgbClr val="6B7280"/>
      </a:accent5>
      <a:accent6>
        <a:srgbClr val="9CA3AF"/>
      </a:accent6>
      <a:hlink>
        <a:srgbClr val="467886"/>
      </a:hlink>
      <a:folHlink>
        <a:srgbClr val="96607D"/>
      </a:folHlink>
    </a:clrScheme>
    <a:fontScheme name="Office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F221E5-A07E-884F-9CB7-19393183899E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a9b11130-be79-4a91-b0f9-ce2db98f59d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2233</Words>
  <Application>Microsoft Macintosh PowerPoint</Application>
  <PresentationFormat>Widescreen</PresentationFormat>
  <Paragraphs>365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 [1781020624816]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20</cp:revision>
  <dcterms:created xsi:type="dcterms:W3CDTF">2026-06-09T15:48:11Z</dcterms:created>
  <dcterms:modified xsi:type="dcterms:W3CDTF">2026-06-09T23:29:12Z</dcterms:modified>
</cp:coreProperties>
</file>