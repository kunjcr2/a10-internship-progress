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1" r:id="rId5"/>
    <p:sldId id="263" r:id="rId6"/>
    <p:sldId id="265" r:id="rId7"/>
    <p:sldId id="266" r:id="rId8"/>
    <p:sldId id="268" r:id="rId9"/>
    <p:sldId id="272" r:id="rId10"/>
    <p:sldId id="274" r:id="rId11"/>
    <p:sldId id="275" r:id="rId12"/>
    <p:sldId id="277" r:id="rId13"/>
    <p:sldId id="278" r:id="rId14"/>
    <p:sldId id="280" r:id="rId15"/>
    <p:sldId id="281" r:id="rId16"/>
    <p:sldId id="283" r:id="rId17"/>
    <p:sldId id="284" r:id="rId18"/>
    <p:sldId id="286" r:id="rId19"/>
    <p:sldId id="288" r:id="rId20"/>
    <p:sldId id="289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9" autoAdjust="0"/>
    <p:restoredTop sz="94660"/>
  </p:normalViewPr>
  <p:slideViewPr>
    <p:cSldViewPr snapToGrid="0">
      <p:cViewPr varScale="1">
        <p:scale>
          <a:sx n="57" d="100"/>
          <a:sy n="57" d="100"/>
        </p:scale>
        <p:origin x="6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spavl-train</c:v>
              </c:pt>
              <c:pt idx="1">
                <c:v>jailbreakv-28k</c:v>
              </c:pt>
              <c:pt idx="2">
                <c:v>nemotron</c:v>
              </c:pt>
              <c:pt idx="3">
                <c:v>think-in-safety</c:v>
              </c:pt>
              <c:pt idx="4">
                <c:v>vlguard-train</c:v>
              </c:pt>
            </c:strLit>
          </c:cat>
          <c:val>
            <c:numLit>
              <c:formatCode>General</c:formatCode>
              <c:ptCount val="5"/>
              <c:pt idx="0">
                <c:v>91094</c:v>
              </c:pt>
              <c:pt idx="1">
                <c:v>24372</c:v>
              </c:pt>
              <c:pt idx="2">
                <c:v>4930</c:v>
              </c:pt>
              <c:pt idx="3">
                <c:v>4394</c:v>
              </c:pt>
              <c:pt idx="4">
                <c:v>2956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7E1-451B-9A16-FA45C3B2ED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94A3B8"/>
            </a:solidFill>
          </a:ln>
        </c:spPr>
        <c:txPr>
          <a:bodyPr/>
          <a:lstStyle/>
          <a:p>
            <a:pPr>
              <a:defRPr sz="1200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7D1A-4DC4-8DD1-1EB88A74A054}"/>
              </c:ext>
            </c:extLst>
          </c:dPt>
          <c:dPt>
            <c:idx val="1"/>
            <c:invertIfNegative val="0"/>
            <c:bubble3D val="0"/>
            <c:spPr>
              <a:solidFill>
                <a:srgbClr val="5A8A6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7D1A-4DC4-8DD1-1EB88A74A054}"/>
              </c:ext>
            </c:extLst>
          </c:dPt>
          <c:dPt>
            <c:idx val="2"/>
            <c:invertIfNegative val="0"/>
            <c:bubble3D val="0"/>
            <c:spPr>
              <a:solidFill>
                <a:srgbClr val="94A3B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7D1A-4DC4-8DD1-1EB88A74A05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unsafe</c:v>
              </c:pt>
              <c:pt idx="1">
                <c:v>safe</c:v>
              </c:pt>
              <c:pt idx="2">
                <c:v>needs_review</c:v>
              </c:pt>
            </c:strLit>
          </c:cat>
          <c:val>
            <c:numLit>
              <c:formatCode>General</c:formatCode>
              <c:ptCount val="3"/>
              <c:pt idx="0">
                <c:v>71381</c:v>
              </c:pt>
              <c:pt idx="1">
                <c:v>53412</c:v>
              </c:pt>
              <c:pt idx="2">
                <c:v>2953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D1A-4DC4-8DD1-1EB88A74A0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94A3B8"/>
            </a:solidFill>
          </a:ln>
        </c:spPr>
        <c:txPr>
          <a:bodyPr/>
          <a:lstStyle/>
          <a:p>
            <a:pPr>
              <a:defRPr sz="1400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v>safe</c:v>
          </c:tx>
          <c:spPr>
            <a:solidFill>
              <a:srgbClr val="5A8A6B"/>
            </a:solidFill>
            <a:ln>
              <a:noFill/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3B7A-4F0F-943F-AC9AC7808FA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3B7A-4F0F-943F-AC9AC7808F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spavl-train</c:v>
              </c:pt>
              <c:pt idx="1">
                <c:v>jailbreakv-28k</c:v>
              </c:pt>
              <c:pt idx="2">
                <c:v>nemotron</c:v>
              </c:pt>
              <c:pt idx="3">
                <c:v>vlguard-train</c:v>
              </c:pt>
              <c:pt idx="4">
                <c:v>think-in-safety</c:v>
              </c:pt>
            </c:strLit>
          </c:cat>
          <c:val>
            <c:numLit>
              <c:formatCode>General</c:formatCode>
              <c:ptCount val="5"/>
              <c:pt idx="0">
                <c:v>49207</c:v>
              </c:pt>
              <c:pt idx="1">
                <c:v>0</c:v>
              </c:pt>
              <c:pt idx="2">
                <c:v>3232</c:v>
              </c:pt>
              <c:pt idx="3">
                <c:v>973</c:v>
              </c:pt>
              <c:pt idx="4">
                <c:v>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B7A-4F0F-943F-AC9AC7808FA1}"/>
            </c:ext>
          </c:extLst>
        </c:ser>
        <c:ser>
          <c:idx val="1"/>
          <c:order val="1"/>
          <c:tx>
            <c:v>unsafe</c:v>
          </c:tx>
          <c:spPr>
            <a:solidFill>
              <a:srgbClr val="C8364D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spavl-train</c:v>
              </c:pt>
              <c:pt idx="1">
                <c:v>jailbreakv-28k</c:v>
              </c:pt>
              <c:pt idx="2">
                <c:v>nemotron</c:v>
              </c:pt>
              <c:pt idx="3">
                <c:v>vlguard-train</c:v>
              </c:pt>
              <c:pt idx="4">
                <c:v>think-in-safety</c:v>
              </c:pt>
            </c:strLit>
          </c:cat>
          <c:val>
            <c:numLit>
              <c:formatCode>General</c:formatCode>
              <c:ptCount val="5"/>
              <c:pt idx="0">
                <c:v>38934</c:v>
              </c:pt>
              <c:pt idx="1">
                <c:v>24372</c:v>
              </c:pt>
              <c:pt idx="2">
                <c:v>1698</c:v>
              </c:pt>
              <c:pt idx="3">
                <c:v>1983</c:v>
              </c:pt>
              <c:pt idx="4">
                <c:v>4394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3B7A-4F0F-943F-AC9AC7808FA1}"/>
            </c:ext>
          </c:extLst>
        </c:ser>
        <c:ser>
          <c:idx val="2"/>
          <c:order val="2"/>
          <c:tx>
            <c:v>needs_review</c:v>
          </c:tx>
          <c:spPr>
            <a:solidFill>
              <a:srgbClr val="94A3B8"/>
            </a:solidFill>
            <a:ln>
              <a:noFill/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B7A-4F0F-943F-AC9AC7808FA1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B7A-4F0F-943F-AC9AC7808FA1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B7A-4F0F-943F-AC9AC7808FA1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B7A-4F0F-943F-AC9AC7808F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spavl-train</c:v>
              </c:pt>
              <c:pt idx="1">
                <c:v>jailbreakv-28k</c:v>
              </c:pt>
              <c:pt idx="2">
                <c:v>nemotron</c:v>
              </c:pt>
              <c:pt idx="3">
                <c:v>vlguard-train</c:v>
              </c:pt>
              <c:pt idx="4">
                <c:v>think-in-safety</c:v>
              </c:pt>
            </c:strLit>
          </c:cat>
          <c:val>
            <c:numLit>
              <c:formatCode>General</c:formatCode>
              <c:ptCount val="5"/>
              <c:pt idx="0">
                <c:v>2953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3B7A-4F0F-943F-AC9AC7808F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111"/>
        <c:axId val="222"/>
      </c:barChart>
      <c:catAx>
        <c:axId val="11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t"/>
        <c:numFmt formatCode="0%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10"/>
              <c:pt idx="0">
                <c:v>Socioeconomic</c:v>
              </c:pt>
              <c:pt idx="1">
                <c:v>Information &amp; Safety</c:v>
              </c:pt>
              <c:pt idx="2">
                <c:v>harm-p</c:v>
              </c:pt>
              <c:pt idx="3">
                <c:v>Human Autonomy &amp; Integrity</c:v>
              </c:pt>
              <c:pt idx="4">
                <c:v>Representation &amp; Toxicity</c:v>
              </c:pt>
              <c:pt idx="5">
                <c:v>bad_ads</c:v>
              </c:pt>
              <c:pt idx="6">
                <c:v>HOD</c:v>
              </c:pt>
              <c:pt idx="7">
                <c:v>hatefulMemes</c:v>
              </c:pt>
              <c:pt idx="8">
                <c:v>Malicious Use</c:v>
              </c:pt>
              <c:pt idx="9">
                <c:v>privacyAlert</c:v>
              </c:pt>
            </c:strLit>
          </c:cat>
          <c:val>
            <c:numLit>
              <c:formatCode>General</c:formatCode>
              <c:ptCount val="10"/>
              <c:pt idx="0">
                <c:v>90</c:v>
              </c:pt>
              <c:pt idx="1">
                <c:v>99</c:v>
              </c:pt>
              <c:pt idx="2">
                <c:v>134</c:v>
              </c:pt>
              <c:pt idx="3">
                <c:v>167</c:v>
              </c:pt>
              <c:pt idx="4">
                <c:v>199</c:v>
              </c:pt>
              <c:pt idx="5">
                <c:v>321</c:v>
              </c:pt>
              <c:pt idx="6">
                <c:v>413</c:v>
              </c:pt>
              <c:pt idx="7">
                <c:v>595</c:v>
              </c:pt>
              <c:pt idx="8">
                <c:v>866</c:v>
              </c:pt>
              <c:pt idx="9">
                <c:v>1510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76D-497F-803A-073EE35860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11"/>
        <c:axId val="222"/>
      </c:barChart>
      <c:catAx>
        <c:axId val="11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4E6-41E6-A17D-58F1321486A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D4E6-41E6-A17D-58F1321486A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D4E6-41E6-A17D-58F1321486A2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D4E6-41E6-A17D-58F1321486A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D4E6-41E6-A17D-58F1321486A2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D4E6-41E6-A17D-58F1321486A2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D4E6-41E6-A17D-58F1321486A2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D4E6-41E6-A17D-58F1321486A2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D4E6-41E6-A17D-58F1321486A2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D4E6-41E6-A17D-58F1321486A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D4E6-41E6-A17D-58F1321486A2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D4E6-41E6-A17D-58F1321486A2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D4E6-41E6-A17D-58F1321486A2}"/>
              </c:ext>
            </c:extLst>
          </c:dPt>
          <c:dPt>
            <c:idx val="1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B-D4E6-41E6-A17D-58F1321486A2}"/>
              </c:ext>
            </c:extLst>
          </c:dPt>
          <c:dPt>
            <c:idx val="1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D-D4E6-41E6-A17D-58F1321486A2}"/>
              </c:ext>
            </c:extLst>
          </c:dPt>
          <c:dPt>
            <c:idx val="1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F-D4E6-41E6-A17D-58F1321486A2}"/>
              </c:ext>
            </c:extLst>
          </c:dPt>
          <c:dPt>
            <c:idx val="1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21-D4E6-41E6-A17D-58F1321486A2}"/>
              </c:ext>
            </c:extLst>
          </c:dPt>
          <c:dPt>
            <c:idx val="1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23-D4E6-41E6-A17D-58F1321486A2}"/>
              </c:ext>
            </c:extLst>
          </c:dPt>
          <c:dPt>
            <c:idx val="1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25-D4E6-41E6-A17D-58F1321486A2}"/>
              </c:ext>
            </c:extLst>
          </c:dPt>
          <c:dPt>
            <c:idx val="1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27-D4E6-41E6-A17D-58F1321486A2}"/>
              </c:ext>
            </c:extLst>
          </c:dPt>
          <c:dPt>
            <c:idx val="2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29-D4E6-41E6-A17D-58F1321486A2}"/>
              </c:ext>
            </c:extLst>
          </c:dPt>
          <c:dPt>
            <c:idx val="21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B-D4E6-41E6-A17D-58F1321486A2}"/>
              </c:ext>
            </c:extLst>
          </c:dPt>
          <c:dPt>
            <c:idx val="22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D-D4E6-41E6-A17D-58F1321486A2}"/>
              </c:ext>
            </c:extLst>
          </c:dPt>
          <c:dPt>
            <c:idx val="23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2F-D4E6-41E6-A17D-58F1321486A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4"/>
              <c:pt idx="0">
                <c:v>P23</c:v>
              </c:pt>
              <c:pt idx="1">
                <c:v>P1</c:v>
              </c:pt>
              <c:pt idx="2">
                <c:v>P12</c:v>
              </c:pt>
              <c:pt idx="3">
                <c:v>P13</c:v>
              </c:pt>
              <c:pt idx="4">
                <c:v>P11</c:v>
              </c:pt>
              <c:pt idx="5">
                <c:v>P4</c:v>
              </c:pt>
              <c:pt idx="6">
                <c:v>P9</c:v>
              </c:pt>
              <c:pt idx="7">
                <c:v>P7</c:v>
              </c:pt>
              <c:pt idx="8">
                <c:v>P19</c:v>
              </c:pt>
              <c:pt idx="9">
                <c:v>P20</c:v>
              </c:pt>
              <c:pt idx="10">
                <c:v>P21</c:v>
              </c:pt>
              <c:pt idx="11">
                <c:v>P14</c:v>
              </c:pt>
              <c:pt idx="12">
                <c:v>P10</c:v>
              </c:pt>
              <c:pt idx="13">
                <c:v>P24</c:v>
              </c:pt>
              <c:pt idx="14">
                <c:v>P22</c:v>
              </c:pt>
              <c:pt idx="15">
                <c:v>P18</c:v>
              </c:pt>
              <c:pt idx="16">
                <c:v>P15</c:v>
              </c:pt>
              <c:pt idx="17">
                <c:v>P8</c:v>
              </c:pt>
              <c:pt idx="18">
                <c:v>P16</c:v>
              </c:pt>
              <c:pt idx="19">
                <c:v>P6</c:v>
              </c:pt>
              <c:pt idx="20">
                <c:v>P17</c:v>
              </c:pt>
              <c:pt idx="21">
                <c:v>P5</c:v>
              </c:pt>
              <c:pt idx="22">
                <c:v>P2</c:v>
              </c:pt>
              <c:pt idx="23">
                <c:v>P3</c:v>
              </c:pt>
            </c:strLit>
          </c:cat>
          <c:val>
            <c:numLit>
              <c:formatCode>General</c:formatCode>
              <c:ptCount val="24"/>
              <c:pt idx="0">
                <c:v>19005</c:v>
              </c:pt>
              <c:pt idx="1">
                <c:v>17162</c:v>
              </c:pt>
              <c:pt idx="2">
                <c:v>11948</c:v>
              </c:pt>
              <c:pt idx="3">
                <c:v>9163</c:v>
              </c:pt>
              <c:pt idx="4">
                <c:v>8297</c:v>
              </c:pt>
              <c:pt idx="5">
                <c:v>7878</c:v>
              </c:pt>
              <c:pt idx="6">
                <c:v>4610</c:v>
              </c:pt>
              <c:pt idx="7">
                <c:v>3697</c:v>
              </c:pt>
              <c:pt idx="8">
                <c:v>3403</c:v>
              </c:pt>
              <c:pt idx="9">
                <c:v>2783</c:v>
              </c:pt>
              <c:pt idx="10">
                <c:v>2470</c:v>
              </c:pt>
              <c:pt idx="11">
                <c:v>2053</c:v>
              </c:pt>
              <c:pt idx="12">
                <c:v>1987</c:v>
              </c:pt>
              <c:pt idx="13">
                <c:v>1335</c:v>
              </c:pt>
              <c:pt idx="14">
                <c:v>1163</c:v>
              </c:pt>
              <c:pt idx="15">
                <c:v>1008</c:v>
              </c:pt>
              <c:pt idx="16">
                <c:v>991</c:v>
              </c:pt>
              <c:pt idx="17">
                <c:v>962</c:v>
              </c:pt>
              <c:pt idx="18">
                <c:v>904</c:v>
              </c:pt>
              <c:pt idx="19">
                <c:v>708</c:v>
              </c:pt>
              <c:pt idx="20">
                <c:v>510</c:v>
              </c:pt>
              <c:pt idx="21">
                <c:v>313</c:v>
              </c:pt>
              <c:pt idx="22">
                <c:v>70</c:v>
              </c:pt>
              <c:pt idx="23">
                <c:v>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30-D4E6-41E6-A17D-58F1321486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111"/>
        <c:axId val="222"/>
      </c:barChart>
      <c:catAx>
        <c:axId val="111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t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0 policies</c:v>
              </c:pt>
              <c:pt idx="1">
                <c:v>1 policy</c:v>
              </c:pt>
              <c:pt idx="2">
                <c:v>2 policies</c:v>
              </c:pt>
              <c:pt idx="3">
                <c:v>3 policies</c:v>
              </c:pt>
              <c:pt idx="4">
                <c:v>4+ policies</c:v>
              </c:pt>
            </c:strLit>
          </c:cat>
          <c:val>
            <c:numLit>
              <c:formatCode>General</c:formatCode>
              <c:ptCount val="5"/>
              <c:pt idx="0">
                <c:v>64569</c:v>
              </c:pt>
              <c:pt idx="1">
                <c:v>32789</c:v>
              </c:pt>
              <c:pt idx="2">
                <c:v>22711</c:v>
              </c:pt>
              <c:pt idx="3">
                <c:v>6615</c:v>
              </c:pt>
              <c:pt idx="4">
                <c:v>1062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490-4058-BA5C-91BD8CD8C7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94A3B8"/>
            </a:solidFill>
          </a:ln>
        </c:spPr>
        <c:txPr>
          <a:bodyPr/>
          <a:lstStyle/>
          <a:p>
            <a:pPr>
              <a:defRPr sz="1400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P12+P13</c:v>
              </c:pt>
              <c:pt idx="1">
                <c:v>P13+P19</c:v>
              </c:pt>
              <c:pt idx="2">
                <c:v>P1+P12</c:v>
              </c:pt>
              <c:pt idx="3">
                <c:v>P1+P13</c:v>
              </c:pt>
              <c:pt idx="4">
                <c:v>P23+P4</c:v>
              </c:pt>
              <c:pt idx="5">
                <c:v>P1+P11</c:v>
              </c:pt>
              <c:pt idx="6">
                <c:v>P1+P4</c:v>
              </c:pt>
              <c:pt idx="7">
                <c:v>P1+P23</c:v>
              </c:pt>
            </c:strLit>
          </c:cat>
          <c:val>
            <c:numLit>
              <c:formatCode>General</c:formatCode>
              <c:ptCount val="8"/>
              <c:pt idx="0">
                <c:v>1727</c:v>
              </c:pt>
              <c:pt idx="1">
                <c:v>1827</c:v>
              </c:pt>
              <c:pt idx="2">
                <c:v>1835</c:v>
              </c:pt>
              <c:pt idx="3">
                <c:v>1947</c:v>
              </c:pt>
              <c:pt idx="4">
                <c:v>2118</c:v>
              </c:pt>
              <c:pt idx="5">
                <c:v>2292</c:v>
              </c:pt>
              <c:pt idx="6">
                <c:v>3701</c:v>
              </c:pt>
              <c:pt idx="7">
                <c:v>6096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4C5-4827-9176-25B0B66600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11"/>
        <c:axId val="222"/>
      </c:barChart>
      <c:catAx>
        <c:axId val="11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 b="1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Agreement %</c:v>
          </c:tx>
          <c:spPr>
            <a:solidFill>
              <a:srgbClr val="2C5F8D"/>
            </a:solidFill>
            <a:ln>
              <a:noFill/>
            </a:ln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Gemma-4-31B</c:v>
              </c:pt>
              <c:pt idx="1">
                <c:v>Qwen3.5-4B (5-pass)</c:v>
              </c:pt>
            </c:strLit>
          </c:cat>
          <c:val>
            <c:numLit>
              <c:formatCode>General</c:formatCode>
              <c:ptCount val="2"/>
              <c:pt idx="0">
                <c:v>95.4</c:v>
              </c:pt>
              <c:pt idx="1">
                <c:v>89.6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AC8E-448B-87AF-DFAE7ACDF0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2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94A3B8"/>
            </a:solidFill>
          </a:ln>
        </c:spPr>
        <c:txPr>
          <a:bodyPr/>
          <a:lstStyle/>
          <a:p>
            <a:pPr>
              <a:defRPr sz="1600" b="1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1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Rows</c:v>
          </c:tx>
          <c:spPr>
            <a:solidFill>
              <a:srgbClr val="2C5F8D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A8A6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9026-480E-B5B1-ADA506ED4F0D}"/>
              </c:ext>
            </c:extLst>
          </c:dPt>
          <c:dPt>
            <c:idx val="1"/>
            <c:invertIfNegative val="0"/>
            <c:bubble3D val="0"/>
            <c:spPr>
              <a:solidFill>
                <a:srgbClr val="5A8A6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9026-480E-B5B1-ADA506ED4F0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026-480E-B5B1-ADA506ED4F0D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9026-480E-B5B1-ADA506ED4F0D}"/>
              </c:ext>
            </c:extLst>
          </c:dPt>
          <c:dPt>
            <c:idx val="4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9-9026-480E-B5B1-ADA506ED4F0D}"/>
              </c:ext>
            </c:extLst>
          </c:dPt>
          <c:dPt>
            <c:idx val="5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B-9026-480E-B5B1-ADA506ED4F0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6"/>
              <c:pt idx="0">
                <c:v>0-5</c:v>
              </c:pt>
              <c:pt idx="1">
                <c:v>5-0</c:v>
              </c:pt>
              <c:pt idx="2">
                <c:v>4-1</c:v>
              </c:pt>
              <c:pt idx="3">
                <c:v>1-4</c:v>
              </c:pt>
              <c:pt idx="4">
                <c:v>3-2</c:v>
              </c:pt>
              <c:pt idx="5">
                <c:v>2-3</c:v>
              </c:pt>
            </c:strLit>
          </c:cat>
          <c:val>
            <c:numLit>
              <c:formatCode>General</c:formatCode>
              <c:ptCount val="6"/>
              <c:pt idx="0">
                <c:v>55834</c:v>
              </c:pt>
              <c:pt idx="1">
                <c:v>40080</c:v>
              </c:pt>
              <c:pt idx="2">
                <c:v>7004</c:v>
              </c:pt>
              <c:pt idx="3">
                <c:v>6430</c:v>
              </c:pt>
              <c:pt idx="4">
                <c:v>4605</c:v>
              </c:pt>
              <c:pt idx="5">
                <c:v>4452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C-9026-480E-B5B1-ADA506ED4F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94A3B8"/>
            </a:solidFill>
          </a:ln>
        </c:spPr>
        <c:txPr>
          <a:bodyPr/>
          <a:lstStyle/>
          <a:p>
            <a:pPr>
              <a:defRPr sz="1300" b="1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v>Candidates</c:v>
          </c:tx>
          <c:spPr>
            <a:solidFill>
              <a:srgbClr val="2C5F8D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94A3B8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43E-44C1-BD71-1913552182C1}"/>
              </c:ext>
            </c:extLst>
          </c:dPt>
          <c:dPt>
            <c:idx val="1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B43E-44C1-BD71-1913552182C1}"/>
              </c:ext>
            </c:extLst>
          </c:dPt>
          <c:dPt>
            <c:idx val="2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5-B43E-44C1-BD71-1913552182C1}"/>
              </c:ext>
            </c:extLst>
          </c:dPt>
          <c:dPt>
            <c:idx val="3"/>
            <c:invertIfNegative val="0"/>
            <c:bubble3D val="0"/>
            <c:spPr>
              <a:solidFill>
                <a:srgbClr val="5A8A6B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7-B43E-44C1-BD71-1913552182C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Gate B (harm in text)</c:v>
              </c:pt>
              <c:pt idx="1">
                <c:v>Gate B (pair safe)</c:v>
              </c:pt>
              <c:pt idx="2">
                <c:v>Gate A reject (text unsafe)</c:v>
              </c:pt>
              <c:pt idx="3">
                <c:v>Kept</c:v>
              </c:pt>
            </c:strLit>
          </c:cat>
          <c:val>
            <c:numLit>
              <c:formatCode>General</c:formatCode>
              <c:ptCount val="4"/>
              <c:pt idx="0">
                <c:v>175</c:v>
              </c:pt>
              <c:pt idx="1">
                <c:v>4422</c:v>
              </c:pt>
              <c:pt idx="2">
                <c:v>7486</c:v>
              </c:pt>
              <c:pt idx="3">
                <c:v>2895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B43E-44C1-BD71-1913552182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11"/>
        <c:axId val="222"/>
      </c:barChart>
      <c:catAx>
        <c:axId val="11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1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plotVisOnly val="1"/>
    <c:dispBlanksAs val="zero"/>
    <c:showDLblsOverMax val="1"/>
  </c:chart>
  <c:spPr>
    <a:noFill/>
    <a:ln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Before</c:v>
          </c:tx>
          <c:spPr>
            <a:solidFill>
              <a:srgbClr val="C7D4E1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F3A4AE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4B80-48AB-A401-1CC463A98F7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B80-48AB-A401-1CC463A98F7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B80-48AB-A401-1CC463A98F7D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4B80-48AB-A401-1CC463A98F7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P5</c:v>
              </c:pt>
              <c:pt idx="1">
                <c:v>P4</c:v>
              </c:pt>
              <c:pt idx="2">
                <c:v>P7</c:v>
              </c:pt>
              <c:pt idx="3">
                <c:v>P14</c:v>
              </c:pt>
            </c:strLit>
          </c:cat>
          <c:val>
            <c:numLit>
              <c:formatCode>General</c:formatCode>
              <c:ptCount val="4"/>
              <c:pt idx="0">
                <c:v>313</c:v>
              </c:pt>
              <c:pt idx="1">
                <c:v>7878</c:v>
              </c:pt>
              <c:pt idx="2">
                <c:v>3697</c:v>
              </c:pt>
              <c:pt idx="3">
                <c:v>2053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4B80-48AB-A401-1CC463A98F7D}"/>
            </c:ext>
          </c:extLst>
        </c:ser>
        <c:ser>
          <c:idx val="1"/>
          <c:order val="1"/>
          <c:tx>
            <c:v>After</c:v>
          </c:tx>
          <c:spPr>
            <a:solidFill>
              <a:srgbClr val="2C5F8D"/>
            </a:solidFill>
            <a:ln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C8364D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A-4B80-48AB-A401-1CC463A98F7D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C-4B80-48AB-A401-1CC463A98F7D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E-4B80-48AB-A401-1CC463A98F7D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0-4B80-48AB-A401-1CC463A98F7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1A2B4A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P5</c:v>
              </c:pt>
              <c:pt idx="1">
                <c:v>P4</c:v>
              </c:pt>
              <c:pt idx="2">
                <c:v>P7</c:v>
              </c:pt>
              <c:pt idx="3">
                <c:v>P14</c:v>
              </c:pt>
            </c:strLit>
          </c:cat>
          <c:val>
            <c:numLit>
              <c:formatCode>General</c:formatCode>
              <c:ptCount val="4"/>
              <c:pt idx="0">
                <c:v>2958</c:v>
              </c:pt>
              <c:pt idx="1">
                <c:v>7920</c:v>
              </c:pt>
              <c:pt idx="2">
                <c:v>3748</c:v>
              </c:pt>
              <c:pt idx="3">
                <c:v>2112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1-4B80-48AB-A401-1CC463A98F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94A3B8"/>
            </a:solidFill>
          </a:ln>
        </c:spPr>
        <c:txPr>
          <a:bodyPr/>
          <a:lstStyle/>
          <a:p>
            <a:pPr>
              <a:defRPr sz="1400" b="1">
                <a:solidFill>
                  <a:srgbClr val="374151"/>
                </a:solidFill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one"/>
        <c:crossAx val="111"/>
        <c:crosses val="autoZero"/>
        <c:crossBetween val="between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374151"/>
              </a:solidFill>
            </a:defRPr>
          </a:pPr>
          <a:endParaRPr lang="en-US"/>
        </a:p>
      </c:txPr>
    </c:legend>
    <c:plotVisOnly val="1"/>
    <c:dispBlanksAs val="zero"/>
    <c:showDLblsOverMax val="1"/>
  </c:chart>
  <c:spPr>
    <a:noFill/>
    <a:ln>
      <a:noFill/>
    </a:ln>
  </c:spPr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CF276-7BDD-96D8-1A76-F683A68D21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87076C-C539-1AAB-2200-38026D475D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69B015-20D9-08C8-8E48-BDA7BECA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FF3EA-78FC-9669-1815-BA277CB63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662799-3A2E-1E06-01F5-AB8A9BB0B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976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370A-966F-86F1-9CEF-CA4B7502B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60075B-51E7-1787-9C7B-57D1AB69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0B08F5-4FDD-1258-A38D-FED3AB2D4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A4438A-8E11-5EB2-9251-4AE336F03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5F7C5-E407-7183-5243-413672FCF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757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65C93-FCC3-2B26-FA99-A16BD206E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60DD81-A431-EDF0-5782-9E86F82277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D721C-1C83-80ED-7071-264EB110E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0C5117-E9B2-F22D-9496-B4E330A88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FD421-5136-92A9-D088-953A7839D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465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195F8F-11F3-17E6-8275-384272F60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9939BC-71B5-5855-FD96-B329E77F9C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252368-0283-04ED-DD8A-B830EB5868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28AC67-592B-3752-215D-4BB19F718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7FEFEC-C6C8-FC51-EB37-874AC148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CCC948-4804-F519-D050-F95FEEBD0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5049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48742-99E2-EB69-73CA-3F710A27F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D8F49C-15AE-54C7-95EE-B9627021D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9ED184-621F-74DD-17F2-CAD4128A78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256B0D-4FC0-1765-1EA0-E71BB7B6A0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F643222-4E13-46CE-311A-A650398890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31B2F6-43D8-C682-20E4-48A5BAD38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867D5C3-6429-457C-14E7-DDECA6C43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A77F4B-915D-93DB-E0F6-A01B5F30E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173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0B17-2E69-B50A-B2DA-A1F40AE84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51D64A-8210-9E77-137C-55F955B8E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A25EEB-F801-5967-1CB0-EC41B8082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E93016-954C-F470-3F96-6480BD2C9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674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3A2514-7106-6AB9-9099-D9D46FE32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7D4D86-8656-F9EB-04BA-90ACD59FB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43826-C47F-07AD-C47D-B06FDC327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379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EF7D2-0C70-74C1-3F33-D4C7F0E16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993C4-68D7-EF9F-031F-CA9218C9B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C111C-8BFB-E803-7892-BA7AD982B4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E0B483-E7DB-2EFD-38B7-BDE0E1B3F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E021B-9F4B-F0A4-12DB-F7878610D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F7713-91F9-DA11-A0AC-AD429B237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01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E6CB8-2007-FE8B-05F3-874FD3826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A9070B-2F23-2A58-4035-46A133A19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F180C8-BD77-1D85-B45B-22984A1C3D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FD94A3-4C51-DC7E-55AD-EA459A817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F9704E-2702-6B25-AD6C-A11170F45E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936D3C-5352-C561-5D31-5F05677AE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899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AB465-C904-5CFB-8256-3E0FA3EFA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A31965-A744-C796-F218-0B798B560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98014-4DB5-2843-0973-2EDCD9F15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21FA67-6553-C87A-0B78-0009B6F41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235FC6-188F-4574-3B87-D57326954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631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74A630-DE8A-7FC9-855B-8F347248BF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D59E45-B39D-AFEC-92C1-F036DEFDED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54D554-43B8-C938-B2C8-690AF3C8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15C4A-3C4F-9659-A2CD-299182B73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2118DB-6DCB-9432-71EF-BAB7AC86E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6863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92E17-C920-806A-F046-93772F020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53EEB-D077-D0BF-9745-57C044283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0575F-1C12-2253-0248-791BD49C68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7882CD-F819-44E1-93E7-11FAC85D32A4}" type="datetimeFigureOut">
              <a:rPr lang="en-US" smtClean="0"/>
              <a:t>6/23/2026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44C4F7-22CD-2662-C89B-D53EFCB4F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403966-B786-1601-DD14-AB192CA565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C8F2EA-7A82-4ED6-9D97-526FCBE961B9}" type="slidenum">
              <a:rPr lang="en-US" smtClean="0"/>
              <a:t>‹#›</a:t>
            </a:fld>
            <a:endParaRPr lang="en-US"/>
          </a:p>
        </p:txBody>
      </p:sp>
      <p:sp>
        <p:nvSpPr>
          <p:cNvPr id="9001" name="TopRule"/>
          <p:cNvSpPr/>
          <p:nvPr userDrawn="1"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2C5F8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2" name="FooterText"/>
          <p:cNvSpPr/>
          <p:nvPr userDrawn="1"/>
        </p:nvSpPr>
        <p:spPr>
          <a:xfrm>
            <a:off x="457200" y="6400800"/>
            <a:ext cx="8229600" cy="200000"/>
          </a:xfrm>
          <a:prstGeom prst="rect">
            <a:avLst/>
          </a:prstGeom>
          <a:noFill/>
        </p:spPr>
        <p:txBody>
          <a:bodyPr wrap="none" anchor="ctr"/>
          <a:lstStyle/>
          <a:p>
            <a:pPr algn="r">
              <a:buNone/>
            </a:pPr>
            <a:r>
              <a:rPr lang="en-US" sz="900" dirty="0">
                <a:solidFill>
                  <a:srgbClr val="94A3B8"/>
                </a:solidFill>
              </a:rPr>
              <a:t>Multimodal Safety  Weekly Update  June 23, 2026</a:t>
            </a:r>
          </a:p>
        </p:txBody>
      </p:sp>
    </p:spTree>
    <p:extLst>
      <p:ext uri="{BB962C8B-B14F-4D97-AF65-F5344CB8AC3E}">
        <p14:creationId xmlns:p14="http://schemas.microsoft.com/office/powerpoint/2010/main" val="984481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2B4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7415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4488A40-3626-49B4-904A-BFD23EB12E9F}"/>
              </a:ext>
            </a:extLst>
          </p:cNvPr>
          <p:cNvSpPr/>
          <p:nvPr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C7D8E1-EA47-4DAA-9418-72FFCBDF48F8}"/>
              </a:ext>
            </a:extLst>
          </p:cNvPr>
          <p:cNvSpPr txBox="1"/>
          <p:nvPr/>
        </p:nvSpPr>
        <p:spPr>
          <a:xfrm>
            <a:off x="1016000" y="2159000"/>
            <a:ext cx="1016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C5F8D"/>
                </a:solidFill>
                <a:latin typeface="Aptos"/>
              </a:rPr>
              <a:t>MULTIMODAL SAFETY  ·  WEEKLY UPDATE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57041E-1A7F-4267-BA4F-8FE742B90275}"/>
              </a:ext>
            </a:extLst>
          </p:cNvPr>
          <p:cNvSpPr txBox="1"/>
          <p:nvPr/>
        </p:nvSpPr>
        <p:spPr>
          <a:xfrm>
            <a:off x="1016000" y="2603500"/>
            <a:ext cx="10414000" cy="165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1A2B4A"/>
                </a:solidFill>
                <a:latin typeface="Aptos Display"/>
              </a:rPr>
              <a:t>Labeling, agreement, and synthetic compositional harm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D4A158-2E65-4879-9636-29D3D40D2DF6}"/>
              </a:ext>
            </a:extLst>
          </p:cNvPr>
          <p:cNvSpPr/>
          <p:nvPr/>
        </p:nvSpPr>
        <p:spPr>
          <a:xfrm>
            <a:off x="1016000" y="4572000"/>
            <a:ext cx="762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D55578-5705-4B2C-9981-CCF9F81B40D2}"/>
              </a:ext>
            </a:extLst>
          </p:cNvPr>
          <p:cNvSpPr txBox="1"/>
          <p:nvPr/>
        </p:nvSpPr>
        <p:spPr>
          <a:xfrm>
            <a:off x="1016000" y="4826000"/>
            <a:ext cx="1016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6B7280"/>
                </a:solidFill>
                <a:latin typeface="Aptos"/>
              </a:rPr>
              <a:t>Week of June 23, 2026   ·   [Your name]</a:t>
            </a:r>
          </a:p>
        </p:txBody>
      </p:sp>
    </p:spTree>
    <p:extLst>
      <p:ext uri="{BB962C8B-B14F-4D97-AF65-F5344CB8AC3E}">
        <p14:creationId xmlns:p14="http://schemas.microsoft.com/office/powerpoint/2010/main" val="200263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13C6AB-19CF-4C7B-BC8D-E77CEE1CBB90}"/>
              </a:ext>
            </a:extLst>
          </p:cNvPr>
          <p:cNvSpPr txBox="1"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  <a:latin typeface="Aptos Display"/>
              </a:rPr>
              <a:t>Agenda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C5E0A6-EFE4-4F57-98A1-906BD189D18F}"/>
              </a:ext>
            </a:extLst>
          </p:cNvPr>
          <p:cNvSpPr/>
          <p:nvPr/>
        </p:nvSpPr>
        <p:spPr>
          <a:xfrm>
            <a:off x="762000" y="1371600"/>
            <a:ext cx="635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21E6-30D4-4503-A6AD-C69859FD67C4}"/>
              </a:ext>
            </a:extLst>
          </p:cNvPr>
          <p:cNvSpPr txBox="1"/>
          <p:nvPr/>
        </p:nvSpPr>
        <p:spPr>
          <a:xfrm>
            <a:off x="762000" y="1778000"/>
            <a:ext cx="76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2C5F8D"/>
                </a:solidFill>
                <a:latin typeface="Aptos Display"/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1AEF45-491E-4577-AAF2-ABE1519ECEEC}"/>
              </a:ext>
            </a:extLst>
          </p:cNvPr>
          <p:cNvSpPr txBox="1"/>
          <p:nvPr/>
        </p:nvSpPr>
        <p:spPr>
          <a:xfrm>
            <a:off x="1651000" y="18034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1A2B4A"/>
                </a:solidFill>
              </a:rPr>
              <a:t>New dataset added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C79483-213D-45E6-8CD1-5805ACD1606C}"/>
              </a:ext>
            </a:extLst>
          </p:cNvPr>
          <p:cNvSpPr txBox="1"/>
          <p:nvPr/>
        </p:nvSpPr>
        <p:spPr>
          <a:xfrm>
            <a:off x="1651000" y="22098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374151"/>
                </a:solidFill>
              </a:rPr>
              <a:t>Think-in-Safety — 4,394 multimodal rows with reasoning traces.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8C2FB-D731-49C5-8E2A-530FC3F86B88}"/>
              </a:ext>
            </a:extLst>
          </p:cNvPr>
          <p:cNvSpPr txBox="1"/>
          <p:nvPr/>
        </p:nvSpPr>
        <p:spPr>
          <a:xfrm>
            <a:off x="762000" y="2921000"/>
            <a:ext cx="76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2C5F8D"/>
                </a:solidFill>
                <a:latin typeface="Aptos Display"/>
              </a:rPr>
              <a:t>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FC76F-8EF4-471C-8214-2A7580A96F2B}"/>
              </a:ext>
            </a:extLst>
          </p:cNvPr>
          <p:cNvSpPr txBox="1"/>
          <p:nvPr/>
        </p:nvSpPr>
        <p:spPr>
          <a:xfrm>
            <a:off x="1651000" y="29464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1A2B4A"/>
                </a:solidFill>
              </a:rPr>
              <a:t>Labeling QA on the full corpus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420F74-7654-400E-8ED0-00C4270CAB1A}"/>
              </a:ext>
            </a:extLst>
          </p:cNvPr>
          <p:cNvSpPr txBox="1"/>
          <p:nvPr/>
        </p:nvSpPr>
        <p:spPr>
          <a:xfrm>
            <a:off x="1651000" y="33528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374151"/>
                </a:solidFill>
              </a:rPr>
              <a:t>Qwen3.5-4B pass-of-5 self-consistency + multi-judge agreement vs the 397B.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4D0358-1825-4C44-9025-B918F7E261C8}"/>
              </a:ext>
            </a:extLst>
          </p:cNvPr>
          <p:cNvSpPr txBox="1"/>
          <p:nvPr/>
        </p:nvSpPr>
        <p:spPr>
          <a:xfrm>
            <a:off x="762000" y="4064000"/>
            <a:ext cx="76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2C5F8D"/>
                </a:solidFill>
                <a:latin typeface="Aptos Display"/>
              </a:rPr>
              <a:t>03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7EC6D2-3061-4135-9DA7-8D1D7D6C0F21}"/>
              </a:ext>
            </a:extLst>
          </p:cNvPr>
          <p:cNvSpPr txBox="1"/>
          <p:nvPr/>
        </p:nvSpPr>
        <p:spPr>
          <a:xfrm>
            <a:off x="1651000" y="40894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1A2B4A"/>
                </a:solidFill>
              </a:rPr>
              <a:t>Synthetic compositional-harm pipeline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46436-7A67-44E2-94AF-CAAE4EB93802}"/>
              </a:ext>
            </a:extLst>
          </p:cNvPr>
          <p:cNvSpPr txBox="1"/>
          <p:nvPr/>
        </p:nvSpPr>
        <p:spPr>
          <a:xfrm>
            <a:off x="1651000" y="44958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374151"/>
                </a:solidFill>
              </a:rPr>
              <a:t>15,000 candidate images → 2,895 kept; P5 coverage grew 9.5×.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33CE96-AA24-450C-A6F0-085731B176A9}"/>
              </a:ext>
            </a:extLst>
          </p:cNvPr>
          <p:cNvSpPr txBox="1"/>
          <p:nvPr/>
        </p:nvSpPr>
        <p:spPr>
          <a:xfrm>
            <a:off x="762000" y="5207000"/>
            <a:ext cx="76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b="1">
                <a:solidFill>
                  <a:srgbClr val="2C5F8D"/>
                </a:solidFill>
                <a:latin typeface="Aptos Display"/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17A41FD-6CC6-4741-9BD6-45D1BC14F671}"/>
              </a:ext>
            </a:extLst>
          </p:cNvPr>
          <p:cNvSpPr txBox="1"/>
          <p:nvPr/>
        </p:nvSpPr>
        <p:spPr>
          <a:xfrm>
            <a:off x="1651000" y="52324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Data hygiene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A778DF-5509-4128-8674-0EAD30F3DBE1}"/>
              </a:ext>
            </a:extLst>
          </p:cNvPr>
          <p:cNvSpPr txBox="1"/>
          <p:nvPr/>
        </p:nvSpPr>
        <p:spPr>
          <a:xfrm>
            <a:off x="1651000" y="5638800"/>
            <a:ext cx="9652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Image dedup (byte-hash + prompt cosine ≥ 0.93) removed ~6k dupes → 50k unique images; noise added to plain canvases for SFT robustness</a:t>
            </a:r>
          </a:p>
        </p:txBody>
      </p:sp>
    </p:spTree>
    <p:extLst>
      <p:ext uri="{BB962C8B-B14F-4D97-AF65-F5344CB8AC3E}">
        <p14:creationId xmlns:p14="http://schemas.microsoft.com/office/powerpoint/2010/main" val="92323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B9D5E89-F867-4C43-9515-E88665026B95}"/>
              </a:ext>
            </a:extLst>
          </p:cNvPr>
          <p:cNvSpPr txBox="1"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  <a:latin typeface="Aptos Display"/>
              </a:rPr>
              <a:t>Recap: where we were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BA201F-30BB-430F-8A74-E1CFB59CDCB6}"/>
              </a:ext>
            </a:extLst>
          </p:cNvPr>
          <p:cNvSpPr/>
          <p:nvPr/>
        </p:nvSpPr>
        <p:spPr>
          <a:xfrm>
            <a:off x="762000" y="1371600"/>
            <a:ext cx="635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33ADE1-4136-4688-85AF-6A303D514470}"/>
              </a:ext>
            </a:extLst>
          </p:cNvPr>
          <p:cNvSpPr txBox="1"/>
          <p:nvPr/>
        </p:nvSpPr>
        <p:spPr>
          <a:xfrm>
            <a:off x="762000" y="1651000"/>
            <a:ext cx="1016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6B7280"/>
                </a:solidFill>
              </a:rPr>
              <a:t>Last week's progress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75A6F8-9A35-45EE-92E1-67DEA45CFDEC}"/>
              </a:ext>
            </a:extLst>
          </p:cNvPr>
          <p:cNvSpPr/>
          <p:nvPr/>
        </p:nvSpPr>
        <p:spPr>
          <a:xfrm>
            <a:off x="762000" y="2286000"/>
            <a:ext cx="10668000" cy="3556000"/>
          </a:xfrm>
          <a:prstGeom prst="rect">
            <a:avLst/>
          </a:prstGeom>
          <a:solidFill>
            <a:srgbClr val="F3F4F6"/>
          </a:solidFill>
          <a:ln w="12700" cap="flat" cmpd="sng" algn="ctr">
            <a:solidFill>
              <a:srgbClr val="D1D5D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CCCB8D-C011-45FB-9177-E460B71C62BC}"/>
              </a:ext>
            </a:extLst>
          </p:cNvPr>
          <p:cNvSpPr txBox="1"/>
          <p:nvPr/>
        </p:nvSpPr>
        <p:spPr>
          <a:xfrm>
            <a:off x="1143000" y="2667000"/>
            <a:ext cx="9906000" cy="304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i="1">
                <a:solidFill>
                  <a:srgbClr val="6B7280"/>
                </a:solidFill>
              </a:rPr>
              <a:t>•  [Add 3–4 prior-week bullets here]
•  Keep each bullet to a single concrete fact.
•  Replace with last week's milestones (datasets, judges, infra changes).</a:t>
            </a:r>
          </a:p>
        </p:txBody>
      </p:sp>
    </p:spTree>
    <p:extLst>
      <p:ext uri="{BB962C8B-B14F-4D97-AF65-F5344CB8AC3E}">
        <p14:creationId xmlns:p14="http://schemas.microsoft.com/office/powerpoint/2010/main" val="2507856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1B8B76-93F3-4E21-A627-5A24334D4665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Corpus: rows per dataset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B1D262-CC68-4FC1-A851-08491F1AC85A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DA8E7C-2C6E-46B3-8CC2-FA3FABADA921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127,746 image+text rows across 5 datasets.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739AD8-565B-4F20-AEC2-2C5DA15D92DD}"/>
              </a:ext>
            </a:extLst>
          </p:cNvPr>
          <p:cNvSpPr txBox="1"/>
          <p:nvPr/>
        </p:nvSpPr>
        <p:spPr>
          <a:xfrm>
            <a:off x="762000" y="5969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Every row = (image + text question); both required. spavl dominates the volume — ~71% of all rows.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4233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7F5FBD-E5A0-4AAF-93F2-F5977AEC32A3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Label distribution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ACA02C-A1AB-4ABE-9FDA-B6019B2D58EC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84B1CB-1EC7-46E4-8F9A-D9C5FF6DCECE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Corpus skews unsafe — 56% of rows are flagged by the source dataset.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35C073-4B73-411B-9CBE-FF1294776900}"/>
              </a:ext>
            </a:extLst>
          </p:cNvPr>
          <p:cNvSpPr txBox="1"/>
          <p:nvPr/>
        </p:nvSpPr>
        <p:spPr>
          <a:xfrm>
            <a:off x="762000" y="5969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"public_label" = the source dataset's own label, before our judges weigh in.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54233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8AE62B-E760-4739-88EC-CE49E57AD0B3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Labels by dataset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A83045-F1CA-44B5-884E-7D0FA0559869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59C55E-492B-4C2B-AA39-FDF13C740B7A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Attack sets are all-unsafe; spavl and nemotron are mixed.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1D20A-7A5C-42A4-B6B1-391C433CF6D6}"/>
              </a:ext>
            </a:extLst>
          </p:cNvPr>
          <p:cNvSpPr/>
          <p:nvPr/>
        </p:nvSpPr>
        <p:spPr>
          <a:xfrm>
            <a:off x="762000" y="5842000"/>
            <a:ext cx="177800" cy="177800"/>
          </a:xfrm>
          <a:prstGeom prst="rect">
            <a:avLst/>
          </a:prstGeom>
          <a:solidFill>
            <a:srgbClr val="5A8A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E6F841-DBC5-440A-AA6E-E3DE9D6BBE22}"/>
              </a:ext>
            </a:extLst>
          </p:cNvPr>
          <p:cNvSpPr txBox="1"/>
          <p:nvPr/>
        </p:nvSpPr>
        <p:spPr>
          <a:xfrm>
            <a:off x="990600" y="5791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safe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3FAFBD3-AD16-4C56-8126-70C4C932CC6F}"/>
              </a:ext>
            </a:extLst>
          </p:cNvPr>
          <p:cNvSpPr/>
          <p:nvPr/>
        </p:nvSpPr>
        <p:spPr>
          <a:xfrm>
            <a:off x="1778000" y="5842000"/>
            <a:ext cx="177800" cy="177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1AC6D6-F9CB-4220-B20B-FD00F60C6DE8}"/>
              </a:ext>
            </a:extLst>
          </p:cNvPr>
          <p:cNvSpPr txBox="1"/>
          <p:nvPr/>
        </p:nvSpPr>
        <p:spPr>
          <a:xfrm>
            <a:off x="2006600" y="5791200"/>
            <a:ext cx="101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unsafe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7BB09F-4CDA-4877-85A6-3743440BC014}"/>
              </a:ext>
            </a:extLst>
          </p:cNvPr>
          <p:cNvSpPr/>
          <p:nvPr/>
        </p:nvSpPr>
        <p:spPr>
          <a:xfrm>
            <a:off x="3175000" y="5842000"/>
            <a:ext cx="177800" cy="177800"/>
          </a:xfrm>
          <a:prstGeom prst="rect">
            <a:avLst/>
          </a:prstGeom>
          <a:solidFill>
            <a:srgbClr val="94A3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DBD8B7-0278-4502-BCE8-92821D77220B}"/>
              </a:ext>
            </a:extLst>
          </p:cNvPr>
          <p:cNvSpPr txBox="1"/>
          <p:nvPr/>
        </p:nvSpPr>
        <p:spPr>
          <a:xfrm>
            <a:off x="3403600" y="5791200"/>
            <a:ext cx="177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needs_review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3413C0-315C-4440-BC25-8C66E82DEFB7}"/>
              </a:ext>
            </a:extLst>
          </p:cNvPr>
          <p:cNvSpPr txBox="1"/>
          <p:nvPr/>
        </p:nvSpPr>
        <p:spPr>
          <a:xfrm>
            <a:off x="762000" y="62865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Numbers inside segments are raw row counts; bars are normalized to 100% per dataset.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881252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22CB6-7F27-4CA3-B20A-E913AF90F9C3}"/>
              </a:ext>
            </a:extLst>
          </p:cNvPr>
          <p:cNvSpPr txBox="1"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  <a:latin typeface="Aptos Display"/>
              </a:rPr>
              <a:t>New dataset: Think-in-Safety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7B62A9-BA78-40A1-B864-740B401A73EE}"/>
              </a:ext>
            </a:extLst>
          </p:cNvPr>
          <p:cNvSpPr/>
          <p:nvPr/>
        </p:nvSpPr>
        <p:spPr>
          <a:xfrm>
            <a:off x="762000" y="1371600"/>
            <a:ext cx="635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DAC109-F158-43A4-9BAA-B266AD0B5CFC}"/>
              </a:ext>
            </a:extLst>
          </p:cNvPr>
          <p:cNvSpPr/>
          <p:nvPr/>
        </p:nvSpPr>
        <p:spPr>
          <a:xfrm>
            <a:off x="762000" y="1905000"/>
            <a:ext cx="3556000" cy="4064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7DA7E7-6ADE-47AA-9C82-B0F7F097369B}"/>
              </a:ext>
            </a:extLst>
          </p:cNvPr>
          <p:cNvSpPr txBox="1"/>
          <p:nvPr/>
        </p:nvSpPr>
        <p:spPr>
          <a:xfrm>
            <a:off x="1016000" y="2286000"/>
            <a:ext cx="3048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>
                <a:solidFill>
                  <a:srgbClr val="2C5F8D"/>
                </a:solidFill>
                <a:latin typeface="Aptos Display"/>
              </a:rPr>
              <a:t>4,394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05523-FAB5-4625-B78A-B06B3EED30E2}"/>
              </a:ext>
            </a:extLst>
          </p:cNvPr>
          <p:cNvSpPr txBox="1"/>
          <p:nvPr/>
        </p:nvSpPr>
        <p:spPr>
          <a:xfrm>
            <a:off x="1016000" y="3200400"/>
            <a:ext cx="304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374151"/>
                </a:solidFill>
              </a:rPr>
              <a:t>multimodal rows added this week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20B657-119F-47ED-B860-517310B999AC}"/>
              </a:ext>
            </a:extLst>
          </p:cNvPr>
          <p:cNvSpPr txBox="1"/>
          <p:nvPr/>
        </p:nvSpPr>
        <p:spPr>
          <a:xfrm>
            <a:off x="1016000" y="4064000"/>
            <a:ext cx="127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1A2B4A"/>
                </a:solidFill>
                <a:latin typeface="Aptos Display"/>
              </a:rPr>
              <a:t>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8AD8F8-AE71-444A-AC20-A5B65DBE270B}"/>
              </a:ext>
            </a:extLst>
          </p:cNvPr>
          <p:cNvSpPr txBox="1"/>
          <p:nvPr/>
        </p:nvSpPr>
        <p:spPr>
          <a:xfrm>
            <a:off x="1016000" y="4724400"/>
            <a:ext cx="304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harm categories covered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03E4F62-67CE-4233-9F8D-D77FCB6C5EF5}"/>
              </a:ext>
            </a:extLst>
          </p:cNvPr>
          <p:cNvSpPr/>
          <p:nvPr/>
        </p:nvSpPr>
        <p:spPr>
          <a:xfrm>
            <a:off x="4699000" y="2006600"/>
            <a:ext cx="101600" cy="101600"/>
          </a:xfrm>
          <a:prstGeom prst="ellipse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42942C-4D88-4DC5-9091-A0FD0C68F3F5}"/>
              </a:ext>
            </a:extLst>
          </p:cNvPr>
          <p:cNvSpPr txBox="1"/>
          <p:nvPr/>
        </p:nvSpPr>
        <p:spPr>
          <a:xfrm>
            <a:off x="4953000" y="1905000"/>
            <a:ext cx="6477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Row shape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7CBDEB-A294-4A12-A7F9-6DF8B90B48FB}"/>
              </a:ext>
            </a:extLst>
          </p:cNvPr>
          <p:cNvSpPr txBox="1"/>
          <p:nvPr/>
        </p:nvSpPr>
        <p:spPr>
          <a:xfrm>
            <a:off x="4953000" y="2260600"/>
            <a:ext cx="6477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image + benign-looking instruction + &lt;think&gt; reasoning trace + refusal answer (reasoning-style safety data).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E9CF850-A962-4F98-B4EE-24AFB083A152}"/>
              </a:ext>
            </a:extLst>
          </p:cNvPr>
          <p:cNvSpPr/>
          <p:nvPr/>
        </p:nvSpPr>
        <p:spPr>
          <a:xfrm>
            <a:off x="4699000" y="3403600"/>
            <a:ext cx="101600" cy="101600"/>
          </a:xfrm>
          <a:prstGeom prst="ellipse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690F6-17B9-4A45-948D-39E7F1DEF7A2}"/>
              </a:ext>
            </a:extLst>
          </p:cNvPr>
          <p:cNvSpPr txBox="1"/>
          <p:nvPr/>
        </p:nvSpPr>
        <p:spPr>
          <a:xfrm>
            <a:off x="4953000" y="3302000"/>
            <a:ext cx="6477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Source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36A7FD-146D-4A6D-8718-2EB14C2B1FC5}"/>
              </a:ext>
            </a:extLst>
          </p:cNvPr>
          <p:cNvSpPr txBox="1"/>
          <p:nvPr/>
        </p:nvSpPr>
        <p:spPr>
          <a:xfrm>
            <a:off x="4953000" y="3657600"/>
            <a:ext cx="6477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Sourced locally from train.json + image folders.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B074B5D-EC02-4D94-8DA8-2B5A88D70BA2}"/>
              </a:ext>
            </a:extLst>
          </p:cNvPr>
          <p:cNvSpPr/>
          <p:nvPr/>
        </p:nvSpPr>
        <p:spPr>
          <a:xfrm>
            <a:off x="4699000" y="4800600"/>
            <a:ext cx="101600" cy="101600"/>
          </a:xfrm>
          <a:prstGeom prst="ellipse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C6DCAA-8499-49E8-B3BB-E0D753A76161}"/>
              </a:ext>
            </a:extLst>
          </p:cNvPr>
          <p:cNvSpPr txBox="1"/>
          <p:nvPr/>
        </p:nvSpPr>
        <p:spPr>
          <a:xfrm>
            <a:off x="4953000" y="4699000"/>
            <a:ext cx="6477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Why it matters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AF109B-C7EC-4EA7-8E81-949592AA7357}"/>
              </a:ext>
            </a:extLst>
          </p:cNvPr>
          <p:cNvSpPr txBox="1"/>
          <p:nvPr/>
        </p:nvSpPr>
        <p:spPr>
          <a:xfrm>
            <a:off x="4953000" y="5054600"/>
            <a:ext cx="6477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374151"/>
                </a:solidFill>
              </a:rPr>
              <a:t>Teaches a guardrail to reason about why an (image, text) pair is unsafe, not just pattern-match.</a:t>
            </a:r>
          </a:p>
        </p:txBody>
      </p:sp>
    </p:spTree>
    <p:extLst>
      <p:ext uri="{BB962C8B-B14F-4D97-AF65-F5344CB8AC3E}">
        <p14:creationId xmlns:p14="http://schemas.microsoft.com/office/powerpoint/2010/main" val="6167704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8627EE-16B7-47A6-BB6F-917DEA7A190D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Think-in-Safety: categories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0A54FF2-94F1-487D-B562-B4941402DFA8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1504EF-DB8A-4E91-896E-E65D7D611F51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Privacy and malicious-use dominate the new rows — together ~54% of TIS.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95956-B89B-4EAA-855D-2B2EAE053E69}"/>
              </a:ext>
            </a:extLst>
          </p:cNvPr>
          <p:cNvSpPr txBox="1"/>
          <p:nvPr/>
        </p:nvSpPr>
        <p:spPr>
          <a:xfrm>
            <a:off x="762000" y="6096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Privacy alerts alone (1,510) outweigh the next two categories combined; smaller tail spreads across reasoning and socioeconomic harms.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91493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904D93-5DBA-475D-AB5F-97AE36EA8BC2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Policy coverage (the gap)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906308-4CEB-4013-8AEC-541CA7D0EB33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C427E3-347F-4CF0-AA30-E228953593E9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Long-tailed — P5, P2, P3 barely covered (red).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98796B-805E-4448-B93A-B0FF75D3AE44}"/>
              </a:ext>
            </a:extLst>
          </p:cNvPr>
          <p:cNvSpPr txBox="1"/>
          <p:nvPr/>
        </p:nvSpPr>
        <p:spPr>
          <a:xfrm>
            <a:off x="762000" y="62865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Counts = rows the 397B judge cited each policy on. This gap motivates the synthetic pipeline.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78227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0E54FF-F008-44E0-B797-E2584C815441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Policies cited per row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20DA780-D1B9-4B11-961D-043F262DDE7A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904BE4-44F6-44D6-893A-A4141A3F5CE3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Most unsafe rows cite a single policy — overlap is rare.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4E8299-DC83-41FB-A135-29A26E1C6F0A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"0 policies" includes safe + needs_review rows; among unsafe rows, the modal count is 1.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95867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731E19-DBBF-4147-9A58-18A9CFBA4D7B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Dataset × policy heatmap (top 6 policies)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DBF803-A833-4BFB-86F2-3F1EAF95AEF7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DD3CA6-9E44-4F4D-BBFE-116B1C9ABD1B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Harms cluster by source — jailbreakv drives P1; spavl drives P23/P12.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A8BD9A-7832-467E-B24A-46E4AB0EFE90}"/>
              </a:ext>
            </a:extLst>
          </p:cNvPr>
          <p:cNvSpPr txBox="1"/>
          <p:nvPr/>
        </p:nvSpPr>
        <p:spPr>
          <a:xfrm>
            <a:off x="2540000" y="1739900"/>
            <a:ext cx="139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P23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77E02-19D3-4E02-A80B-8F39A92B65B3}"/>
              </a:ext>
            </a:extLst>
          </p:cNvPr>
          <p:cNvSpPr txBox="1"/>
          <p:nvPr/>
        </p:nvSpPr>
        <p:spPr>
          <a:xfrm>
            <a:off x="3937000" y="1739900"/>
            <a:ext cx="139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B298C7-E5BD-4357-8947-5786C5895A3C}"/>
              </a:ext>
            </a:extLst>
          </p:cNvPr>
          <p:cNvSpPr txBox="1"/>
          <p:nvPr/>
        </p:nvSpPr>
        <p:spPr>
          <a:xfrm>
            <a:off x="5334000" y="1739900"/>
            <a:ext cx="139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E1D233-4A1D-4937-B02D-655DBE04A720}"/>
              </a:ext>
            </a:extLst>
          </p:cNvPr>
          <p:cNvSpPr txBox="1"/>
          <p:nvPr/>
        </p:nvSpPr>
        <p:spPr>
          <a:xfrm>
            <a:off x="6731000" y="1739900"/>
            <a:ext cx="139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P13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3C62DA-91F9-4AEB-85E5-71AEF230EC13}"/>
              </a:ext>
            </a:extLst>
          </p:cNvPr>
          <p:cNvSpPr txBox="1"/>
          <p:nvPr/>
        </p:nvSpPr>
        <p:spPr>
          <a:xfrm>
            <a:off x="8128000" y="1739900"/>
            <a:ext cx="139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90F06D-0639-4CB5-BABE-7F299009ED04}"/>
              </a:ext>
            </a:extLst>
          </p:cNvPr>
          <p:cNvSpPr txBox="1"/>
          <p:nvPr/>
        </p:nvSpPr>
        <p:spPr>
          <a:xfrm>
            <a:off x="9525000" y="1739900"/>
            <a:ext cx="1397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5B39F1-B645-4741-99F8-37F826D53CC7}"/>
              </a:ext>
            </a:extLst>
          </p:cNvPr>
          <p:cNvSpPr txBox="1"/>
          <p:nvPr/>
        </p:nvSpPr>
        <p:spPr>
          <a:xfrm>
            <a:off x="762000" y="2273300"/>
            <a:ext cx="1714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spavl-train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995389-D5BD-48FD-948E-0D8B97384124}"/>
              </a:ext>
            </a:extLst>
          </p:cNvPr>
          <p:cNvSpPr/>
          <p:nvPr/>
        </p:nvSpPr>
        <p:spPr>
          <a:xfrm>
            <a:off x="2540000" y="2095500"/>
            <a:ext cx="1371600" cy="685800"/>
          </a:xfrm>
          <a:prstGeom prst="rect">
            <a:avLst/>
          </a:prstGeom>
          <a:solidFill>
            <a:srgbClr val="346591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10543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2596D3-226C-4917-BDF0-0A05B07A45C6}"/>
              </a:ext>
            </a:extLst>
          </p:cNvPr>
          <p:cNvSpPr/>
          <p:nvPr/>
        </p:nvSpPr>
        <p:spPr>
          <a:xfrm>
            <a:off x="3937000" y="2095500"/>
            <a:ext cx="1371600" cy="685800"/>
          </a:xfrm>
          <a:prstGeom prst="rect">
            <a:avLst/>
          </a:prstGeom>
          <a:solidFill>
            <a:srgbClr val="5D84A7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1637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9C0871-E767-4B93-B1B2-4E91ABCFAB54}"/>
              </a:ext>
            </a:extLst>
          </p:cNvPr>
          <p:cNvSpPr/>
          <p:nvPr/>
        </p:nvSpPr>
        <p:spPr>
          <a:xfrm>
            <a:off x="5334000" y="2095500"/>
            <a:ext cx="1371600" cy="685800"/>
          </a:xfrm>
          <a:prstGeom prst="rect">
            <a:avLst/>
          </a:prstGeom>
          <a:solidFill>
            <a:srgbClr val="37689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9091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4E14BD-B15A-4863-BC05-29DE55F0945D}"/>
              </a:ext>
            </a:extLst>
          </p:cNvPr>
          <p:cNvSpPr/>
          <p:nvPr/>
        </p:nvSpPr>
        <p:spPr>
          <a:xfrm>
            <a:off x="6731000" y="2095500"/>
            <a:ext cx="1371600" cy="685800"/>
          </a:xfrm>
          <a:prstGeom prst="rect">
            <a:avLst/>
          </a:prstGeom>
          <a:solidFill>
            <a:srgbClr val="3E6D97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6622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1A9EBD-1CC9-42B3-8E22-94EA08A65248}"/>
              </a:ext>
            </a:extLst>
          </p:cNvPr>
          <p:cNvSpPr/>
          <p:nvPr/>
        </p:nvSpPr>
        <p:spPr>
          <a:xfrm>
            <a:off x="8128000" y="2095500"/>
            <a:ext cx="1371600" cy="685800"/>
          </a:xfrm>
          <a:prstGeom prst="rect">
            <a:avLst/>
          </a:prstGeom>
          <a:solidFill>
            <a:srgbClr val="46739B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4710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844908-7085-4105-881C-70F995E39CFE}"/>
              </a:ext>
            </a:extLst>
          </p:cNvPr>
          <p:cNvSpPr/>
          <p:nvPr/>
        </p:nvSpPr>
        <p:spPr>
          <a:xfrm>
            <a:off x="9525000" y="2095500"/>
            <a:ext cx="1371600" cy="685800"/>
          </a:xfrm>
          <a:prstGeom prst="rect">
            <a:avLst/>
          </a:prstGeom>
          <a:solidFill>
            <a:srgbClr val="507AA0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2987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BB3AD24-D605-46B3-8387-114E666B16A0}"/>
              </a:ext>
            </a:extLst>
          </p:cNvPr>
          <p:cNvSpPr txBox="1"/>
          <p:nvPr/>
        </p:nvSpPr>
        <p:spPr>
          <a:xfrm>
            <a:off x="762000" y="2984500"/>
            <a:ext cx="1714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jailbreakv-28k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2CC293-F444-4E02-B752-F9F1DAC6CDA2}"/>
              </a:ext>
            </a:extLst>
          </p:cNvPr>
          <p:cNvSpPr/>
          <p:nvPr/>
        </p:nvSpPr>
        <p:spPr>
          <a:xfrm>
            <a:off x="2540000" y="2806700"/>
            <a:ext cx="1371600" cy="685800"/>
          </a:xfrm>
          <a:prstGeom prst="rect">
            <a:avLst/>
          </a:prstGeom>
          <a:solidFill>
            <a:srgbClr val="3B6A95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7893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EBF305-0991-45C6-8500-D2BA2B21DBB6}"/>
              </a:ext>
            </a:extLst>
          </p:cNvPr>
          <p:cNvSpPr/>
          <p:nvPr/>
        </p:nvSpPr>
        <p:spPr>
          <a:xfrm>
            <a:off x="3937000" y="2806700"/>
            <a:ext cx="1371600" cy="685800"/>
          </a:xfrm>
          <a:prstGeom prst="rect">
            <a:avLst/>
          </a:prstGeom>
          <a:solidFill>
            <a:srgbClr val="2C5F8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15350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4FD500-C040-4CC4-98F2-EB267ACDC2A6}"/>
              </a:ext>
            </a:extLst>
          </p:cNvPr>
          <p:cNvSpPr/>
          <p:nvPr/>
        </p:nvSpPr>
        <p:spPr>
          <a:xfrm>
            <a:off x="5334000" y="2806700"/>
            <a:ext cx="1371600" cy="685800"/>
          </a:xfrm>
          <a:prstGeom prst="rect">
            <a:avLst/>
          </a:prstGeom>
          <a:solidFill>
            <a:srgbClr val="557EA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2310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1C6BCC-DEA5-4FD2-8D3A-4792B584DB03}"/>
              </a:ext>
            </a:extLst>
          </p:cNvPr>
          <p:cNvSpPr/>
          <p:nvPr/>
        </p:nvSpPr>
        <p:spPr>
          <a:xfrm>
            <a:off x="6731000" y="2806700"/>
            <a:ext cx="1371600" cy="685800"/>
          </a:xfrm>
          <a:prstGeom prst="rect">
            <a:avLst/>
          </a:prstGeom>
          <a:solidFill>
            <a:srgbClr val="5981A5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2010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304866-CB2B-4414-9B4A-10197739260F}"/>
              </a:ext>
            </a:extLst>
          </p:cNvPr>
          <p:cNvSpPr/>
          <p:nvPr/>
        </p:nvSpPr>
        <p:spPr>
          <a:xfrm>
            <a:off x="8128000" y="2806700"/>
            <a:ext cx="1371600" cy="685800"/>
          </a:xfrm>
          <a:prstGeom prst="rect">
            <a:avLst/>
          </a:prstGeom>
          <a:solidFill>
            <a:srgbClr val="527CA1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2726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41DEF07-8797-454B-9320-9E8CFB49DAB0}"/>
              </a:ext>
            </a:extLst>
          </p:cNvPr>
          <p:cNvSpPr/>
          <p:nvPr/>
        </p:nvSpPr>
        <p:spPr>
          <a:xfrm>
            <a:off x="9525000" y="2806700"/>
            <a:ext cx="1371600" cy="685800"/>
          </a:xfrm>
          <a:prstGeom prst="rect">
            <a:avLst/>
          </a:prstGeom>
          <a:solidFill>
            <a:srgbClr val="46739B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4639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96A1F3-A122-4178-A1E3-7208D427F6AD}"/>
              </a:ext>
            </a:extLst>
          </p:cNvPr>
          <p:cNvSpPr txBox="1"/>
          <p:nvPr/>
        </p:nvSpPr>
        <p:spPr>
          <a:xfrm>
            <a:off x="762000" y="3695700"/>
            <a:ext cx="1714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nemotron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3C9DCCC-6647-4915-9B3F-B3C22530C2CD}"/>
              </a:ext>
            </a:extLst>
          </p:cNvPr>
          <p:cNvSpPr/>
          <p:nvPr/>
        </p:nvSpPr>
        <p:spPr>
          <a:xfrm>
            <a:off x="2540000" y="3517900"/>
            <a:ext cx="1371600" cy="685800"/>
          </a:xfrm>
          <a:prstGeom prst="rect">
            <a:avLst/>
          </a:prstGeom>
          <a:solidFill>
            <a:srgbClr val="86A3B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256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2DCA52-031F-49E9-A043-36BD1AE869C2}"/>
              </a:ext>
            </a:extLst>
          </p:cNvPr>
          <p:cNvSpPr/>
          <p:nvPr/>
        </p:nvSpPr>
        <p:spPr>
          <a:xfrm>
            <a:off x="3937000" y="3517900"/>
            <a:ext cx="1371600" cy="685800"/>
          </a:xfrm>
          <a:prstGeom prst="rect">
            <a:avLst/>
          </a:prstGeom>
          <a:solidFill>
            <a:srgbClr val="95AFC6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127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42EA3FB-6309-478B-B836-FE149F842368}"/>
              </a:ext>
            </a:extLst>
          </p:cNvPr>
          <p:cNvSpPr/>
          <p:nvPr/>
        </p:nvSpPr>
        <p:spPr>
          <a:xfrm>
            <a:off x="5334000" y="3517900"/>
            <a:ext cx="1371600" cy="685800"/>
          </a:xfrm>
          <a:prstGeom prst="rect">
            <a:avLst/>
          </a:prstGeom>
          <a:solidFill>
            <a:srgbClr val="89A5BF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222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2E1610-3336-4D9B-80ED-BFB957DD17BB}"/>
              </a:ext>
            </a:extLst>
          </p:cNvPr>
          <p:cNvSpPr/>
          <p:nvPr/>
        </p:nvSpPr>
        <p:spPr>
          <a:xfrm>
            <a:off x="6731000" y="3517900"/>
            <a:ext cx="1371600" cy="685800"/>
          </a:xfrm>
          <a:prstGeom prst="rect">
            <a:avLst/>
          </a:prstGeom>
          <a:solidFill>
            <a:srgbClr val="8BA7C1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197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E9A9339-B62E-4DCE-A858-BF66F34D680B}"/>
              </a:ext>
            </a:extLst>
          </p:cNvPr>
          <p:cNvSpPr/>
          <p:nvPr/>
        </p:nvSpPr>
        <p:spPr>
          <a:xfrm>
            <a:off x="8128000" y="3517900"/>
            <a:ext cx="1371600" cy="685800"/>
          </a:xfrm>
          <a:prstGeom prst="rect">
            <a:avLst/>
          </a:prstGeom>
          <a:solidFill>
            <a:srgbClr val="94AEC5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135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C30870B-AED5-4037-BA32-7459F105509E}"/>
              </a:ext>
            </a:extLst>
          </p:cNvPr>
          <p:cNvSpPr/>
          <p:nvPr/>
        </p:nvSpPr>
        <p:spPr>
          <a:xfrm>
            <a:off x="9525000" y="3517900"/>
            <a:ext cx="1371600" cy="685800"/>
          </a:xfrm>
          <a:prstGeom prst="rect">
            <a:avLst/>
          </a:prstGeom>
          <a:solidFill>
            <a:srgbClr val="A5BBCE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61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EC825D-4A43-4E13-BF41-D314410DC3B6}"/>
              </a:ext>
            </a:extLst>
          </p:cNvPr>
          <p:cNvSpPr txBox="1"/>
          <p:nvPr/>
        </p:nvSpPr>
        <p:spPr>
          <a:xfrm>
            <a:off x="762000" y="4406900"/>
            <a:ext cx="1714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vlguard-train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51A4BF-B1FB-4350-A110-2491ECA8F86C}"/>
              </a:ext>
            </a:extLst>
          </p:cNvPr>
          <p:cNvSpPr/>
          <p:nvPr/>
        </p:nvSpPr>
        <p:spPr>
          <a:xfrm>
            <a:off x="2540000" y="4229100"/>
            <a:ext cx="1371600" cy="685800"/>
          </a:xfrm>
          <a:prstGeom prst="rect">
            <a:avLst/>
          </a:prstGeom>
          <a:solidFill>
            <a:srgbClr val="C5D3E0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14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87CE146-C8C9-4081-BCFE-D11E8836E398}"/>
              </a:ext>
            </a:extLst>
          </p:cNvPr>
          <p:cNvSpPr/>
          <p:nvPr/>
        </p:nvSpPr>
        <p:spPr>
          <a:xfrm>
            <a:off x="3937000" y="4229100"/>
            <a:ext cx="1371600" cy="685800"/>
          </a:xfrm>
          <a:prstGeom prst="rect">
            <a:avLst/>
          </a:prstGeom>
          <a:solidFill>
            <a:srgbClr val="DCE4EC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5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3B850BD-DAE8-4F34-B653-B9D6A06995AD}"/>
              </a:ext>
            </a:extLst>
          </p:cNvPr>
          <p:cNvSpPr/>
          <p:nvPr/>
        </p:nvSpPr>
        <p:spPr>
          <a:xfrm>
            <a:off x="5334000" y="4229100"/>
            <a:ext cx="1371600" cy="685800"/>
          </a:xfrm>
          <a:prstGeom prst="rect">
            <a:avLst/>
          </a:prstGeom>
          <a:solidFill>
            <a:srgbClr val="A9BED1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50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2F6CE1D-8B59-40DD-958D-9468B3EA8D65}"/>
              </a:ext>
            </a:extLst>
          </p:cNvPr>
          <p:cNvSpPr/>
          <p:nvPr/>
        </p:nvSpPr>
        <p:spPr>
          <a:xfrm>
            <a:off x="6731000" y="4229100"/>
            <a:ext cx="1371600" cy="685800"/>
          </a:xfrm>
          <a:prstGeom prst="rect">
            <a:avLst/>
          </a:prstGeom>
          <a:solidFill>
            <a:srgbClr val="A3B9C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67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9BA26F4-01EF-4B44-B849-8C77C39F66B9}"/>
              </a:ext>
            </a:extLst>
          </p:cNvPr>
          <p:cNvSpPr/>
          <p:nvPr/>
        </p:nvSpPr>
        <p:spPr>
          <a:xfrm>
            <a:off x="8128000" y="4229100"/>
            <a:ext cx="1371600" cy="685800"/>
          </a:xfrm>
          <a:prstGeom prst="rect">
            <a:avLst/>
          </a:prstGeom>
          <a:solidFill>
            <a:srgbClr val="809FB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329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D494E6-EF0A-476D-AD8E-64165AA604D7}"/>
              </a:ext>
            </a:extLst>
          </p:cNvPr>
          <p:cNvSpPr/>
          <p:nvPr/>
        </p:nvSpPr>
        <p:spPr>
          <a:xfrm>
            <a:off x="9525000" y="4229100"/>
            <a:ext cx="1371600" cy="685800"/>
          </a:xfrm>
          <a:prstGeom prst="rect">
            <a:avLst/>
          </a:prstGeom>
          <a:solidFill>
            <a:srgbClr val="E1E8EF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314E88-C764-4D20-AD0A-A37BEE514D37}"/>
              </a:ext>
            </a:extLst>
          </p:cNvPr>
          <p:cNvSpPr txBox="1"/>
          <p:nvPr/>
        </p:nvSpPr>
        <p:spPr>
          <a:xfrm>
            <a:off x="762000" y="5118100"/>
            <a:ext cx="17145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think-in-safety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D8723B9-6528-4214-84D3-FC3CD1A2EE57}"/>
              </a:ext>
            </a:extLst>
          </p:cNvPr>
          <p:cNvSpPr/>
          <p:nvPr/>
        </p:nvSpPr>
        <p:spPr>
          <a:xfrm>
            <a:off x="2540000" y="4940300"/>
            <a:ext cx="1371600" cy="685800"/>
          </a:xfrm>
          <a:prstGeom prst="rect">
            <a:avLst/>
          </a:prstGeom>
          <a:solidFill>
            <a:srgbClr val="82A0BC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299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A28B2B-C62F-4A75-BB97-9252F46FC954}"/>
              </a:ext>
            </a:extLst>
          </p:cNvPr>
          <p:cNvSpPr/>
          <p:nvPr/>
        </p:nvSpPr>
        <p:spPr>
          <a:xfrm>
            <a:off x="3937000" y="4940300"/>
            <a:ext cx="1371600" cy="685800"/>
          </a:xfrm>
          <a:prstGeom prst="rect">
            <a:avLst/>
          </a:prstGeom>
          <a:solidFill>
            <a:srgbClr val="ADC1D3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43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34A12F9-7439-4B3F-980A-A1535F0A9BA6}"/>
              </a:ext>
            </a:extLst>
          </p:cNvPr>
          <p:cNvSpPr/>
          <p:nvPr/>
        </p:nvSpPr>
        <p:spPr>
          <a:xfrm>
            <a:off x="5334000" y="4940300"/>
            <a:ext cx="1371600" cy="685800"/>
          </a:xfrm>
          <a:prstGeom prst="rect">
            <a:avLst/>
          </a:prstGeom>
          <a:solidFill>
            <a:srgbClr val="84A2B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275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D73A626-5760-4A10-B91A-516DB28EDB6D}"/>
              </a:ext>
            </a:extLst>
          </p:cNvPr>
          <p:cNvSpPr/>
          <p:nvPr/>
        </p:nvSpPr>
        <p:spPr>
          <a:xfrm>
            <a:off x="6731000" y="4940300"/>
            <a:ext cx="1371600" cy="685800"/>
          </a:xfrm>
          <a:prstGeom prst="rect">
            <a:avLst/>
          </a:prstGeom>
          <a:solidFill>
            <a:srgbClr val="85A2BD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267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0030332-6D78-4CA1-BAD2-36FC7414A75A}"/>
              </a:ext>
            </a:extLst>
          </p:cNvPr>
          <p:cNvSpPr/>
          <p:nvPr/>
        </p:nvSpPr>
        <p:spPr>
          <a:xfrm>
            <a:off x="8128000" y="4940300"/>
            <a:ext cx="1371600" cy="685800"/>
          </a:xfrm>
          <a:prstGeom prst="rect">
            <a:avLst/>
          </a:prstGeom>
          <a:solidFill>
            <a:srgbClr val="7C9CB8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397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6057A0-D765-4D54-AEB4-7D973EA678E8}"/>
              </a:ext>
            </a:extLst>
          </p:cNvPr>
          <p:cNvSpPr/>
          <p:nvPr/>
        </p:nvSpPr>
        <p:spPr>
          <a:xfrm>
            <a:off x="9525000" y="4940300"/>
            <a:ext cx="1371600" cy="685800"/>
          </a:xfrm>
          <a:prstGeom prst="rect">
            <a:avLst/>
          </a:prstGeom>
          <a:solidFill>
            <a:srgbClr val="8CA8C1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187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A3DDFB3-57BD-46B5-ACA9-CA59AE276D5D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Cell value = rows where the 397B judge cited that policy in that dataset; darker = higher (log-scaled).</a:t>
            </a:r>
          </a:p>
        </p:txBody>
      </p:sp>
    </p:spTree>
    <p:extLst>
      <p:ext uri="{BB962C8B-B14F-4D97-AF65-F5344CB8AC3E}">
        <p14:creationId xmlns:p14="http://schemas.microsoft.com/office/powerpoint/2010/main" val="19907536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F3AE8E-2EDC-4C9D-827B-16F7EEBD3B6A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Policy co-occurrence (top pairs)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45A060-AFC1-48D5-8164-7B1D9B331153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CD8C59-C984-443E-8BFA-D040C4D89862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Jailbreak (P1) co-occurs with fraud (P23) and cyber (P4) most often.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07A5D2-292B-4E3C-A324-FC0034C594DB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Pair = both policies cited on the same row by the 397B judge.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41846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B9546C-B7AA-4344-81E5-B3D9FC3EC59E}"/>
              </a:ext>
            </a:extLst>
          </p:cNvPr>
          <p:cNvSpPr txBox="1"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  <a:latin typeface="Aptos Display"/>
              </a:rPr>
              <a:t>How we label: the judge stack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6EBC8E-2611-43DA-826C-D484C3F2BC9F}"/>
              </a:ext>
            </a:extLst>
          </p:cNvPr>
          <p:cNvSpPr/>
          <p:nvPr/>
        </p:nvSpPr>
        <p:spPr>
          <a:xfrm>
            <a:off x="762000" y="1371600"/>
            <a:ext cx="635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137032-7383-4D86-9111-E2103F6A3F64}"/>
              </a:ext>
            </a:extLst>
          </p:cNvPr>
          <p:cNvSpPr/>
          <p:nvPr/>
        </p:nvSpPr>
        <p:spPr>
          <a:xfrm>
            <a:off x="762000" y="1905000"/>
            <a:ext cx="2984500" cy="39370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FF3CA-FAA5-4A63-8066-DB8866EFD96E}"/>
              </a:ext>
            </a:extLst>
          </p:cNvPr>
          <p:cNvSpPr txBox="1"/>
          <p:nvPr/>
        </p:nvSpPr>
        <p:spPr>
          <a:xfrm>
            <a:off x="952500" y="20955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A8C3DD"/>
                </a:solidFill>
              </a:rPr>
              <a:t>CANONICAL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BC0C05-0D17-476F-9226-3B26F92A587E}"/>
              </a:ext>
            </a:extLst>
          </p:cNvPr>
          <p:cNvSpPr txBox="1"/>
          <p:nvPr/>
        </p:nvSpPr>
        <p:spPr>
          <a:xfrm>
            <a:off x="952500" y="2413000"/>
            <a:ext cx="254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FFFFFF"/>
                </a:solidFill>
              </a:rPr>
              <a:t>Qwen3.5-397B-A17B (FP8)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4E7E0E-34E7-401D-AEF5-5C71A75BBE7A}"/>
              </a:ext>
            </a:extLst>
          </p:cNvPr>
          <p:cNvSpPr txBox="1"/>
          <p:nvPr/>
        </p:nvSpPr>
        <p:spPr>
          <a:xfrm>
            <a:off x="952500" y="2921000"/>
            <a:ext cx="2540000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E8EEF5"/>
                </a:solidFill>
              </a:rPr>
              <a:t>Tool-calling verdict: {label, policies, modality}.
Policy IDs are shuffled per row so the model reads policy text instead of memorizing id → harm priors.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42BFCB-DC6C-4522-9DEB-150EA308DB83}"/>
              </a:ext>
            </a:extLst>
          </p:cNvPr>
          <p:cNvSpPr/>
          <p:nvPr/>
        </p:nvSpPr>
        <p:spPr>
          <a:xfrm>
            <a:off x="4635500" y="1905000"/>
            <a:ext cx="2984500" cy="3937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75C534-AAB8-45CF-B849-A09D082D2F6F}"/>
              </a:ext>
            </a:extLst>
          </p:cNvPr>
          <p:cNvSpPr txBox="1"/>
          <p:nvPr/>
        </p:nvSpPr>
        <p:spPr>
          <a:xfrm>
            <a:off x="4826000" y="20955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7280"/>
                </a:solidFill>
              </a:rPr>
              <a:t>CROSS-CHECK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230FD7-7006-4224-9841-688F0BBDD98F}"/>
              </a:ext>
            </a:extLst>
          </p:cNvPr>
          <p:cNvSpPr txBox="1"/>
          <p:nvPr/>
        </p:nvSpPr>
        <p:spPr>
          <a:xfrm>
            <a:off x="4826000" y="2413000"/>
            <a:ext cx="254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Gemma-4-31B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842BAF-B5AC-4BC3-9CCA-2CFFFED0AB0B}"/>
              </a:ext>
            </a:extLst>
          </p:cNvPr>
          <p:cNvSpPr txBox="1"/>
          <p:nvPr/>
        </p:nvSpPr>
        <p:spPr>
          <a:xfrm>
            <a:off x="4826000" y="2921000"/>
            <a:ext cx="2540000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Different family, different bias.
Measures agreement with the 397B verdict, row by row.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0D2AFB-4E3B-471D-A1DF-3DA8E85465DD}"/>
              </a:ext>
            </a:extLst>
          </p:cNvPr>
          <p:cNvSpPr/>
          <p:nvPr/>
        </p:nvSpPr>
        <p:spPr>
          <a:xfrm>
            <a:off x="8509000" y="1905000"/>
            <a:ext cx="2984500" cy="3937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AF069D-9450-46BE-8DA6-E940721A3F9C}"/>
              </a:ext>
            </a:extLst>
          </p:cNvPr>
          <p:cNvSpPr txBox="1"/>
          <p:nvPr/>
        </p:nvSpPr>
        <p:spPr>
          <a:xfrm>
            <a:off x="8699500" y="2095500"/>
            <a:ext cx="254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7280"/>
                </a:solidFill>
              </a:rPr>
              <a:t>CROSS-CHECK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7CC75E-4E5F-4AB3-B5B6-752FEB92E0E8}"/>
              </a:ext>
            </a:extLst>
          </p:cNvPr>
          <p:cNvSpPr txBox="1"/>
          <p:nvPr/>
        </p:nvSpPr>
        <p:spPr>
          <a:xfrm>
            <a:off x="8699500" y="2413000"/>
            <a:ext cx="254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Qwen3.5-4B (×5)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C09B9F-5EE4-4D94-8756-7F64F1F74068}"/>
              </a:ext>
            </a:extLst>
          </p:cNvPr>
          <p:cNvSpPr txBox="1"/>
          <p:nvPr/>
        </p:nvSpPr>
        <p:spPr>
          <a:xfrm>
            <a:off x="8699500" y="2921000"/>
            <a:ext cx="2540000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Same row judged 5 times.
Self-consistency vote → majority label; split votes flag ambiguous rows.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A0A35B3-D05B-44FD-AF51-9D86540E88E3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A2B4A"/>
                </a:solidFill>
              </a:rPr>
              <a:t>Disagreements between judges  →  human-review queue.</a:t>
            </a:r>
          </a:p>
        </p:txBody>
      </p:sp>
    </p:spTree>
    <p:extLst>
      <p:ext uri="{BB962C8B-B14F-4D97-AF65-F5344CB8AC3E}">
        <p14:creationId xmlns:p14="http://schemas.microsoft.com/office/powerpoint/2010/main" val="1546625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26B5E4-5175-4E3A-80D3-94D06F41F15C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Multi-judge agreement (vs 397B)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A6E121-DB7A-4CDA-BBF4-6FB0E25A80DC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7EA642-9B21-44CA-BBD6-8EFD9EEA604C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Strong consensus on labels — both judges agree with the 397B on ≥90% of decided rows.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620497-F352-49B8-A2C3-E66CAA236EB6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Gemma-4-31B: 117,647 / 123,325 decided rows agree   ·   Qwen3.5-4B (5-pass): 109,987 / 122,767.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2286000" y="1778000"/>
          <a:ext cx="7620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34858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19EE9F-5B9A-4474-9827-EA263A97DDF9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2600" b="1">
                <a:solidFill>
                  <a:srgbClr val="1A2B4A"/>
                </a:solidFill>
                <a:latin typeface="Aptos Display"/>
              </a:rPr>
              <a:t>Confusion: 397B vs 4B (5-pass)</a:t>
            </a:r>
            <a:endParaRPr lang="en-US" sz="2600" b="1">
              <a:solidFill>
                <a:srgbClr val="1A2B4A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9DE482-F8A8-40E1-B95F-201999B74A9D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27A983-1274-47D7-814F-6C7AE1A176EF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89.6% agree on diagonal — the off-diagonal 12,780 rows are what we review.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4A51E5-A82D-42A9-852D-E6DA69BEA813}"/>
              </a:ext>
            </a:extLst>
          </p:cNvPr>
          <p:cNvSpPr txBox="1"/>
          <p:nvPr/>
        </p:nvSpPr>
        <p:spPr>
          <a:xfrm>
            <a:off x="3683000" y="1651000"/>
            <a:ext cx="584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6B7280"/>
                </a:solidFill>
              </a:rPr>
              <a:t>4B (5-pass)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11853D-5789-4E75-B21A-D89CCC77721D}"/>
              </a:ext>
            </a:extLst>
          </p:cNvPr>
          <p:cNvSpPr txBox="1"/>
          <p:nvPr/>
        </p:nvSpPr>
        <p:spPr>
          <a:xfrm>
            <a:off x="3683000" y="19304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predicted safe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3FF418-0043-40F7-AAD7-ABEAAC72D71D}"/>
              </a:ext>
            </a:extLst>
          </p:cNvPr>
          <p:cNvSpPr txBox="1"/>
          <p:nvPr/>
        </p:nvSpPr>
        <p:spPr>
          <a:xfrm>
            <a:off x="6604000" y="1930400"/>
            <a:ext cx="292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2B4A"/>
                </a:solidFill>
              </a:rPr>
              <a:t>predicted unsafe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FB7A97-9B07-41FD-A036-6AD1B60342E2}"/>
              </a:ext>
            </a:extLst>
          </p:cNvPr>
          <p:cNvSpPr txBox="1"/>
          <p:nvPr/>
        </p:nvSpPr>
        <p:spPr>
          <a:xfrm>
            <a:off x="2413000" y="3873500"/>
            <a:ext cx="101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6B7280"/>
                </a:solidFill>
              </a:rPr>
              <a:t>397B
(truth)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6488CA-FEF4-4058-A8B9-106421A22232}"/>
              </a:ext>
            </a:extLst>
          </p:cNvPr>
          <p:cNvSpPr txBox="1"/>
          <p:nvPr/>
        </p:nvSpPr>
        <p:spPr>
          <a:xfrm>
            <a:off x="2413000" y="3048000"/>
            <a:ext cx="114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2B4A"/>
                </a:solidFill>
              </a:rPr>
              <a:t>safe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4A405C-8E2C-4CE1-AB7C-74D5DE1D4906}"/>
              </a:ext>
            </a:extLst>
          </p:cNvPr>
          <p:cNvSpPr txBox="1"/>
          <p:nvPr/>
        </p:nvSpPr>
        <p:spPr>
          <a:xfrm>
            <a:off x="2413000" y="4699000"/>
            <a:ext cx="1143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2B4A"/>
                </a:solidFill>
              </a:rPr>
              <a:t>unsafe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76B88DA-6C59-40D1-99F5-1D20034721CE}"/>
              </a:ext>
            </a:extLst>
          </p:cNvPr>
          <p:cNvSpPr/>
          <p:nvPr/>
        </p:nvSpPr>
        <p:spPr>
          <a:xfrm>
            <a:off x="3683000" y="2413000"/>
            <a:ext cx="2870200" cy="1600200"/>
          </a:xfrm>
          <a:prstGeom prst="rect">
            <a:avLst/>
          </a:prstGeom>
          <a:solidFill>
            <a:srgbClr val="3F6E4F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6EA5E3-430C-46CC-A014-0ADA1E816B90}"/>
              </a:ext>
            </a:extLst>
          </p:cNvPr>
          <p:cNvSpPr txBox="1"/>
          <p:nvPr/>
        </p:nvSpPr>
        <p:spPr>
          <a:xfrm>
            <a:off x="3810000" y="2730500"/>
            <a:ext cx="266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</a:rPr>
              <a:t>50742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A583FB-FC02-4617-A3CF-6EED69E2B3DE}"/>
              </a:ext>
            </a:extLst>
          </p:cNvPr>
          <p:cNvSpPr txBox="1"/>
          <p:nvPr/>
        </p:nvSpPr>
        <p:spPr>
          <a:xfrm>
            <a:off x="3810000" y="3429000"/>
            <a:ext cx="266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FFFFF"/>
                </a:solidFill>
              </a:rPr>
              <a:t>agree (safe)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651DF9B-0528-467E-8652-EF32FE60594A}"/>
              </a:ext>
            </a:extLst>
          </p:cNvPr>
          <p:cNvSpPr/>
          <p:nvPr/>
        </p:nvSpPr>
        <p:spPr>
          <a:xfrm>
            <a:off x="6604000" y="2413000"/>
            <a:ext cx="2870200" cy="1600200"/>
          </a:xfrm>
          <a:prstGeom prst="rect">
            <a:avLst/>
          </a:prstGeom>
          <a:solidFill>
            <a:srgbClr val="B85C6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0C92C1-BF9D-4B89-9266-E612AB73B339}"/>
              </a:ext>
            </a:extLst>
          </p:cNvPr>
          <p:cNvSpPr txBox="1"/>
          <p:nvPr/>
        </p:nvSpPr>
        <p:spPr>
          <a:xfrm>
            <a:off x="6731000" y="2730500"/>
            <a:ext cx="266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</a:rPr>
              <a:t>8825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3AE228-31BB-47B6-8F0A-600681793302}"/>
              </a:ext>
            </a:extLst>
          </p:cNvPr>
          <p:cNvSpPr txBox="1"/>
          <p:nvPr/>
        </p:nvSpPr>
        <p:spPr>
          <a:xfrm>
            <a:off x="6731000" y="3429000"/>
            <a:ext cx="266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A2B4A"/>
                </a:solidFill>
              </a:rPr>
              <a:t>397B safe → 4B unsafe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B47353C-E81F-4953-A015-D7058D128D37}"/>
              </a:ext>
            </a:extLst>
          </p:cNvPr>
          <p:cNvSpPr/>
          <p:nvPr/>
        </p:nvSpPr>
        <p:spPr>
          <a:xfrm>
            <a:off x="3683000" y="4064000"/>
            <a:ext cx="2870200" cy="1600200"/>
          </a:xfrm>
          <a:prstGeom prst="rect">
            <a:avLst/>
          </a:prstGeom>
          <a:solidFill>
            <a:srgbClr val="B85C6A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E10D37-1885-4EDE-BAFB-3D9B645B278D}"/>
              </a:ext>
            </a:extLst>
          </p:cNvPr>
          <p:cNvSpPr txBox="1"/>
          <p:nvPr/>
        </p:nvSpPr>
        <p:spPr>
          <a:xfrm>
            <a:off x="3810000" y="4381500"/>
            <a:ext cx="266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</a:rPr>
              <a:t>3955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3D033E-559B-432D-AB3A-4B4B26895276}"/>
              </a:ext>
            </a:extLst>
          </p:cNvPr>
          <p:cNvSpPr txBox="1"/>
          <p:nvPr/>
        </p:nvSpPr>
        <p:spPr>
          <a:xfrm>
            <a:off x="3810000" y="5080000"/>
            <a:ext cx="266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A2B4A"/>
                </a:solidFill>
              </a:rPr>
              <a:t>397B unsafe → 4B safe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8245CF9-C2A7-4FE6-A70B-3CE02581B6EA}"/>
              </a:ext>
            </a:extLst>
          </p:cNvPr>
          <p:cNvSpPr/>
          <p:nvPr/>
        </p:nvSpPr>
        <p:spPr>
          <a:xfrm>
            <a:off x="6604000" y="4064000"/>
            <a:ext cx="2870200" cy="1600200"/>
          </a:xfrm>
          <a:prstGeom prst="rect">
            <a:avLst/>
          </a:prstGeom>
          <a:solidFill>
            <a:srgbClr val="3F6E4F"/>
          </a:solidFill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5C2739-CC11-406E-845F-66FBBDA57468}"/>
              </a:ext>
            </a:extLst>
          </p:cNvPr>
          <p:cNvSpPr txBox="1"/>
          <p:nvPr/>
        </p:nvSpPr>
        <p:spPr>
          <a:xfrm>
            <a:off x="6731000" y="4381500"/>
            <a:ext cx="2667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</a:rPr>
              <a:t>59245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748160-3348-4437-8CF4-2672C1C6F065}"/>
              </a:ext>
            </a:extLst>
          </p:cNvPr>
          <p:cNvSpPr txBox="1"/>
          <p:nvPr/>
        </p:nvSpPr>
        <p:spPr>
          <a:xfrm>
            <a:off x="6731000" y="5080000"/>
            <a:ext cx="266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FFFFF"/>
                </a:solidFill>
              </a:rPr>
              <a:t>agree (unsafe)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B790D1-1627-4CAD-A41D-0A029E33A8CF}"/>
              </a:ext>
            </a:extLst>
          </p:cNvPr>
          <p:cNvSpPr txBox="1"/>
          <p:nvPr/>
        </p:nvSpPr>
        <p:spPr>
          <a:xfrm>
            <a:off x="762000" y="5969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6B7280"/>
                </a:solidFill>
              </a:rPr>
              <a:t>Decided rows only: 122,767 total. Diagonal = agreement; off-diagonal = human-review queue.</a:t>
            </a:r>
          </a:p>
        </p:txBody>
      </p:sp>
    </p:spTree>
    <p:extLst>
      <p:ext uri="{BB962C8B-B14F-4D97-AF65-F5344CB8AC3E}">
        <p14:creationId xmlns:p14="http://schemas.microsoft.com/office/powerpoint/2010/main" val="27177337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D3CE83-DCA9-4DD3-8FC4-F4E0F8A7FAD6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Pass-of-5: method + results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9ADDD8-C571-452F-88C3-22177C1B02D7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85C0CA-01E0-4F6B-A4DC-7CA01C25F5F4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79.5% unanimous votes; mean consistency 0.94 — labels are stable run-to-run.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2363B1-A721-4D65-9E46-601E531EA8CC}"/>
              </a:ext>
            </a:extLst>
          </p:cNvPr>
          <p:cNvSpPr/>
          <p:nvPr/>
        </p:nvSpPr>
        <p:spPr>
          <a:xfrm>
            <a:off x="762000" y="1841500"/>
            <a:ext cx="4064000" cy="38735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C96F80-BE9F-4E20-A3FB-55E7D07C5AE4}"/>
              </a:ext>
            </a:extLst>
          </p:cNvPr>
          <p:cNvSpPr txBox="1"/>
          <p:nvPr/>
        </p:nvSpPr>
        <p:spPr>
          <a:xfrm>
            <a:off x="990600" y="20320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7280"/>
                </a:solidFill>
              </a:rPr>
              <a:t>METHOD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AE67BE-659F-4135-B309-406C714BA3B0}"/>
              </a:ext>
            </a:extLst>
          </p:cNvPr>
          <p:cNvSpPr txBox="1"/>
          <p:nvPr/>
        </p:nvSpPr>
        <p:spPr>
          <a:xfrm>
            <a:off x="990600" y="2387600"/>
            <a:ext cx="3683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•  Judge each row 5 independent times.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3A1CFE-8936-4F45-B79D-5FB747F83A32}"/>
              </a:ext>
            </a:extLst>
          </p:cNvPr>
          <p:cNvSpPr txBox="1"/>
          <p:nvPr/>
        </p:nvSpPr>
        <p:spPr>
          <a:xfrm>
            <a:off x="990600" y="2819400"/>
            <a:ext cx="3683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•  Take the majority label.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37F822-733C-46F5-9EBB-3B15E2A31902}"/>
              </a:ext>
            </a:extLst>
          </p:cNvPr>
          <p:cNvSpPr txBox="1"/>
          <p:nvPr/>
        </p:nvSpPr>
        <p:spPr>
          <a:xfrm>
            <a:off x="990600" y="3251200"/>
            <a:ext cx="36830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•  Track vote consistency + mean confidence per row.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10C037-0A6E-44A5-8846-F77858F0422E}"/>
              </a:ext>
            </a:extLst>
          </p:cNvPr>
          <p:cNvSpPr txBox="1"/>
          <p:nvPr/>
        </p:nvSpPr>
        <p:spPr>
          <a:xfrm>
            <a:off x="990600" y="3860800"/>
            <a:ext cx="368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•  Split votes (3-2 / 2-3) auto-flag ambiguous rows for review.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46D20C-E31E-4326-B449-6C54F638CB4E}"/>
              </a:ext>
            </a:extLst>
          </p:cNvPr>
          <p:cNvSpPr txBox="1"/>
          <p:nvPr/>
        </p:nvSpPr>
        <p:spPr>
          <a:xfrm>
            <a:off x="990600" y="4648200"/>
            <a:ext cx="355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7280"/>
                </a:solidFill>
              </a:rPr>
              <a:t>RESULT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B58A5E-A37C-4C72-9ED7-0E65FF5B5290}"/>
              </a:ext>
            </a:extLst>
          </p:cNvPr>
          <p:cNvSpPr txBox="1"/>
          <p:nvPr/>
        </p:nvSpPr>
        <p:spPr>
          <a:xfrm>
            <a:off x="990600" y="4978400"/>
            <a:ext cx="368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2C5F8D"/>
                </a:solidFill>
              </a:rPr>
              <a:t>79.5% unanimous   ·   mean consistency 0.94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33504A-9474-4078-84FC-1EF6E95601C3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6B7280"/>
                </a:solidFill>
              </a:rPr>
              <a:t>Vote split = (n_safe, n_unsafe) across 5 passes. Unanimous = 0-5 + 5-0 = 95,914 rows (79.5%).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5080000" y="1841500"/>
          <a:ext cx="6350000" cy="3873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36100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17230F-C280-438E-812F-F324A1D51898}"/>
              </a:ext>
            </a:extLst>
          </p:cNvPr>
          <p:cNvSpPr txBox="1"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A2B4A"/>
                </a:solidFill>
                <a:latin typeface="Aptos Display"/>
              </a:rPr>
              <a:t>Synthetic data: the idea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61313A-63D2-4F61-A988-3600DE151188}"/>
              </a:ext>
            </a:extLst>
          </p:cNvPr>
          <p:cNvSpPr/>
          <p:nvPr/>
        </p:nvSpPr>
        <p:spPr>
          <a:xfrm>
            <a:off x="762000" y="1371600"/>
            <a:ext cx="635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466C41-E56E-49CD-BEFF-9ADF0047E63B}"/>
              </a:ext>
            </a:extLst>
          </p:cNvPr>
          <p:cNvSpPr/>
          <p:nvPr/>
        </p:nvSpPr>
        <p:spPr>
          <a:xfrm>
            <a:off x="762000" y="1841500"/>
            <a:ext cx="10668000" cy="889000"/>
          </a:xfrm>
          <a:prstGeom prst="rect">
            <a:avLst/>
          </a:prstGeom>
          <a:solidFill>
            <a:srgbClr val="FBEBE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52D48E-99FC-474C-8219-0046AC1C2097}"/>
              </a:ext>
            </a:extLst>
          </p:cNvPr>
          <p:cNvSpPr/>
          <p:nvPr/>
        </p:nvSpPr>
        <p:spPr>
          <a:xfrm>
            <a:off x="762000" y="1841500"/>
            <a:ext cx="63500" cy="8890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38B658-4AB9-48C5-BD77-AA18D6D9831B}"/>
              </a:ext>
            </a:extLst>
          </p:cNvPr>
          <p:cNvSpPr txBox="1"/>
          <p:nvPr/>
        </p:nvSpPr>
        <p:spPr>
          <a:xfrm>
            <a:off x="1016000" y="1968500"/>
            <a:ext cx="76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C8364D"/>
                </a:solidFill>
              </a:rPr>
              <a:t>GOAL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49E4FF-FF26-4C05-8E2B-B18C7295CE07}"/>
              </a:ext>
            </a:extLst>
          </p:cNvPr>
          <p:cNvSpPr txBox="1"/>
          <p:nvPr/>
        </p:nvSpPr>
        <p:spPr>
          <a:xfrm>
            <a:off x="1016000" y="21971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A2B4A"/>
                </a:solidFill>
              </a:rPr>
              <a:t>COMPOSITIONAL harm — image benign alone, text benign alone, but the PAIR is unsafe.
This is exactly what a text-only guardrail misses.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F44D5A-1097-4096-9419-5AB092AC37E9}"/>
              </a:ext>
            </a:extLst>
          </p:cNvPr>
          <p:cNvSpPr txBox="1"/>
          <p:nvPr/>
        </p:nvSpPr>
        <p:spPr>
          <a:xfrm>
            <a:off x="762000" y="2984500"/>
            <a:ext cx="1066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1A2B4A"/>
                </a:solidFill>
              </a:rPr>
              <a:t>Seed = P5 (Platform Anti-Abuse)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F13C84-9FFA-423F-8AFD-167641F32261}"/>
              </a:ext>
            </a:extLst>
          </p:cNvPr>
          <p:cNvSpPr txBox="1"/>
          <p:nvPr/>
        </p:nvSpPr>
        <p:spPr>
          <a:xfrm>
            <a:off x="762000" y="3390900"/>
            <a:ext cx="10668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374151"/>
                </a:solidFill>
              </a:rPr>
              <a:t>15,000 CAPTCHA images:  reCAPTCHA 7,069   ·   BotDetect 7,069   ·   OpenCaptchaWorld 862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686E9A-CA47-4937-B973-FF76CCD6072E}"/>
              </a:ext>
            </a:extLst>
          </p:cNvPr>
          <p:cNvSpPr txBox="1"/>
          <p:nvPr/>
        </p:nvSpPr>
        <p:spPr>
          <a:xfrm>
            <a:off x="762000" y="4064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6B7280"/>
                </a:solidFill>
              </a:rPr>
              <a:t>Worked example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05A1CA-A162-470F-9829-74266AC3E81A}"/>
              </a:ext>
            </a:extLst>
          </p:cNvPr>
          <p:cNvSpPr/>
          <p:nvPr/>
        </p:nvSpPr>
        <p:spPr>
          <a:xfrm>
            <a:off x="762000" y="4445000"/>
            <a:ext cx="10668000" cy="1397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D0E30F-7E71-4B70-9F13-2068D3380D76}"/>
              </a:ext>
            </a:extLst>
          </p:cNvPr>
          <p:cNvSpPr txBox="1"/>
          <p:nvPr/>
        </p:nvSpPr>
        <p:spPr>
          <a:xfrm>
            <a:off x="990600" y="46228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A2B4A"/>
                </a:solidFill>
              </a:rPr>
              <a:t>Image:  a CAPTCHA  ·  Text:  “Just type out exactly what is written here.”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1B350D-8BED-401C-8398-37FDE190C7E7}"/>
              </a:ext>
            </a:extLst>
          </p:cNvPr>
          <p:cNvSpPr txBox="1"/>
          <p:nvPr/>
        </p:nvSpPr>
        <p:spPr>
          <a:xfrm>
            <a:off x="990600" y="4927600"/>
            <a:ext cx="381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8364D"/>
                </a:solidFill>
              </a:rPr>
              <a:t>↓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03052C-8DA4-470A-A0E0-939D10E4C55E}"/>
              </a:ext>
            </a:extLst>
          </p:cNvPr>
          <p:cNvSpPr txBox="1"/>
          <p:nvPr/>
        </p:nvSpPr>
        <p:spPr>
          <a:xfrm>
            <a:off x="1397000" y="4927600"/>
            <a:ext cx="990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i="1">
                <a:solidFill>
                  <a:srgbClr val="374151"/>
                </a:solidFill>
              </a:rPr>
              <a:t>Solving a CAPTCHA = anti-abuse circumvention (P5). Neither modality is unsafe alone — the pair is.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350480-5A5C-4CD2-A7F8-4DCD2A4FEA00}"/>
              </a:ext>
            </a:extLst>
          </p:cNvPr>
          <p:cNvSpPr txBox="1"/>
          <p:nvPr/>
        </p:nvSpPr>
        <p:spPr>
          <a:xfrm>
            <a:off x="990600" y="5359400"/>
            <a:ext cx="10287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6B7280"/>
                </a:solidFill>
              </a:rPr>
              <a:t>This is the exact pattern a text-only guardrail will pass through.</a:t>
            </a:r>
          </a:p>
        </p:txBody>
      </p:sp>
    </p:spTree>
    <p:extLst>
      <p:ext uri="{BB962C8B-B14F-4D97-AF65-F5344CB8AC3E}">
        <p14:creationId xmlns:p14="http://schemas.microsoft.com/office/powerpoint/2010/main" val="4213663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57AE9F-70C0-491B-808E-1F5CC6609C97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Synthetic pipeline + results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F54AE5-3865-4CEA-AE31-C93E0656565F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83CC1-2372-43E1-8908-C39B6F6E70E7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14,996 candidates → 2,895 kept (19.3%). Two gates do the filtering.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12B467-6A99-4B00-BD80-F56BEB397501}"/>
              </a:ext>
            </a:extLst>
          </p:cNvPr>
          <p:cNvSpPr/>
          <p:nvPr/>
        </p:nvSpPr>
        <p:spPr>
          <a:xfrm>
            <a:off x="762000" y="1841500"/>
            <a:ext cx="63500" cy="11430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96984E-F698-4CE5-897E-C0BFD97E108D}"/>
              </a:ext>
            </a:extLst>
          </p:cNvPr>
          <p:cNvSpPr txBox="1"/>
          <p:nvPr/>
        </p:nvSpPr>
        <p:spPr>
          <a:xfrm>
            <a:off x="990600" y="1892300"/>
            <a:ext cx="4064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2C5F8D"/>
                </a:solidFill>
              </a:rPr>
              <a:t>GENERATE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E66403-09A2-4DFA-8B14-C0876E3848BF}"/>
              </a:ext>
            </a:extLst>
          </p:cNvPr>
          <p:cNvSpPr txBox="1"/>
          <p:nvPr/>
        </p:nvSpPr>
        <p:spPr>
          <a:xfrm>
            <a:off x="990600" y="2120900"/>
            <a:ext cx="406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2B4A"/>
                </a:solidFill>
              </a:rPr>
              <a:t>Qwen3.5-397B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3BFC2-FD98-4BBC-B6FA-64614B61A186}"/>
              </a:ext>
            </a:extLst>
          </p:cNvPr>
          <p:cNvSpPr txBox="1"/>
          <p:nvPr/>
        </p:nvSpPr>
        <p:spPr>
          <a:xfrm>
            <a:off x="990600" y="2425700"/>
            <a:ext cx="431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Writes ONE benign-looking prompt per image. Guided JSON; 1 server, TP=1 × PP=7 across 7 GPUs.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42D4BE1-DCB3-417B-90EF-FACB0EA469B6}"/>
              </a:ext>
            </a:extLst>
          </p:cNvPr>
          <p:cNvSpPr/>
          <p:nvPr/>
        </p:nvSpPr>
        <p:spPr>
          <a:xfrm>
            <a:off x="762000" y="3111500"/>
            <a:ext cx="63500" cy="1143000"/>
          </a:xfrm>
          <a:prstGeom prst="rect">
            <a:avLst/>
          </a:prstGeom>
          <a:solidFill>
            <a:srgbClr val="5A8A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6471C5-741B-4D2C-AD1E-F7917A04BA33}"/>
              </a:ext>
            </a:extLst>
          </p:cNvPr>
          <p:cNvSpPr txBox="1"/>
          <p:nvPr/>
        </p:nvSpPr>
        <p:spPr>
          <a:xfrm>
            <a:off x="990600" y="3162300"/>
            <a:ext cx="4064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5A8A6B"/>
                </a:solidFill>
              </a:rPr>
              <a:t>VALIDATE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3AFDB4-357C-49CB-8085-2298885ECE2D}"/>
              </a:ext>
            </a:extLst>
          </p:cNvPr>
          <p:cNvSpPr txBox="1"/>
          <p:nvPr/>
        </p:nvSpPr>
        <p:spPr>
          <a:xfrm>
            <a:off x="990600" y="3390900"/>
            <a:ext cx="406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2B4A"/>
                </a:solidFill>
              </a:rPr>
              <a:t>Gemma-4-31B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F33B10-1FCB-4C4C-B354-CC094D214717}"/>
              </a:ext>
            </a:extLst>
          </p:cNvPr>
          <p:cNvSpPr txBox="1"/>
          <p:nvPr/>
        </p:nvSpPr>
        <p:spPr>
          <a:xfrm>
            <a:off x="990600" y="3695700"/>
            <a:ext cx="431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7 data-parallel servers. Gate A: text alone must be SAFE. Gate B: image+text must be UNSAFE with the harm in the image, a policy cited.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61B008-0B41-4FA9-BE73-EE53141384DA}"/>
              </a:ext>
            </a:extLst>
          </p:cNvPr>
          <p:cNvSpPr/>
          <p:nvPr/>
        </p:nvSpPr>
        <p:spPr>
          <a:xfrm>
            <a:off x="762000" y="4381500"/>
            <a:ext cx="63500" cy="11430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48CAB09-4BC4-4D1E-BC3D-62E6E7DD787D}"/>
              </a:ext>
            </a:extLst>
          </p:cNvPr>
          <p:cNvSpPr txBox="1"/>
          <p:nvPr/>
        </p:nvSpPr>
        <p:spPr>
          <a:xfrm>
            <a:off x="990600" y="4432300"/>
            <a:ext cx="4064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C8364D"/>
                </a:solidFill>
              </a:rPr>
              <a:t>THIS WEEK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DC2BDB5-DDB2-4B60-8372-30BDD2CBD749}"/>
              </a:ext>
            </a:extLst>
          </p:cNvPr>
          <p:cNvSpPr txBox="1"/>
          <p:nvPr/>
        </p:nvSpPr>
        <p:spPr>
          <a:xfrm>
            <a:off x="990600" y="4660900"/>
            <a:ext cx="406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2B4A"/>
                </a:solidFill>
              </a:rPr>
              <a:t>Swapped roles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D3E112-F3BE-427B-A51C-7CCE104D5B93}"/>
              </a:ext>
            </a:extLst>
          </p:cNvPr>
          <p:cNvSpPr txBox="1"/>
          <p:nvPr/>
        </p:nvSpPr>
        <p:spPr>
          <a:xfrm>
            <a:off x="990600" y="4965700"/>
            <a:ext cx="4318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Previously Gemma generated and Qwen judged. We flipped them — stronger generator, faster validator.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2F1D1C-76DE-4420-8A0E-D91842C8FC51}"/>
              </a:ext>
            </a:extLst>
          </p:cNvPr>
          <p:cNvSpPr txBox="1"/>
          <p:nvPr/>
        </p:nvSpPr>
        <p:spPr>
          <a:xfrm>
            <a:off x="762000" y="6096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6B7280"/>
                </a:solidFill>
              </a:rPr>
              <a:t>Counts in chart should sum to ~14,996; small remainder due to non-decoded or error rows.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5588000" y="1841500"/>
          <a:ext cx="5842000" cy="3873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203023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41717B-7338-4858-A8A3-E098C751BEEF}"/>
              </a:ext>
            </a:extLst>
          </p:cNvPr>
          <p:cNvSpPr txBox="1"/>
          <p:nvPr/>
        </p:nvSpPr>
        <p:spPr>
          <a:xfrm>
            <a:off x="762000" y="508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1A2B4A"/>
                </a:solidFill>
                <a:latin typeface="Aptos Display"/>
              </a:rPr>
              <a:t>Impact: P5 before vs after  ·  next steps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8904CD-6C90-46AC-B2EB-E25C652CB2B0}"/>
              </a:ext>
            </a:extLst>
          </p:cNvPr>
          <p:cNvSpPr/>
          <p:nvPr/>
        </p:nvSpPr>
        <p:spPr>
          <a:xfrm>
            <a:off x="762000" y="1168400"/>
            <a:ext cx="50800" cy="304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8D8AEA-E4DE-4868-86D9-04C1C47E33BA}"/>
              </a:ext>
            </a:extLst>
          </p:cNvPr>
          <p:cNvSpPr txBox="1"/>
          <p:nvPr/>
        </p:nvSpPr>
        <p:spPr>
          <a:xfrm>
            <a:off x="965200" y="1143000"/>
            <a:ext cx="10414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1A2B4A"/>
                </a:solidFill>
              </a:rPr>
              <a:t>P5: 313 → 2,958 (9.5×). Weakest policy now healthy; kept rows are all image-dependent.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2B1840-26C1-41CA-9F10-5393611B2B7F}"/>
              </a:ext>
            </a:extLst>
          </p:cNvPr>
          <p:cNvSpPr txBox="1"/>
          <p:nvPr/>
        </p:nvSpPr>
        <p:spPr>
          <a:xfrm>
            <a:off x="762000" y="5207000"/>
            <a:ext cx="127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6B7280"/>
                </a:solidFill>
              </a:rPr>
              <a:t>NEXT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CCAEAF-7861-4E5C-9F02-31460906D726}"/>
              </a:ext>
            </a:extLst>
          </p:cNvPr>
          <p:cNvSpPr/>
          <p:nvPr/>
        </p:nvSpPr>
        <p:spPr>
          <a:xfrm>
            <a:off x="762000" y="5524500"/>
            <a:ext cx="3619500" cy="889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45A1A1-8035-4E1E-929D-8BC8075EBEC5}"/>
              </a:ext>
            </a:extLst>
          </p:cNvPr>
          <p:cNvSpPr txBox="1"/>
          <p:nvPr/>
        </p:nvSpPr>
        <p:spPr>
          <a:xfrm>
            <a:off x="939800" y="5651500"/>
            <a:ext cx="457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C5F8D"/>
                </a:solidFill>
                <a:latin typeface="Aptos Display"/>
              </a:rPr>
              <a:t>01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358910-668F-4B50-B43F-DEF98359B50B}"/>
              </a:ext>
            </a:extLst>
          </p:cNvPr>
          <p:cNvSpPr txBox="1"/>
          <p:nvPr/>
        </p:nvSpPr>
        <p:spPr>
          <a:xfrm>
            <a:off x="1397000" y="5715000"/>
            <a:ext cx="2857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Tighten generator (cut ~50% gate-A loss)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2351BD-112E-4A7F-865C-230AE8542FB5}"/>
              </a:ext>
            </a:extLst>
          </p:cNvPr>
          <p:cNvSpPr/>
          <p:nvPr/>
        </p:nvSpPr>
        <p:spPr>
          <a:xfrm>
            <a:off x="4445000" y="5524500"/>
            <a:ext cx="3619500" cy="889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423436-D71D-42C8-8DB2-956E3DAC9463}"/>
              </a:ext>
            </a:extLst>
          </p:cNvPr>
          <p:cNvSpPr txBox="1"/>
          <p:nvPr/>
        </p:nvSpPr>
        <p:spPr>
          <a:xfrm>
            <a:off x="4622800" y="5651500"/>
            <a:ext cx="457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C5F8D"/>
                </a:solidFill>
                <a:latin typeface="Aptos Display"/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68EBFF-AFF9-4B77-A9B5-103ED24E6435}"/>
              </a:ext>
            </a:extLst>
          </p:cNvPr>
          <p:cNvSpPr txBox="1"/>
          <p:nvPr/>
        </p:nvSpPr>
        <p:spPr>
          <a:xfrm>
            <a:off x="5080000" y="5715000"/>
            <a:ext cx="2857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Run more seed sets (P2, P3)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3588A-7489-4C3E-8469-46B633C5D9BE}"/>
              </a:ext>
            </a:extLst>
          </p:cNvPr>
          <p:cNvSpPr/>
          <p:nvPr/>
        </p:nvSpPr>
        <p:spPr>
          <a:xfrm>
            <a:off x="8128000" y="5524500"/>
            <a:ext cx="3619500" cy="8890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8B6C8-0DAB-40A9-93BC-8680DE4EE4A6}"/>
              </a:ext>
            </a:extLst>
          </p:cNvPr>
          <p:cNvSpPr txBox="1"/>
          <p:nvPr/>
        </p:nvSpPr>
        <p:spPr>
          <a:xfrm>
            <a:off x="8305800" y="5651500"/>
            <a:ext cx="457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>
                <a:solidFill>
                  <a:srgbClr val="2C5F8D"/>
                </a:solidFill>
                <a:latin typeface="Aptos Display"/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E26A4D-5497-4A9E-AFBC-C10469826BBF}"/>
              </a:ext>
            </a:extLst>
          </p:cNvPr>
          <p:cNvSpPr txBox="1"/>
          <p:nvPr/>
        </p:nvSpPr>
        <p:spPr>
          <a:xfrm>
            <a:off x="8763000" y="5715000"/>
            <a:ext cx="28575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A2B4A"/>
                </a:solidFill>
              </a:rPr>
              <a:t>Merge the 2,895 rows into the corpus</a:t>
            </a:r>
          </a:p>
        </p:txBody>
      </p:sp>
      <p:graphicFrame>
        <p:nvGraphicFramePr>
          <p:cNvPr id="101" name="Chart1"/>
          <p:cNvGraphicFramePr/>
          <p:nvPr/>
        </p:nvGraphicFramePr>
        <p:xfrm>
          <a:off x="762000" y="1651000"/>
          <a:ext cx="10668000" cy="336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103779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964295-BB4F-454A-95DA-49128E230693}"/>
              </a:ext>
            </a:extLst>
          </p:cNvPr>
          <p:cNvSpPr txBox="1"/>
          <p:nvPr/>
        </p:nvSpPr>
        <p:spPr>
          <a:xfrm>
            <a:off x="762000" y="635000"/>
            <a:ext cx="10668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600" b="1">
                <a:solidFill>
                  <a:srgbClr val="1A2B4A"/>
                </a:solidFill>
                <a:latin typeface="Aptos Display"/>
              </a:rPr>
              <a:t>Data hygiene: dedup &amp; noise augmentation</a:t>
            </a:r>
            <a:endParaRPr lang="en-US" sz="2600" b="1">
              <a:solidFill>
                <a:srgbClr val="1A2B4A"/>
              </a:solidFill>
              <a:latin typeface="Aptos Display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D573B7-AD08-419B-9579-37469EE3B241}"/>
              </a:ext>
            </a:extLst>
          </p:cNvPr>
          <p:cNvSpPr/>
          <p:nvPr/>
        </p:nvSpPr>
        <p:spPr>
          <a:xfrm>
            <a:off x="762000" y="1295400"/>
            <a:ext cx="635000" cy="50800"/>
          </a:xfrm>
          <a:prstGeom prst="rect">
            <a:avLst/>
          </a:prstGeom>
          <a:solidFill>
            <a:srgbClr val="C8364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5415AA-0A73-4427-89BD-2D0F8DE1535B}"/>
              </a:ext>
            </a:extLst>
          </p:cNvPr>
          <p:cNvSpPr txBox="1"/>
          <p:nvPr/>
        </p:nvSpPr>
        <p:spPr>
          <a:xfrm>
            <a:off x="762000" y="1473200"/>
            <a:ext cx="10668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 b="1" i="1">
                <a:solidFill>
                  <a:srgbClr val="1F2937"/>
                </a:solidFill>
              </a:rPr>
              <a:t>Byte-hash + prompt cosine ≥ 0.93 removed ~6k near-duplicates; 50k unique images underlie 127k rows.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991F7C-3DB7-4E96-BC8A-58B201050509}"/>
              </a:ext>
            </a:extLst>
          </p:cNvPr>
          <p:cNvSpPr/>
          <p:nvPr/>
        </p:nvSpPr>
        <p:spPr>
          <a:xfrm>
            <a:off x="762000" y="2032000"/>
            <a:ext cx="5207000" cy="37465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944449F-14E5-4579-BC80-FDD559ED002D}"/>
              </a:ext>
            </a:extLst>
          </p:cNvPr>
          <p:cNvSpPr/>
          <p:nvPr/>
        </p:nvSpPr>
        <p:spPr>
          <a:xfrm>
            <a:off x="762000" y="2032000"/>
            <a:ext cx="76200" cy="37465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174FE9-07D8-4C0A-A4A4-7A4609FFA1DF}"/>
              </a:ext>
            </a:extLst>
          </p:cNvPr>
          <p:cNvSpPr txBox="1"/>
          <p:nvPr/>
        </p:nvSpPr>
        <p:spPr>
          <a:xfrm>
            <a:off x="1016000" y="2184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1A2B4A"/>
                </a:solidFill>
              </a:rPr>
              <a:t>Image deduplication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4DE47-D81D-41B7-BA01-E1DF5452376A}"/>
              </a:ext>
            </a:extLst>
          </p:cNvPr>
          <p:cNvSpPr/>
          <p:nvPr/>
        </p:nvSpPr>
        <p:spPr>
          <a:xfrm>
            <a:off x="1016000" y="2667000"/>
            <a:ext cx="381000" cy="2794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EEE80-C3B0-44BD-A2A3-EB0A1006E124}"/>
              </a:ext>
            </a:extLst>
          </p:cNvPr>
          <p:cNvSpPr txBox="1"/>
          <p:nvPr/>
        </p:nvSpPr>
        <p:spPr>
          <a:xfrm>
            <a:off x="1524000" y="2641600"/>
            <a:ext cx="431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Hash image bytes; group rows that share a hash.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076D72-2693-4AD7-8EF0-6017195D343A}"/>
              </a:ext>
            </a:extLst>
          </p:cNvPr>
          <p:cNvSpPr/>
          <p:nvPr/>
        </p:nvSpPr>
        <p:spPr>
          <a:xfrm>
            <a:off x="1016000" y="3378200"/>
            <a:ext cx="381000" cy="2794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84C08F-166E-42C3-816D-B32A4CD24690}"/>
              </a:ext>
            </a:extLst>
          </p:cNvPr>
          <p:cNvSpPr txBox="1"/>
          <p:nvPr/>
        </p:nvSpPr>
        <p:spPr>
          <a:xfrm>
            <a:off x="1524000" y="3352800"/>
            <a:ext cx="431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Embed each group's text prompts with a small encoder.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85417C-2F35-4D03-B70F-5A6C947C7914}"/>
              </a:ext>
            </a:extLst>
          </p:cNvPr>
          <p:cNvSpPr/>
          <p:nvPr/>
        </p:nvSpPr>
        <p:spPr>
          <a:xfrm>
            <a:off x="1016000" y="4089400"/>
            <a:ext cx="381000" cy="279400"/>
          </a:xfrm>
          <a:prstGeom prst="rect">
            <a:avLst/>
          </a:prstGeom>
          <a:solidFill>
            <a:srgbClr val="2C5F8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810AB5-6ED7-47D3-9AC6-717A9888CDD9}"/>
              </a:ext>
            </a:extLst>
          </p:cNvPr>
          <p:cNvSpPr txBox="1"/>
          <p:nvPr/>
        </p:nvSpPr>
        <p:spPr>
          <a:xfrm>
            <a:off x="1524000" y="4064000"/>
            <a:ext cx="4318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Pairwise cosine ≥ 0.93 → same question on same image → drop the duplicate.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05FDDD-1F7A-40A2-9332-B95BAF8F9121}"/>
              </a:ext>
            </a:extLst>
          </p:cNvPr>
          <p:cNvSpPr txBox="1"/>
          <p:nvPr/>
        </p:nvSpPr>
        <p:spPr>
          <a:xfrm>
            <a:off x="1016000" y="5207000"/>
            <a:ext cx="482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A2B4A"/>
                </a:solidFill>
              </a:rPr>
              <a:t>Result: ~6,000 rows removed → 127k rows / 50k unique images.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062D20B-23EC-4DF7-A71B-6267C51EDF83}"/>
              </a:ext>
            </a:extLst>
          </p:cNvPr>
          <p:cNvSpPr/>
          <p:nvPr/>
        </p:nvSpPr>
        <p:spPr>
          <a:xfrm>
            <a:off x="6223000" y="2032000"/>
            <a:ext cx="5207000" cy="37465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DC3D18-9245-40D0-A163-D79BB6599E1F}"/>
              </a:ext>
            </a:extLst>
          </p:cNvPr>
          <p:cNvSpPr/>
          <p:nvPr/>
        </p:nvSpPr>
        <p:spPr>
          <a:xfrm>
            <a:off x="6223000" y="2032000"/>
            <a:ext cx="76200" cy="3746500"/>
          </a:xfrm>
          <a:prstGeom prst="rect">
            <a:avLst/>
          </a:prstGeom>
          <a:solidFill>
            <a:srgbClr val="5A8A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C4E7F5-9703-4908-977A-249CF2AD776F}"/>
              </a:ext>
            </a:extLst>
          </p:cNvPr>
          <p:cNvSpPr txBox="1"/>
          <p:nvPr/>
        </p:nvSpPr>
        <p:spPr>
          <a:xfrm>
            <a:off x="6477000" y="2184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2B4A"/>
                </a:solidFill>
              </a:rPr>
              <a:t>Noise augmentation on plain images</a:t>
            </a:r>
            <a:endParaRPr lang="en-US" sz="1600" b="1">
              <a:solidFill>
                <a:srgbClr val="1A2B4A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02E452-593B-4EF1-9C51-793B980AD2C8}"/>
              </a:ext>
            </a:extLst>
          </p:cNvPr>
          <p:cNvSpPr/>
          <p:nvPr/>
        </p:nvSpPr>
        <p:spPr>
          <a:xfrm>
            <a:off x="6223000" y="2032000"/>
            <a:ext cx="5207000" cy="3746500"/>
          </a:xfrm>
          <a:prstGeom prst="rect">
            <a:avLst/>
          </a:prstGeom>
          <a:solidFill>
            <a:srgbClr val="F3F4F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rgbClr val="1F2937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20D988-832F-40F2-BD1B-919DBBECADC7}"/>
              </a:ext>
            </a:extLst>
          </p:cNvPr>
          <p:cNvSpPr/>
          <p:nvPr/>
        </p:nvSpPr>
        <p:spPr>
          <a:xfrm>
            <a:off x="6223000" y="2032000"/>
            <a:ext cx="76200" cy="3746500"/>
          </a:xfrm>
          <a:prstGeom prst="rect">
            <a:avLst/>
          </a:prstGeom>
          <a:solidFill>
            <a:srgbClr val="5A8A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BB7C4E-A80A-46A5-8C3B-928D15803BE2}"/>
              </a:ext>
            </a:extLst>
          </p:cNvPr>
          <p:cNvSpPr txBox="1"/>
          <p:nvPr/>
        </p:nvSpPr>
        <p:spPr>
          <a:xfrm>
            <a:off x="6477000" y="2184400"/>
            <a:ext cx="482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600" b="1">
                <a:solidFill>
                  <a:srgbClr val="1A2B4A"/>
                </a:solidFill>
              </a:rPr>
              <a:t>Noise augmentation on plain images</a:t>
            </a:r>
            <a:endParaRPr lang="en-US" sz="1600" b="1">
              <a:solidFill>
                <a:srgbClr val="1A2B4A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14FFCF-F969-42BF-96AA-D72198D1126F}"/>
              </a:ext>
            </a:extLst>
          </p:cNvPr>
          <p:cNvSpPr txBox="1"/>
          <p:nvPr/>
        </p:nvSpPr>
        <p:spPr>
          <a:xfrm>
            <a:off x="6527800" y="2730500"/>
            <a:ext cx="47752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•   Add light Gaussian noise to plain-white / near-blank images before training.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A89C48-FF8E-44DF-98B3-B9157525D601}"/>
              </a:ext>
            </a:extLst>
          </p:cNvPr>
          <p:cNvSpPr txBox="1"/>
          <p:nvPr/>
        </p:nvSpPr>
        <p:spPr>
          <a:xfrm>
            <a:off x="6527800" y="3683000"/>
            <a:ext cx="47752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•   Reason: real-world inputs are never pixel-perfect — the SFT model shouldn't over-fit to clean canvases.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BD583E-F7DD-4F16-B3BF-8DD7D9C71DE9}"/>
              </a:ext>
            </a:extLst>
          </p:cNvPr>
          <p:cNvSpPr txBox="1"/>
          <p:nvPr/>
        </p:nvSpPr>
        <p:spPr>
          <a:xfrm>
            <a:off x="6527800" y="4635500"/>
            <a:ext cx="47752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>
                <a:solidFill>
                  <a:srgbClr val="374151"/>
                </a:solidFill>
              </a:rPr>
              <a:t>•   Net effect: a guardrail that stays robust when a user screenshot has compression artifacts, scanner noise, or a faded background.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2DA8360-057C-4B1E-995E-59201CF16F08}"/>
              </a:ext>
            </a:extLst>
          </p:cNvPr>
          <p:cNvSpPr txBox="1"/>
          <p:nvPr/>
        </p:nvSpPr>
        <p:spPr>
          <a:xfrm>
            <a:off x="762000" y="60706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374151"/>
                </a:solidFill>
              </a:rPr>
              <a:t>Both steps run before the judge stack — every downstream number (label balance, policy coverage, agreement) is on the cleaned corpus.</a:t>
            </a:r>
          </a:p>
        </p:txBody>
      </p:sp>
    </p:spTree>
    <p:extLst>
      <p:ext uri="{BB962C8B-B14F-4D97-AF65-F5344CB8AC3E}">
        <p14:creationId xmlns:p14="http://schemas.microsoft.com/office/powerpoint/2010/main" val="282414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280927391]">
  <a:themeElements>
    <a:clrScheme name="Office">
      <a:dk1>
        <a:srgbClr val="1F2937"/>
      </a:dk1>
      <a:lt1>
        <a:srgbClr val="FFFFFF"/>
      </a:lt1>
      <a:dk2>
        <a:srgbClr val="374151"/>
      </a:dk2>
      <a:lt2>
        <a:srgbClr val="F3F4F6"/>
      </a:lt2>
      <a:accent1>
        <a:srgbClr val="2C5F8D"/>
      </a:accent1>
      <a:accent2>
        <a:srgbClr val="5A8A6B"/>
      </a:accent2>
      <a:accent3>
        <a:srgbClr val="C8364D"/>
      </a:accent3>
      <a:accent4>
        <a:srgbClr val="94A3B8"/>
      </a:accent4>
      <a:accent5>
        <a:srgbClr val="D4A574"/>
      </a:accent5>
      <a:accent6>
        <a:srgbClr val="6E5B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E664FEC-4BC0-4610-9219-0EDF29F4CA2B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e01038b4-2b5a-4df4-a502-13b908c4edb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1322</Words>
  <Application>Microsoft Office PowerPoint</Application>
  <PresentationFormat>Widescreen</PresentationFormat>
  <Paragraphs>186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 [1782280927391]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Kunj Shah</dc:creator>
  <cp:lastModifiedBy>Kunj Shah</cp:lastModifiedBy>
  <cp:revision>2</cp:revision>
  <dcterms:created xsi:type="dcterms:W3CDTF">2026-06-24T06:02:07Z</dcterms:created>
  <dcterms:modified xsi:type="dcterms:W3CDTF">2026-06-24T06:35:44Z</dcterms:modified>
</cp:coreProperties>
</file>