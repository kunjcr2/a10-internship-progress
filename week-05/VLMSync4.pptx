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drawings/drawing1.xml" ContentType="application/vnd.openxmlformats-officedocument.drawingml.chartshap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7" r:id="rId2"/>
    <p:sldId id="259" r:id="rId3"/>
    <p:sldId id="258" r:id="rId4"/>
    <p:sldId id="261" r:id="rId5"/>
    <p:sldId id="263" r:id="rId6"/>
    <p:sldId id="266" r:id="rId7"/>
    <p:sldId id="268" r:id="rId8"/>
    <p:sldId id="272" r:id="rId9"/>
    <p:sldId id="274" r:id="rId10"/>
    <p:sldId id="277" r:id="rId11"/>
    <p:sldId id="278" r:id="rId12"/>
    <p:sldId id="281" r:id="rId13"/>
    <p:sldId id="283" r:id="rId14"/>
    <p:sldId id="280" r:id="rId15"/>
    <p:sldId id="290" r:id="rId16"/>
    <p:sldId id="289" r:id="rId17"/>
    <p:sldId id="284" r:id="rId18"/>
    <p:sldId id="286" r:id="rId19"/>
    <p:sldId id="28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02" autoAdjust="0"/>
    <p:restoredTop sz="94731"/>
  </p:normalViewPr>
  <p:slideViewPr>
    <p:cSldViewPr snapToGrid="0">
      <p:cViewPr varScale="1">
        <p:scale>
          <a:sx n="142" d="100"/>
          <a:sy n="142" d="100"/>
        </p:scale>
        <p:origin x="1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3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Rows</c:v>
          </c:tx>
          <c:spPr>
            <a:solidFill>
              <a:srgbClr val="2C5F8D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A2B4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spavl-train</c:v>
              </c:pt>
              <c:pt idx="1">
                <c:v>jailbreakv-28k</c:v>
              </c:pt>
              <c:pt idx="2">
                <c:v>nemotron</c:v>
              </c:pt>
              <c:pt idx="3">
                <c:v>think-in-safety</c:v>
              </c:pt>
              <c:pt idx="4">
                <c:v>vlguard-train</c:v>
              </c:pt>
            </c:strLit>
          </c:cat>
          <c:val>
            <c:numLit>
              <c:formatCode>General</c:formatCode>
              <c:ptCount val="5"/>
              <c:pt idx="0">
                <c:v>91094</c:v>
              </c:pt>
              <c:pt idx="1">
                <c:v>24372</c:v>
              </c:pt>
              <c:pt idx="2">
                <c:v>4930</c:v>
              </c:pt>
              <c:pt idx="3">
                <c:v>4394</c:v>
              </c:pt>
              <c:pt idx="4">
                <c:v>2956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7E1-451B-9A16-FA45C3B2ED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200">
                <a:solidFill>
                  <a:srgbClr val="374151"/>
                </a:solidFill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Rows</c:v>
          </c:tx>
          <c:spPr>
            <a:solidFill>
              <a:srgbClr val="2C5F8D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C836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D1A-4DC4-8DD1-1EB88A74A054}"/>
              </c:ext>
            </c:extLst>
          </c:dPt>
          <c:dPt>
            <c:idx val="1"/>
            <c:invertIfNegative val="0"/>
            <c:bubble3D val="0"/>
            <c:spPr>
              <a:solidFill>
                <a:srgbClr val="5A8A6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D1A-4DC4-8DD1-1EB88A74A054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D1A-4DC4-8DD1-1EB88A74A05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2B4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unsafe</c:v>
              </c:pt>
              <c:pt idx="1">
                <c:v>safe</c:v>
              </c:pt>
              <c:pt idx="2">
                <c:v>needs_review</c:v>
              </c:pt>
            </c:strLit>
          </c:cat>
          <c:val>
            <c:numLit>
              <c:formatCode>General</c:formatCode>
              <c:ptCount val="3"/>
              <c:pt idx="0">
                <c:v>71381</c:v>
              </c:pt>
              <c:pt idx="1">
                <c:v>53412</c:v>
              </c:pt>
              <c:pt idx="2">
                <c:v>2953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7D1A-4DC4-8DD1-1EB88A74A0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400">
                <a:solidFill>
                  <a:srgbClr val="374151"/>
                </a:solidFill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2C5F8D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C836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D1A-4DC4-8DD1-1EB88A74A054}"/>
              </c:ext>
            </c:extLst>
          </c:dPt>
          <c:dPt>
            <c:idx val="1"/>
            <c:invertIfNegative val="0"/>
            <c:bubble3D val="0"/>
            <c:spPr>
              <a:solidFill>
                <a:srgbClr val="5A8A6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D1A-4DC4-8DD1-1EB88A74A054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D1A-4DC4-8DD1-1EB88A74A05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2B4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unsafe</c:v>
                </c:pt>
                <c:pt idx="1">
                  <c:v>safe</c:v>
                </c:pt>
                <c:pt idx="2">
                  <c:v>needs_review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70948</c:v>
                </c:pt>
                <c:pt idx="1">
                  <c:v>56787</c:v>
                </c:pt>
                <c:pt idx="2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7D1A-4DC4-8DD1-1EB88A74A0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400">
                <a:solidFill>
                  <a:srgbClr val="374151"/>
                </a:solidFill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2C5F8D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C836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D1A-4DC4-8DD1-1EB88A74A054}"/>
              </c:ext>
            </c:extLst>
          </c:dPt>
          <c:dPt>
            <c:idx val="1"/>
            <c:invertIfNegative val="0"/>
            <c:bubble3D val="0"/>
            <c:spPr>
              <a:solidFill>
                <a:srgbClr val="5A8A6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D1A-4DC4-8DD1-1EB88A74A054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D1A-4DC4-8DD1-1EB88A74A05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2B4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unsafe</c:v>
                </c:pt>
                <c:pt idx="1">
                  <c:v>safe</c:v>
                </c:pt>
                <c:pt idx="2">
                  <c:v>needs_review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63202</c:v>
                </c:pt>
                <c:pt idx="1">
                  <c:v>59573</c:v>
                </c:pt>
                <c:pt idx="2">
                  <c:v>4971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7D1A-4DC4-8DD1-1EB88A74A0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400">
                <a:solidFill>
                  <a:srgbClr val="374151"/>
                </a:solidFill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Rows</c:v>
          </c:tx>
          <c:spPr>
            <a:solidFill>
              <a:srgbClr val="2C5F8D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A2B4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0"/>
              <c:pt idx="0">
                <c:v>Socioeconomic</c:v>
              </c:pt>
              <c:pt idx="1">
                <c:v>Information &amp; Safety</c:v>
              </c:pt>
              <c:pt idx="2">
                <c:v>harm-p</c:v>
              </c:pt>
              <c:pt idx="3">
                <c:v>Human Autonomy &amp; Integrity</c:v>
              </c:pt>
              <c:pt idx="4">
                <c:v>Representation &amp; Toxicity</c:v>
              </c:pt>
              <c:pt idx="5">
                <c:v>bad_ads</c:v>
              </c:pt>
              <c:pt idx="6">
                <c:v>HOD</c:v>
              </c:pt>
              <c:pt idx="7">
                <c:v>hatefulMemes</c:v>
              </c:pt>
              <c:pt idx="8">
                <c:v>Malicious Use</c:v>
              </c:pt>
              <c:pt idx="9">
                <c:v>privacyAlert</c:v>
              </c:pt>
            </c:strLit>
          </c:cat>
          <c:val>
            <c:numLit>
              <c:formatCode>General</c:formatCode>
              <c:ptCount val="10"/>
              <c:pt idx="0">
                <c:v>90</c:v>
              </c:pt>
              <c:pt idx="1">
                <c:v>99</c:v>
              </c:pt>
              <c:pt idx="2">
                <c:v>134</c:v>
              </c:pt>
              <c:pt idx="3">
                <c:v>167</c:v>
              </c:pt>
              <c:pt idx="4">
                <c:v>199</c:v>
              </c:pt>
              <c:pt idx="5">
                <c:v>321</c:v>
              </c:pt>
              <c:pt idx="6">
                <c:v>413</c:v>
              </c:pt>
              <c:pt idx="7">
                <c:v>595</c:v>
              </c:pt>
              <c:pt idx="8">
                <c:v>866</c:v>
              </c:pt>
              <c:pt idx="9">
                <c:v>1510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76D-497F-803A-073EE35860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11"/>
        <c:axId val="222"/>
      </c:barChart>
      <c:catAx>
        <c:axId val="11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374151"/>
                </a:solidFill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one"/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2C5F8D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4E6-41E6-A17D-58F1321486A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4E6-41E6-A17D-58F1321486A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4E6-41E6-A17D-58F1321486A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4E6-41E6-A17D-58F1321486A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4E6-41E6-A17D-58F1321486A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D4E6-41E6-A17D-58F1321486A2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D4E6-41E6-A17D-58F1321486A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D4E6-41E6-A17D-58F1321486A2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D4E6-41E6-A17D-58F1321486A2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D4E6-41E6-A17D-58F1321486A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D4E6-41E6-A17D-58F1321486A2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D4E6-41E6-A17D-58F1321486A2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D4E6-41E6-A17D-58F1321486A2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D4E6-41E6-A17D-58F1321486A2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D4E6-41E6-A17D-58F1321486A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D4E6-41E6-A17D-58F1321486A2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D4E6-41E6-A17D-58F1321486A2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D4E6-41E6-A17D-58F1321486A2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5-D4E6-41E6-A17D-58F1321486A2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D4E6-41E6-A17D-58F1321486A2}"/>
              </c:ext>
            </c:extLst>
          </c:dPt>
          <c:dPt>
            <c:idx val="2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9-D4E6-41E6-A17D-58F1321486A2}"/>
              </c:ext>
            </c:extLst>
          </c:dPt>
          <c:dPt>
            <c:idx val="21"/>
            <c:invertIfNegative val="0"/>
            <c:bubble3D val="0"/>
            <c:spPr>
              <a:solidFill>
                <a:srgbClr val="C836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B-D4E6-41E6-A17D-58F1321486A2}"/>
              </c:ext>
            </c:extLst>
          </c:dPt>
          <c:dPt>
            <c:idx val="22"/>
            <c:invertIfNegative val="0"/>
            <c:bubble3D val="0"/>
            <c:spPr>
              <a:solidFill>
                <a:srgbClr val="C836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D-D4E6-41E6-A17D-58F1321486A2}"/>
              </c:ext>
            </c:extLst>
          </c:dPt>
          <c:dPt>
            <c:idx val="23"/>
            <c:invertIfNegative val="0"/>
            <c:bubble3D val="0"/>
            <c:spPr>
              <a:solidFill>
                <a:srgbClr val="C836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F-D4E6-41E6-A17D-58F1321486A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A2B4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</c:f>
              <c:strCache>
                <c:ptCount val="24"/>
                <c:pt idx="0">
                  <c:v>P23</c:v>
                </c:pt>
                <c:pt idx="1">
                  <c:v>P1</c:v>
                </c:pt>
                <c:pt idx="2">
                  <c:v>P12</c:v>
                </c:pt>
                <c:pt idx="3">
                  <c:v>P13</c:v>
                </c:pt>
                <c:pt idx="4">
                  <c:v>P11</c:v>
                </c:pt>
                <c:pt idx="5">
                  <c:v>P4</c:v>
                </c:pt>
                <c:pt idx="6">
                  <c:v>P9</c:v>
                </c:pt>
                <c:pt idx="7">
                  <c:v>P7</c:v>
                </c:pt>
                <c:pt idx="8">
                  <c:v>P19</c:v>
                </c:pt>
                <c:pt idx="9">
                  <c:v>P20</c:v>
                </c:pt>
                <c:pt idx="10">
                  <c:v>P21</c:v>
                </c:pt>
                <c:pt idx="11">
                  <c:v>P14</c:v>
                </c:pt>
                <c:pt idx="12">
                  <c:v>P10</c:v>
                </c:pt>
                <c:pt idx="13">
                  <c:v>P24</c:v>
                </c:pt>
                <c:pt idx="14">
                  <c:v>P22</c:v>
                </c:pt>
                <c:pt idx="15">
                  <c:v>P18</c:v>
                </c:pt>
                <c:pt idx="16">
                  <c:v>P15</c:v>
                </c:pt>
                <c:pt idx="17">
                  <c:v>P8</c:v>
                </c:pt>
                <c:pt idx="18">
                  <c:v>P16</c:v>
                </c:pt>
                <c:pt idx="19">
                  <c:v>P6</c:v>
                </c:pt>
                <c:pt idx="20">
                  <c:v>P17</c:v>
                </c:pt>
                <c:pt idx="21">
                  <c:v>P5</c:v>
                </c:pt>
                <c:pt idx="22">
                  <c:v>P2</c:v>
                </c:pt>
                <c:pt idx="23">
                  <c:v>P3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19005</c:v>
                </c:pt>
                <c:pt idx="1">
                  <c:v>17162</c:v>
                </c:pt>
                <c:pt idx="2">
                  <c:v>11948</c:v>
                </c:pt>
                <c:pt idx="3">
                  <c:v>9163</c:v>
                </c:pt>
                <c:pt idx="4">
                  <c:v>8297</c:v>
                </c:pt>
                <c:pt idx="5">
                  <c:v>7878</c:v>
                </c:pt>
                <c:pt idx="6">
                  <c:v>4610</c:v>
                </c:pt>
                <c:pt idx="7">
                  <c:v>3697</c:v>
                </c:pt>
                <c:pt idx="8">
                  <c:v>3403</c:v>
                </c:pt>
                <c:pt idx="9">
                  <c:v>2783</c:v>
                </c:pt>
                <c:pt idx="10">
                  <c:v>2470</c:v>
                </c:pt>
                <c:pt idx="11">
                  <c:v>2053</c:v>
                </c:pt>
                <c:pt idx="12">
                  <c:v>1987</c:v>
                </c:pt>
                <c:pt idx="13">
                  <c:v>1335</c:v>
                </c:pt>
                <c:pt idx="14">
                  <c:v>1163</c:v>
                </c:pt>
                <c:pt idx="15">
                  <c:v>1008</c:v>
                </c:pt>
                <c:pt idx="16">
                  <c:v>991</c:v>
                </c:pt>
                <c:pt idx="17">
                  <c:v>962</c:v>
                </c:pt>
                <c:pt idx="18">
                  <c:v>904</c:v>
                </c:pt>
                <c:pt idx="19">
                  <c:v>708</c:v>
                </c:pt>
                <c:pt idx="20">
                  <c:v>510</c:v>
                </c:pt>
                <c:pt idx="21">
                  <c:v>313</c:v>
                </c:pt>
                <c:pt idx="22">
                  <c:v>70</c:v>
                </c:pt>
                <c:pt idx="23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30-D4E6-41E6-A17D-58F1321486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11"/>
        <c:axId val="222"/>
      </c:barChart>
      <c:catAx>
        <c:axId val="11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374151"/>
                </a:solidFill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one"/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Rows</c:v>
          </c:tx>
          <c:spPr>
            <a:solidFill>
              <a:srgbClr val="2C5F8D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A2B4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0 policies</c:v>
              </c:pt>
              <c:pt idx="1">
                <c:v>1 policy</c:v>
              </c:pt>
              <c:pt idx="2">
                <c:v>2 policies</c:v>
              </c:pt>
              <c:pt idx="3">
                <c:v>3 policies</c:v>
              </c:pt>
              <c:pt idx="4">
                <c:v>4+ policies</c:v>
              </c:pt>
            </c:strLit>
          </c:cat>
          <c:val>
            <c:numLit>
              <c:formatCode>General</c:formatCode>
              <c:ptCount val="5"/>
              <c:pt idx="0">
                <c:v>64569</c:v>
              </c:pt>
              <c:pt idx="1">
                <c:v>32789</c:v>
              </c:pt>
              <c:pt idx="2">
                <c:v>22711</c:v>
              </c:pt>
              <c:pt idx="3">
                <c:v>6615</c:v>
              </c:pt>
              <c:pt idx="4">
                <c:v>1062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490-4058-BA5C-91BD8CD8C7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400">
                <a:solidFill>
                  <a:srgbClr val="374151"/>
                </a:solidFill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Rows</c:v>
          </c:tx>
          <c:spPr>
            <a:solidFill>
              <a:srgbClr val="2C5F8D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2B4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P12+P13</c:v>
              </c:pt>
              <c:pt idx="1">
                <c:v>P13+P19</c:v>
              </c:pt>
              <c:pt idx="2">
                <c:v>P1+P12</c:v>
              </c:pt>
              <c:pt idx="3">
                <c:v>P1+P13</c:v>
              </c:pt>
              <c:pt idx="4">
                <c:v>P23+P4</c:v>
              </c:pt>
              <c:pt idx="5">
                <c:v>P1+P11</c:v>
              </c:pt>
              <c:pt idx="6">
                <c:v>P1+P4</c:v>
              </c:pt>
              <c:pt idx="7">
                <c:v>P1+P23</c:v>
              </c:pt>
            </c:strLit>
          </c:cat>
          <c:val>
            <c:numLit>
              <c:formatCode>General</c:formatCode>
              <c:ptCount val="8"/>
              <c:pt idx="0">
                <c:v>1727</c:v>
              </c:pt>
              <c:pt idx="1">
                <c:v>1827</c:v>
              </c:pt>
              <c:pt idx="2">
                <c:v>1835</c:v>
              </c:pt>
              <c:pt idx="3">
                <c:v>1947</c:v>
              </c:pt>
              <c:pt idx="4">
                <c:v>2118</c:v>
              </c:pt>
              <c:pt idx="5">
                <c:v>2292</c:v>
              </c:pt>
              <c:pt idx="6">
                <c:v>3701</c:v>
              </c:pt>
              <c:pt idx="7">
                <c:v>6096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4C5-4827-9176-25B0B66600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11"/>
        <c:axId val="222"/>
      </c:barChart>
      <c:catAx>
        <c:axId val="1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 b="1">
                <a:solidFill>
                  <a:srgbClr val="374151"/>
                </a:solidFill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2C5F8D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5A8A6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026-480E-B5B1-ADA506ED4F0D}"/>
              </c:ext>
            </c:extLst>
          </c:dPt>
          <c:dPt>
            <c:idx val="1"/>
            <c:invertIfNegative val="0"/>
            <c:bubble3D val="0"/>
            <c:spPr>
              <a:solidFill>
                <a:srgbClr val="5A8A6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026-480E-B5B1-ADA506ED4F0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026-480E-B5B1-ADA506ED4F0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026-480E-B5B1-ADA506ED4F0D}"/>
              </c:ext>
            </c:extLst>
          </c:dPt>
          <c:dPt>
            <c:idx val="4"/>
            <c:invertIfNegative val="0"/>
            <c:bubble3D val="0"/>
            <c:spPr>
              <a:solidFill>
                <a:srgbClr val="C836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9026-480E-B5B1-ADA506ED4F0D}"/>
              </c:ext>
            </c:extLst>
          </c:dPt>
          <c:dPt>
            <c:idx val="5"/>
            <c:invertIfNegative val="0"/>
            <c:bubble3D val="0"/>
            <c:spPr>
              <a:solidFill>
                <a:srgbClr val="C836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9026-480E-B5B1-ADA506ED4F0D}"/>
              </c:ext>
            </c:extLst>
          </c:dPt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026-480E-B5B1-ADA506ED4F0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026-480E-B5B1-ADA506ED4F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A2B4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4"/>
                <c:pt idx="0">
                  <c:v>Easy</c:v>
                </c:pt>
                <c:pt idx="1">
                  <c:v>Intermediate</c:v>
                </c:pt>
                <c:pt idx="2">
                  <c:v>Hard</c:v>
                </c:pt>
                <c:pt idx="3">
                  <c:v>Undecided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100477</c:v>
                </c:pt>
                <c:pt idx="1">
                  <c:v>16684</c:v>
                </c:pt>
                <c:pt idx="2">
                  <c:v>10574</c:v>
                </c:pt>
                <c:pt idx="3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9026-480E-B5B1-ADA506ED4F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3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300" b="1">
                <a:solidFill>
                  <a:srgbClr val="374151"/>
                </a:solidFill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Agreement %</c:v>
          </c:tx>
          <c:spPr>
            <a:solidFill>
              <a:srgbClr val="2C5F8D"/>
            </a:solidFill>
            <a:ln>
              <a:noFill/>
            </a:ln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1A2B4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Gemma-4-31B</c:v>
              </c:pt>
              <c:pt idx="1">
                <c:v>Qwen3.5-4B (5-pass)</c:v>
              </c:pt>
            </c:strLit>
          </c:cat>
          <c:val>
            <c:numLit>
              <c:formatCode>General</c:formatCode>
              <c:ptCount val="2"/>
              <c:pt idx="0">
                <c:v>95.4</c:v>
              </c:pt>
              <c:pt idx="1">
                <c:v>89.6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C8E-448B-87AF-DFAE7ACDF0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600" b="1">
                <a:solidFill>
                  <a:srgbClr val="374151"/>
                </a:solidFill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Candidates</c:v>
                </c:pt>
              </c:strCache>
            </c:strRef>
          </c:tx>
          <c:spPr>
            <a:solidFill>
              <a:srgbClr val="2C5F8D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94A3B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43E-44C1-BD71-1913552182C1}"/>
              </c:ext>
            </c:extLst>
          </c:dPt>
          <c:dPt>
            <c:idx val="1"/>
            <c:invertIfNegative val="0"/>
            <c:bubble3D val="0"/>
            <c:spPr>
              <a:solidFill>
                <a:srgbClr val="C836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43E-44C1-BD71-1913552182C1}"/>
              </c:ext>
            </c:extLst>
          </c:dPt>
          <c:dPt>
            <c:idx val="2"/>
            <c:invertIfNegative val="0"/>
            <c:bubble3D val="0"/>
            <c:spPr>
              <a:solidFill>
                <a:srgbClr val="C836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43E-44C1-BD71-1913552182C1}"/>
              </c:ext>
            </c:extLst>
          </c:dPt>
          <c:dPt>
            <c:idx val="3"/>
            <c:invertIfNegative val="0"/>
            <c:bubble3D val="0"/>
            <c:spPr>
              <a:solidFill>
                <a:srgbClr val="5A8A6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B43E-44C1-BD71-1913552182C1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3E-44C1-BD71-1913552182C1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43E-44C1-BD71-1913552182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2B4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1">
                  <c:v>Gate B (pair safe)</c:v>
                </c:pt>
                <c:pt idx="2">
                  <c:v>Gate A reject (text unsafe)</c:v>
                </c:pt>
                <c:pt idx="3">
                  <c:v>Kept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1">
                  <c:v>4422</c:v>
                </c:pt>
                <c:pt idx="2">
                  <c:v>7486</c:v>
                </c:pt>
                <c:pt idx="3">
                  <c:v>2895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B43E-44C1-BD71-1913552182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11"/>
        <c:axId val="222"/>
      </c:barChart>
      <c:catAx>
        <c:axId val="1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1">
                <a:solidFill>
                  <a:srgbClr val="374151"/>
                </a:solidFill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1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Before</c:v>
          </c:tx>
          <c:spPr>
            <a:solidFill>
              <a:srgbClr val="C7D4E1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F3A4A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B80-48AB-A401-1CC463A98F7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B80-48AB-A401-1CC463A98F7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B80-48AB-A401-1CC463A98F7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B80-48AB-A401-1CC463A98F7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A2B4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P5</c:v>
              </c:pt>
              <c:pt idx="1">
                <c:v>P4</c:v>
              </c:pt>
              <c:pt idx="2">
                <c:v>P7</c:v>
              </c:pt>
              <c:pt idx="3">
                <c:v>P14</c:v>
              </c:pt>
            </c:strLit>
          </c:cat>
          <c:val>
            <c:numLit>
              <c:formatCode>General</c:formatCode>
              <c:ptCount val="4"/>
              <c:pt idx="0">
                <c:v>313</c:v>
              </c:pt>
              <c:pt idx="1">
                <c:v>7878</c:v>
              </c:pt>
              <c:pt idx="2">
                <c:v>3697</c:v>
              </c:pt>
              <c:pt idx="3">
                <c:v>2053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4B80-48AB-A401-1CC463A98F7D}"/>
            </c:ext>
          </c:extLst>
        </c:ser>
        <c:ser>
          <c:idx val="1"/>
          <c:order val="1"/>
          <c:tx>
            <c:v>After</c:v>
          </c:tx>
          <c:spPr>
            <a:solidFill>
              <a:srgbClr val="2C5F8D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C836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4B80-48AB-A401-1CC463A98F7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4B80-48AB-A401-1CC463A98F7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4B80-48AB-A401-1CC463A98F7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4B80-48AB-A401-1CC463A98F7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A2B4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P5</c:v>
              </c:pt>
              <c:pt idx="1">
                <c:v>P4</c:v>
              </c:pt>
              <c:pt idx="2">
                <c:v>P7</c:v>
              </c:pt>
              <c:pt idx="3">
                <c:v>P14</c:v>
              </c:pt>
            </c:strLit>
          </c:cat>
          <c:val>
            <c:numLit>
              <c:formatCode>General</c:formatCode>
              <c:ptCount val="4"/>
              <c:pt idx="0">
                <c:v>2958</c:v>
              </c:pt>
              <c:pt idx="1">
                <c:v>7920</c:v>
              </c:pt>
              <c:pt idx="2">
                <c:v>3748</c:v>
              </c:pt>
              <c:pt idx="3">
                <c:v>2112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1-4B80-48AB-A401-1CC463A98F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94A3B8"/>
            </a:solidFill>
          </a:ln>
        </c:spPr>
        <c:txPr>
          <a:bodyPr/>
          <a:lstStyle/>
          <a:p>
            <a:pPr>
              <a:defRPr sz="1400" b="1">
                <a:solidFill>
                  <a:srgbClr val="374151"/>
                </a:solidFill>
              </a:defRPr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11"/>
        <c:crosses val="autoZero"/>
        <c:crossBetween val="between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0.164</cdr:x>
      <cdr:y>0.62951</cdr:y>
    </cdr:from>
    <cdr:to>
      <cdr:x>0.744</cdr:x>
      <cdr:y>0.70897</cdr:y>
    </cdr:to>
    <cdr:sp macro="" textlink="">
      <cdr:nvSpPr>
        <cdr:cNvPr id="3" name="TextBox 6">
          <a:extLst xmlns:a="http://schemas.openxmlformats.org/drawingml/2006/main">
            <a:ext uri="{FF2B5EF4-FFF2-40B4-BE49-F238E27FC236}">
              <a16:creationId xmlns:a16="http://schemas.microsoft.com/office/drawing/2014/main" id="{0DAE67BE-659F-4135-B309-406C714BA3B0}"/>
            </a:ext>
          </a:extLst>
        </cdr:cNvPr>
        <cdr:cNvSpPr txBox="1"/>
      </cdr:nvSpPr>
      <cdr:spPr>
        <a:xfrm xmlns:a="http://schemas.openxmlformats.org/drawingml/2006/main">
          <a:off x="1041400" y="2438400"/>
          <a:ext cx="3683000" cy="307777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="horz" wrap="square" rtlCol="0" anchor="t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endParaRPr lang="en-US" sz="1400" b="1" dirty="0">
            <a:solidFill>
              <a:srgbClr val="1A2B4A"/>
            </a:solidFill>
          </a:endParaRPr>
        </a:p>
      </cdr:txBody>
    </cdr:sp>
  </cdr:relSizeAnchor>
  <cdr:relSizeAnchor xmlns:cdr="http://schemas.openxmlformats.org/drawingml/2006/chartDrawing">
    <cdr:from>
      <cdr:x>0.33332</cdr:x>
      <cdr:y>0.6812</cdr:y>
    </cdr:from>
    <cdr:to>
      <cdr:x>0.51755</cdr:x>
      <cdr:y>0.76066</cdr:y>
    </cdr:to>
    <cdr:sp macro="" textlink="">
      <cdr:nvSpPr>
        <cdr:cNvPr id="5" name="TextBox 17">
          <a:extLst xmlns:a="http://schemas.openxmlformats.org/drawingml/2006/main">
            <a:ext uri="{FF2B5EF4-FFF2-40B4-BE49-F238E27FC236}">
              <a16:creationId xmlns:a16="http://schemas.microsoft.com/office/drawing/2014/main" id="{FFC3C553-6FCE-2674-CDFE-9B8373B25273}"/>
            </a:ext>
          </a:extLst>
        </cdr:cNvPr>
        <cdr:cNvSpPr txBox="1"/>
      </cdr:nvSpPr>
      <cdr:spPr>
        <a:xfrm xmlns:a="http://schemas.openxmlformats.org/drawingml/2006/main">
          <a:off x="2116598" y="2638623"/>
          <a:ext cx="1169854" cy="307777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="horz" wrap="square" rtlCol="0" anchor="t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400" dirty="0">
              <a:solidFill>
                <a:srgbClr val="1A2B4A"/>
              </a:solidFill>
            </a:rPr>
            <a:t>5864 : 4710s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44365-495C-C144-94C8-A31CC34AADD6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2FDD6-24C6-2A41-B62A-13377F575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41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2FDD6-24C6-2A41-B62A-13377F5754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6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F276-7BDD-96D8-1A76-F683A68D2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7076C-C539-1AAB-2200-38026D475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9B015-20D9-08C8-8E48-BDA7BECA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82CD-F819-44E1-93E7-11FAC85D32A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FF3EA-78FC-9669-1815-BA277CB63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62799-3A2E-1E06-01F5-AB8A9BB0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F2EA-7A82-4ED6-9D97-526FCBE96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7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5370A-966F-86F1-9CEF-CA4B7502B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0075B-51E7-1787-9C7B-57D1AB693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B08F5-4FDD-1258-A38D-FED3AB2D4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82CD-F819-44E1-93E7-11FAC85D32A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4438A-8E11-5EB2-9251-4AE336F03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5F7C5-E407-7183-5243-413672FCF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F2EA-7A82-4ED6-9D97-526FCBE96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57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5C93-FCC3-2B26-FA99-A16BD206E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0DD81-A431-EDF0-5782-9E86F8227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D721C-1C83-80ED-7071-264EB110E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82CD-F819-44E1-93E7-11FAC85D32A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C5117-E9B2-F22D-9496-B4E330A8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FD421-5136-92A9-D088-953A7839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F2EA-7A82-4ED6-9D97-526FCBE96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6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95F8F-11F3-17E6-8275-384272F60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939BC-71B5-5855-FD96-B329E77F9C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52368-0283-04ED-DD8A-B830EB586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8AC67-592B-3752-215D-4BB19F718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82CD-F819-44E1-93E7-11FAC85D32A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FEFEC-C6C8-FC51-EB37-874AC148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C948-4804-F519-D050-F95FEEBD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F2EA-7A82-4ED6-9D97-526FCBE96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04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48742-99E2-EB69-73CA-3F710A27F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8F49C-15AE-54C7-95EE-B9627021D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9ED184-621F-74DD-17F2-CAD4128A7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256B0D-4FC0-1765-1EA0-E71BB7B6A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643222-4E13-46CE-311A-A65039889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31B2F6-43D8-C682-20E4-48A5BAD3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82CD-F819-44E1-93E7-11FAC85D32A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67D5C3-6429-457C-14E7-DDECA6C4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A77F4B-915D-93DB-E0F6-A01B5F30E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F2EA-7A82-4ED6-9D97-526FCBE96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17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0B17-2E69-B50A-B2DA-A1F40AE8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1D64A-8210-9E77-137C-55F955B8E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82CD-F819-44E1-93E7-11FAC85D32A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25EEB-F801-5967-1CB0-EC41B808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93016-954C-F470-3F96-6480BD2C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F2EA-7A82-4ED6-9D97-526FCBE96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74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3A2514-7106-6AB9-9099-D9D46FE32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82CD-F819-44E1-93E7-11FAC85D32A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D4D86-8656-F9EB-04BA-90ACD59FB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43826-C47F-07AD-C47D-B06FDC327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F2EA-7A82-4ED6-9D97-526FCBE96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79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EF7D2-0C70-74C1-3F33-D4C7F0E16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993C4-68D7-EF9F-031F-CA9218C9B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C111C-8BFB-E803-7892-BA7AD982B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B483-E7DB-2EFD-38B7-BDE0E1B3F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82CD-F819-44E1-93E7-11FAC85D32A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E021B-9F4B-F0A4-12DB-F7878610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F7713-91F9-DA11-A0AC-AD429B23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F2EA-7A82-4ED6-9D97-526FCBE96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01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6CB8-2007-FE8B-05F3-874FD3826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A9070B-2F23-2A58-4035-46A133A19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180C8-BD77-1D85-B45B-22984A1C3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D94A3-4C51-DC7E-55AD-EA459A81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82CD-F819-44E1-93E7-11FAC85D32A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9704E-2702-6B25-AD6C-A11170F45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36D3C-5352-C561-5D31-5F05677AE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F2EA-7A82-4ED6-9D97-526FCBE96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99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AB465-C904-5CFB-8256-3E0FA3EFA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31965-A744-C796-F218-0B798B560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98014-4DB5-2843-0973-2EDCD9F15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82CD-F819-44E1-93E7-11FAC85D32A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1FA67-6553-C87A-0B78-0009B6F41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35FC6-188F-4574-3B87-D5732695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F2EA-7A82-4ED6-9D97-526FCBE96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3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74A630-DE8A-7FC9-855B-8F347248B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59E45-B39D-AFEC-92C1-F036DEFDE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4D554-43B8-C938-B2C8-690AF3C8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82CD-F819-44E1-93E7-11FAC85D32A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15C4A-3C4F-9659-A2CD-299182B7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118DB-6DCB-9432-71EF-BAB7AC86E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8F2EA-7A82-4ED6-9D97-526FCBE96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6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492E17-C920-806A-F046-93772F020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53EEB-D077-D0BF-9745-57C044283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0575F-1C12-2253-0248-791BD49C6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7882CD-F819-44E1-93E7-11FAC85D32A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4C4F7-22CD-2662-C89B-D53EFCB4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03966-B786-1601-DD14-AB192CA565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8F2EA-7A82-4ED6-9D97-526FCBE961B9}" type="slidenum">
              <a:rPr lang="en-US" smtClean="0"/>
              <a:t>‹#›</a:t>
            </a:fld>
            <a:endParaRPr lang="en-US"/>
          </a:p>
        </p:txBody>
      </p:sp>
      <p:sp>
        <p:nvSpPr>
          <p:cNvPr id="9001" name="TopRule"/>
          <p:cNvSpPr/>
          <p:nvPr userDrawn="1"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C5F8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FooterText"/>
          <p:cNvSpPr/>
          <p:nvPr userDrawn="1"/>
        </p:nvSpPr>
        <p:spPr>
          <a:xfrm>
            <a:off x="457200" y="6400800"/>
            <a:ext cx="8229600" cy="20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>
              <a:buNone/>
            </a:pPr>
            <a:r>
              <a:rPr lang="en-US" sz="900" dirty="0">
                <a:solidFill>
                  <a:srgbClr val="94A3B8"/>
                </a:solidFill>
              </a:rPr>
              <a:t>Multimodal Safety  Weekly Update  June 23, 2026</a:t>
            </a:r>
          </a:p>
        </p:txBody>
      </p:sp>
    </p:spTree>
    <p:extLst>
      <p:ext uri="{BB962C8B-B14F-4D97-AF65-F5344CB8AC3E}">
        <p14:creationId xmlns:p14="http://schemas.microsoft.com/office/powerpoint/2010/main" val="984481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B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7415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488A40-3626-49B4-904A-BFD23EB12E9F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C5F8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C7D8E1-EA47-4DAA-9418-72FFCBDF48F8}"/>
              </a:ext>
            </a:extLst>
          </p:cNvPr>
          <p:cNvSpPr txBox="1"/>
          <p:nvPr/>
        </p:nvSpPr>
        <p:spPr>
          <a:xfrm>
            <a:off x="1016000" y="21590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C5F8D"/>
                </a:solidFill>
                <a:latin typeface="Aptos"/>
              </a:rPr>
              <a:t>MULTIMODAL SAFETY  ·  WEEKLY UPDATE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57041E-1A7F-4267-BA4F-8FE742B90275}"/>
              </a:ext>
            </a:extLst>
          </p:cNvPr>
          <p:cNvSpPr txBox="1"/>
          <p:nvPr/>
        </p:nvSpPr>
        <p:spPr>
          <a:xfrm>
            <a:off x="1016000" y="2603500"/>
            <a:ext cx="10414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1A2B4A"/>
                </a:solidFill>
                <a:latin typeface="Aptos Display"/>
              </a:rPr>
              <a:t>Labeling, agreement, and synthetic compositional harm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D4A158-2E65-4879-9636-29D3D40D2DF6}"/>
              </a:ext>
            </a:extLst>
          </p:cNvPr>
          <p:cNvSpPr/>
          <p:nvPr/>
        </p:nvSpPr>
        <p:spPr>
          <a:xfrm>
            <a:off x="1016000" y="4572000"/>
            <a:ext cx="762000" cy="50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D55578-5705-4B2C-9981-CCF9F81B40D2}"/>
              </a:ext>
            </a:extLst>
          </p:cNvPr>
          <p:cNvSpPr txBox="1"/>
          <p:nvPr/>
        </p:nvSpPr>
        <p:spPr>
          <a:xfrm>
            <a:off x="1016000" y="4826000"/>
            <a:ext cx="1016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6B7280"/>
                </a:solidFill>
                <a:latin typeface="Aptos"/>
              </a:rPr>
              <a:t>Week of June 23, 2026 (VLM Sync up 4)</a:t>
            </a:r>
          </a:p>
        </p:txBody>
      </p:sp>
    </p:spTree>
    <p:extLst>
      <p:ext uri="{BB962C8B-B14F-4D97-AF65-F5344CB8AC3E}">
        <p14:creationId xmlns:p14="http://schemas.microsoft.com/office/powerpoint/2010/main" val="200263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9D5E89-F867-4C43-9515-E88665026B95}"/>
              </a:ext>
            </a:extLst>
          </p:cNvPr>
          <p:cNvSpPr txBox="1"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A2B4A"/>
                </a:solidFill>
                <a:latin typeface="Aptos Display"/>
              </a:rPr>
              <a:t>Recap: where we were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BA201F-30BB-430F-8A74-E1CFB59CDCB6}"/>
              </a:ext>
            </a:extLst>
          </p:cNvPr>
          <p:cNvSpPr/>
          <p:nvPr/>
        </p:nvSpPr>
        <p:spPr>
          <a:xfrm>
            <a:off x="762000" y="1371600"/>
            <a:ext cx="635000" cy="50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33ADE1-4136-4688-85AF-6A303D514470}"/>
              </a:ext>
            </a:extLst>
          </p:cNvPr>
          <p:cNvSpPr txBox="1"/>
          <p:nvPr/>
        </p:nvSpPr>
        <p:spPr>
          <a:xfrm>
            <a:off x="762000" y="16510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6B7280"/>
                </a:solidFill>
              </a:rPr>
              <a:t>Last week's progress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75A6F8-9A35-45EE-92E1-67DEA45CFDEC}"/>
              </a:ext>
            </a:extLst>
          </p:cNvPr>
          <p:cNvSpPr/>
          <p:nvPr/>
        </p:nvSpPr>
        <p:spPr>
          <a:xfrm>
            <a:off x="762000" y="2286000"/>
            <a:ext cx="10668000" cy="3556000"/>
          </a:xfrm>
          <a:prstGeom prst="rect">
            <a:avLst/>
          </a:prstGeom>
          <a:solidFill>
            <a:srgbClr val="F3F4F6"/>
          </a:solidFill>
          <a:ln w="1270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F293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CCCB8D-C011-45FB-9177-E460B71C62BC}"/>
              </a:ext>
            </a:extLst>
          </p:cNvPr>
          <p:cNvSpPr txBox="1"/>
          <p:nvPr/>
        </p:nvSpPr>
        <p:spPr>
          <a:xfrm>
            <a:off x="1143000" y="2667000"/>
            <a:ext cx="9906000" cy="147732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342900" indent="-342900" algn="l">
              <a:buAutoNum type="arabicPeriod"/>
            </a:pPr>
            <a:r>
              <a:rPr lang="en-US" i="1" dirty="0">
                <a:solidFill>
                  <a:srgbClr val="6B7280"/>
                </a:solidFill>
              </a:rPr>
              <a:t>Test Dataset 31k among 12 datasets. High unsafe ratio.</a:t>
            </a:r>
          </a:p>
          <a:p>
            <a:pPr marL="342900" indent="-342900" algn="l">
              <a:buAutoNum type="arabicPeriod"/>
            </a:pPr>
            <a:endParaRPr lang="en-US" i="1" dirty="0">
              <a:solidFill>
                <a:srgbClr val="6B7280"/>
              </a:solidFill>
            </a:endParaRPr>
          </a:p>
          <a:p>
            <a:pPr marL="342900" indent="-342900" algn="l">
              <a:buAutoNum type="arabicPeriod"/>
            </a:pPr>
            <a:r>
              <a:rPr lang="en-US" i="1" dirty="0">
                <a:solidFill>
                  <a:srgbClr val="6B7280"/>
                </a:solidFill>
              </a:rPr>
              <a:t>Uncleaned Train Data 129k among 4 datasets.</a:t>
            </a:r>
          </a:p>
          <a:p>
            <a:pPr marL="342900" indent="-342900" algn="l">
              <a:buAutoNum type="arabicPeriod"/>
            </a:pPr>
            <a:endParaRPr lang="en-US" i="1" dirty="0">
              <a:solidFill>
                <a:srgbClr val="6B7280"/>
              </a:solidFill>
            </a:endParaRPr>
          </a:p>
          <a:p>
            <a:pPr marL="342900" indent="-342900" algn="l">
              <a:buAutoNum type="arabicPeriod"/>
            </a:pPr>
            <a:r>
              <a:rPr lang="en-US" i="1" dirty="0">
                <a:solidFill>
                  <a:srgbClr val="6B7280"/>
                </a:solidFill>
              </a:rPr>
              <a:t>An idea for Synthetic Data Generation pipeline.</a:t>
            </a:r>
          </a:p>
        </p:txBody>
      </p:sp>
    </p:spTree>
    <p:extLst>
      <p:ext uri="{BB962C8B-B14F-4D97-AF65-F5344CB8AC3E}">
        <p14:creationId xmlns:p14="http://schemas.microsoft.com/office/powerpoint/2010/main" val="2507856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13C6AB-19CF-4C7B-BC8D-E77CEE1CBB90}"/>
              </a:ext>
            </a:extLst>
          </p:cNvPr>
          <p:cNvSpPr txBox="1"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A2B4A"/>
                </a:solidFill>
                <a:latin typeface="Aptos Display"/>
              </a:rPr>
              <a:t>Agenda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C5E0A6-EFE4-4F57-98A1-906BD189D18F}"/>
              </a:ext>
            </a:extLst>
          </p:cNvPr>
          <p:cNvSpPr/>
          <p:nvPr/>
        </p:nvSpPr>
        <p:spPr>
          <a:xfrm>
            <a:off x="762000" y="1371600"/>
            <a:ext cx="635000" cy="50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F21E6-30D4-4503-A6AD-C69859FD67C4}"/>
              </a:ext>
            </a:extLst>
          </p:cNvPr>
          <p:cNvSpPr txBox="1"/>
          <p:nvPr/>
        </p:nvSpPr>
        <p:spPr>
          <a:xfrm>
            <a:off x="762000" y="1778000"/>
            <a:ext cx="76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2C5F8D"/>
                </a:solidFill>
                <a:latin typeface="Aptos Display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AEF45-491E-4577-AAF2-ABE1519ECEEC}"/>
              </a:ext>
            </a:extLst>
          </p:cNvPr>
          <p:cNvSpPr txBox="1"/>
          <p:nvPr/>
        </p:nvSpPr>
        <p:spPr>
          <a:xfrm>
            <a:off x="1651000" y="18034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1A2B4A"/>
                </a:solidFill>
              </a:rPr>
              <a:t>New dataset added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79483-213D-45E6-8CD1-5805ACD1606C}"/>
              </a:ext>
            </a:extLst>
          </p:cNvPr>
          <p:cNvSpPr txBox="1"/>
          <p:nvPr/>
        </p:nvSpPr>
        <p:spPr>
          <a:xfrm>
            <a:off x="1651000" y="22098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374151"/>
                </a:solidFill>
              </a:rPr>
              <a:t>Think-in-Safety — 4,394 multimodal rows with reasoning traces.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18C2FB-D731-49C5-8E2A-530FC3F86B88}"/>
              </a:ext>
            </a:extLst>
          </p:cNvPr>
          <p:cNvSpPr txBox="1"/>
          <p:nvPr/>
        </p:nvSpPr>
        <p:spPr>
          <a:xfrm>
            <a:off x="762000" y="2921000"/>
            <a:ext cx="76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2C5F8D"/>
                </a:solidFill>
                <a:latin typeface="Aptos Display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FC76F-8EF4-471C-8214-2A7580A96F2B}"/>
              </a:ext>
            </a:extLst>
          </p:cNvPr>
          <p:cNvSpPr txBox="1"/>
          <p:nvPr/>
        </p:nvSpPr>
        <p:spPr>
          <a:xfrm>
            <a:off x="1651000" y="29464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1A2B4A"/>
                </a:solidFill>
              </a:rPr>
              <a:t>Labeling QA on the full corpus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420F74-7654-400E-8ED0-00C4270CAB1A}"/>
              </a:ext>
            </a:extLst>
          </p:cNvPr>
          <p:cNvSpPr txBox="1"/>
          <p:nvPr/>
        </p:nvSpPr>
        <p:spPr>
          <a:xfrm>
            <a:off x="1651000" y="33528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374151"/>
                </a:solidFill>
              </a:rPr>
              <a:t>Qwen3.5-4B pass-of-5 self-consistency + multi-judge agreement vs the 397B.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4D0358-1825-4C44-9025-B918F7E261C8}"/>
              </a:ext>
            </a:extLst>
          </p:cNvPr>
          <p:cNvSpPr txBox="1"/>
          <p:nvPr/>
        </p:nvSpPr>
        <p:spPr>
          <a:xfrm>
            <a:off x="762000" y="4064000"/>
            <a:ext cx="76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2C5F8D"/>
                </a:solidFill>
                <a:latin typeface="Aptos Display"/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7EC6D2-3061-4135-9DA7-8D1D7D6C0F21}"/>
              </a:ext>
            </a:extLst>
          </p:cNvPr>
          <p:cNvSpPr txBox="1"/>
          <p:nvPr/>
        </p:nvSpPr>
        <p:spPr>
          <a:xfrm>
            <a:off x="1651000" y="5223691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1A2B4A"/>
                </a:solidFill>
              </a:rPr>
              <a:t>Synthetic compositional-harm pipeline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646436-7A67-44E2-94AF-CAAE4EB93802}"/>
              </a:ext>
            </a:extLst>
          </p:cNvPr>
          <p:cNvSpPr txBox="1"/>
          <p:nvPr/>
        </p:nvSpPr>
        <p:spPr>
          <a:xfrm>
            <a:off x="1651000" y="5630091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374151"/>
                </a:solidFill>
              </a:rPr>
              <a:t>15,000 candidate images → 2,895 kept; P5 coverage grew 9.5×.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33CE96-AA24-450C-A6F0-085731B176A9}"/>
              </a:ext>
            </a:extLst>
          </p:cNvPr>
          <p:cNvSpPr txBox="1"/>
          <p:nvPr/>
        </p:nvSpPr>
        <p:spPr>
          <a:xfrm>
            <a:off x="762000" y="5207000"/>
            <a:ext cx="76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b="1">
                <a:solidFill>
                  <a:srgbClr val="2C5F8D"/>
                </a:solidFill>
                <a:latin typeface="Aptos Display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7A41FD-6CC6-4741-9BD6-45D1BC14F671}"/>
              </a:ext>
            </a:extLst>
          </p:cNvPr>
          <p:cNvSpPr txBox="1"/>
          <p:nvPr/>
        </p:nvSpPr>
        <p:spPr>
          <a:xfrm>
            <a:off x="1651000" y="40640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 dirty="0">
                <a:solidFill>
                  <a:srgbClr val="1A2B4A"/>
                </a:solidFill>
              </a:rPr>
              <a:t>Data hygiene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A778DF-5509-4128-8674-0EAD30F3DBE1}"/>
              </a:ext>
            </a:extLst>
          </p:cNvPr>
          <p:cNvSpPr txBox="1"/>
          <p:nvPr/>
        </p:nvSpPr>
        <p:spPr>
          <a:xfrm>
            <a:off x="1651000" y="44704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374151"/>
                </a:solidFill>
              </a:rPr>
              <a:t>Image </a:t>
            </a:r>
            <a:r>
              <a:rPr lang="en-US" sz="1400" dirty="0" err="1">
                <a:solidFill>
                  <a:srgbClr val="374151"/>
                </a:solidFill>
              </a:rPr>
              <a:t>dedup</a:t>
            </a:r>
            <a:r>
              <a:rPr lang="en-US" sz="1400" dirty="0">
                <a:solidFill>
                  <a:srgbClr val="374151"/>
                </a:solidFill>
              </a:rPr>
              <a:t> (byte-hash + prompt cosine ≥ 0.93) removed ~6k dupes → 49k unique images; noise added to plain canvases for SFT robustness</a:t>
            </a:r>
          </a:p>
        </p:txBody>
      </p:sp>
    </p:spTree>
    <p:extLst>
      <p:ext uri="{BB962C8B-B14F-4D97-AF65-F5344CB8AC3E}">
        <p14:creationId xmlns:p14="http://schemas.microsoft.com/office/powerpoint/2010/main" val="923236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1B8B76-93F3-4E21-A627-5A24334D4665}"/>
              </a:ext>
            </a:extLst>
          </p:cNvPr>
          <p:cNvSpPr txBox="1"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B4A"/>
                </a:solidFill>
                <a:latin typeface="Aptos Display"/>
              </a:rPr>
              <a:t>Corpus: rows per dataset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B1D262-CC68-4FC1-A851-08491F1AC85A}"/>
              </a:ext>
            </a:extLst>
          </p:cNvPr>
          <p:cNvSpPr/>
          <p:nvPr/>
        </p:nvSpPr>
        <p:spPr>
          <a:xfrm>
            <a:off x="762000" y="1168400"/>
            <a:ext cx="50800" cy="304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A8E7C-2C6E-46B3-8CC2-FA3FABADA921}"/>
              </a:ext>
            </a:extLst>
          </p:cNvPr>
          <p:cNvSpPr txBox="1"/>
          <p:nvPr/>
        </p:nvSpPr>
        <p:spPr>
          <a:xfrm>
            <a:off x="965200" y="11430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B4A"/>
                </a:solidFill>
              </a:rPr>
              <a:t>127,746 image+text rows across 5 datasets.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39AD8-565B-4F20-AEC2-2C5DA15D92DD}"/>
              </a:ext>
            </a:extLst>
          </p:cNvPr>
          <p:cNvSpPr txBox="1"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280"/>
                </a:solidFill>
              </a:rPr>
              <a:t>Every row = (image + text question); both required. spavl dominates the volume — ~71% of all rows.</a:t>
            </a:r>
          </a:p>
        </p:txBody>
      </p:sp>
      <p:graphicFrame>
        <p:nvGraphicFramePr>
          <p:cNvPr id="101" name="Chart1"/>
          <p:cNvGraphicFramePr/>
          <p:nvPr/>
        </p:nvGraphicFramePr>
        <p:xfrm>
          <a:off x="762000" y="1651000"/>
          <a:ext cx="1066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42333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7F5FBD-E5A0-4AAF-93F2-F5977AEC32A3}"/>
              </a:ext>
            </a:extLst>
          </p:cNvPr>
          <p:cNvSpPr txBox="1"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B4A"/>
                </a:solidFill>
                <a:latin typeface="Aptos Display"/>
              </a:rPr>
              <a:t>Label distribution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ACA02C-A1AB-4ABE-9FDA-B6019B2D58EC}"/>
              </a:ext>
            </a:extLst>
          </p:cNvPr>
          <p:cNvSpPr/>
          <p:nvPr/>
        </p:nvSpPr>
        <p:spPr>
          <a:xfrm>
            <a:off x="762000" y="1168400"/>
            <a:ext cx="50800" cy="304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84B1CB-1EC7-46E4-8F9A-D9C5FF6DCECE}"/>
              </a:ext>
            </a:extLst>
          </p:cNvPr>
          <p:cNvSpPr txBox="1"/>
          <p:nvPr/>
        </p:nvSpPr>
        <p:spPr>
          <a:xfrm>
            <a:off x="965200" y="1143000"/>
            <a:ext cx="1041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 dirty="0">
                <a:solidFill>
                  <a:srgbClr val="1A2B4A"/>
                </a:solidFill>
              </a:rPr>
              <a:t>             Public Labels		          Qwen3.5-397B		     Qwen3.5-4B (Pass@5)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5C073-4B73-411B-9CBE-FF1294776900}"/>
              </a:ext>
            </a:extLst>
          </p:cNvPr>
          <p:cNvSpPr txBox="1"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280"/>
                </a:solidFill>
              </a:rPr>
              <a:t>"public_label" = the source dataset's own label, before our judges weigh in.</a:t>
            </a:r>
          </a:p>
        </p:txBody>
      </p:sp>
      <p:graphicFrame>
        <p:nvGraphicFramePr>
          <p:cNvPr id="101" name="Chart1"/>
          <p:cNvGraphicFramePr/>
          <p:nvPr>
            <p:extLst>
              <p:ext uri="{D42A27DB-BD31-4B8C-83A1-F6EECF244321}">
                <p14:modId xmlns:p14="http://schemas.microsoft.com/office/powerpoint/2010/main" val="2976598668"/>
              </p:ext>
            </p:extLst>
          </p:nvPr>
        </p:nvGraphicFramePr>
        <p:xfrm>
          <a:off x="1203236" y="1682750"/>
          <a:ext cx="2860765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1">
            <a:extLst>
              <a:ext uri="{FF2B5EF4-FFF2-40B4-BE49-F238E27FC236}">
                <a16:creationId xmlns:a16="http://schemas.microsoft.com/office/drawing/2014/main" id="{CB0C0484-A9CA-66F1-9A63-921559C91F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5171016"/>
              </p:ext>
            </p:extLst>
          </p:nvPr>
        </p:nvGraphicFramePr>
        <p:xfrm>
          <a:off x="8431350" y="1720850"/>
          <a:ext cx="2860765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1">
            <a:extLst>
              <a:ext uri="{FF2B5EF4-FFF2-40B4-BE49-F238E27FC236}">
                <a16:creationId xmlns:a16="http://schemas.microsoft.com/office/drawing/2014/main" id="{41CC4510-D278-EA76-0503-B68A6B2CCC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044165"/>
              </p:ext>
            </p:extLst>
          </p:nvPr>
        </p:nvGraphicFramePr>
        <p:xfrm>
          <a:off x="4817293" y="1682750"/>
          <a:ext cx="2860765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54233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422CB6-7F27-4CA3-B20A-E913AF90F9C3}"/>
              </a:ext>
            </a:extLst>
          </p:cNvPr>
          <p:cNvSpPr txBox="1"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A2B4A"/>
                </a:solidFill>
                <a:latin typeface="Aptos Display"/>
              </a:rPr>
              <a:t>New dataset: Think-in-Safety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7B62A9-BA78-40A1-B864-740B401A73EE}"/>
              </a:ext>
            </a:extLst>
          </p:cNvPr>
          <p:cNvSpPr/>
          <p:nvPr/>
        </p:nvSpPr>
        <p:spPr>
          <a:xfrm>
            <a:off x="762000" y="1371600"/>
            <a:ext cx="635000" cy="50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DAC109-F158-43A4-9BAA-B266AD0B5CFC}"/>
              </a:ext>
            </a:extLst>
          </p:cNvPr>
          <p:cNvSpPr/>
          <p:nvPr/>
        </p:nvSpPr>
        <p:spPr>
          <a:xfrm>
            <a:off x="762000" y="1905000"/>
            <a:ext cx="3556000" cy="40640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F2937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7DA7E7-6ADE-47AA-9C82-B0F7F097369B}"/>
              </a:ext>
            </a:extLst>
          </p:cNvPr>
          <p:cNvSpPr txBox="1"/>
          <p:nvPr/>
        </p:nvSpPr>
        <p:spPr>
          <a:xfrm>
            <a:off x="1016000" y="2286000"/>
            <a:ext cx="304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600" b="1">
                <a:solidFill>
                  <a:srgbClr val="2C5F8D"/>
                </a:solidFill>
                <a:latin typeface="Aptos Display"/>
              </a:rPr>
              <a:t>4,394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005523-FAB5-4625-B78A-B06B3EED30E2}"/>
              </a:ext>
            </a:extLst>
          </p:cNvPr>
          <p:cNvSpPr txBox="1"/>
          <p:nvPr/>
        </p:nvSpPr>
        <p:spPr>
          <a:xfrm>
            <a:off x="1016000" y="32004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374151"/>
                </a:solidFill>
              </a:rPr>
              <a:t>multimodal rows added this week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0B657-119F-47ED-B860-517310B999AC}"/>
              </a:ext>
            </a:extLst>
          </p:cNvPr>
          <p:cNvSpPr txBox="1"/>
          <p:nvPr/>
        </p:nvSpPr>
        <p:spPr>
          <a:xfrm>
            <a:off x="1016000" y="4064000"/>
            <a:ext cx="127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1A2B4A"/>
                </a:solidFill>
                <a:latin typeface="Aptos Display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8AD8F8-AE71-444A-AC20-A5B65DBE270B}"/>
              </a:ext>
            </a:extLst>
          </p:cNvPr>
          <p:cNvSpPr txBox="1"/>
          <p:nvPr/>
        </p:nvSpPr>
        <p:spPr>
          <a:xfrm>
            <a:off x="1016000" y="47244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280"/>
                </a:solidFill>
              </a:rPr>
              <a:t>harm categories covered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03E4F62-67CE-4233-9F8D-D77FCB6C5EF5}"/>
              </a:ext>
            </a:extLst>
          </p:cNvPr>
          <p:cNvSpPr/>
          <p:nvPr/>
        </p:nvSpPr>
        <p:spPr>
          <a:xfrm>
            <a:off x="4699000" y="2006600"/>
            <a:ext cx="101600" cy="101600"/>
          </a:xfrm>
          <a:prstGeom prst="ellipse">
            <a:avLst/>
          </a:prstGeom>
          <a:solidFill>
            <a:srgbClr val="2C5F8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42942C-4D88-4DC5-9091-A0FD0C68F3F5}"/>
              </a:ext>
            </a:extLst>
          </p:cNvPr>
          <p:cNvSpPr txBox="1"/>
          <p:nvPr/>
        </p:nvSpPr>
        <p:spPr>
          <a:xfrm>
            <a:off x="4953000" y="1905000"/>
            <a:ext cx="647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B4A"/>
                </a:solidFill>
              </a:rPr>
              <a:t>Row shape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7CBDEB-A294-4A12-A7F9-6DF8B90B48FB}"/>
              </a:ext>
            </a:extLst>
          </p:cNvPr>
          <p:cNvSpPr txBox="1"/>
          <p:nvPr/>
        </p:nvSpPr>
        <p:spPr>
          <a:xfrm>
            <a:off x="4953000" y="2260600"/>
            <a:ext cx="6477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</a:rPr>
              <a:t>image + benign-looking instruction + &lt;think&gt; reasoning trace + refusal answer (reasoning-style safety data).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9CF850-A962-4F98-B4EE-24AFB083A152}"/>
              </a:ext>
            </a:extLst>
          </p:cNvPr>
          <p:cNvSpPr/>
          <p:nvPr/>
        </p:nvSpPr>
        <p:spPr>
          <a:xfrm>
            <a:off x="4699000" y="3403600"/>
            <a:ext cx="101600" cy="101600"/>
          </a:xfrm>
          <a:prstGeom prst="ellipse">
            <a:avLst/>
          </a:prstGeom>
          <a:solidFill>
            <a:srgbClr val="2C5F8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690F6-17B9-4A45-948D-39E7F1DEF7A2}"/>
              </a:ext>
            </a:extLst>
          </p:cNvPr>
          <p:cNvSpPr txBox="1"/>
          <p:nvPr/>
        </p:nvSpPr>
        <p:spPr>
          <a:xfrm>
            <a:off x="4953000" y="3302000"/>
            <a:ext cx="647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B4A"/>
                </a:solidFill>
              </a:rPr>
              <a:t>Source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36A7FD-146D-4A6D-8718-2EB14C2B1FC5}"/>
              </a:ext>
            </a:extLst>
          </p:cNvPr>
          <p:cNvSpPr txBox="1"/>
          <p:nvPr/>
        </p:nvSpPr>
        <p:spPr>
          <a:xfrm>
            <a:off x="4953000" y="3657600"/>
            <a:ext cx="6477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500" dirty="0">
                <a:solidFill>
                  <a:srgbClr val="374151"/>
                </a:solidFill>
              </a:rPr>
              <a:t>Sourced from hugging face at </a:t>
            </a:r>
            <a:r>
              <a:rPr lang="en-US" sz="1500" b="1" dirty="0">
                <a:solidFill>
                  <a:srgbClr val="374151"/>
                </a:solidFill>
              </a:rPr>
              <a:t>Holly301/Think-in-Safety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B074B5D-EC02-4D94-8DA8-2B5A88D70BA2}"/>
              </a:ext>
            </a:extLst>
          </p:cNvPr>
          <p:cNvSpPr/>
          <p:nvPr/>
        </p:nvSpPr>
        <p:spPr>
          <a:xfrm>
            <a:off x="4699000" y="4800600"/>
            <a:ext cx="101600" cy="101600"/>
          </a:xfrm>
          <a:prstGeom prst="ellipse">
            <a:avLst/>
          </a:prstGeom>
          <a:solidFill>
            <a:srgbClr val="2C5F8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C6DCAA-8499-49E8-B3BB-E0D753A76161}"/>
              </a:ext>
            </a:extLst>
          </p:cNvPr>
          <p:cNvSpPr txBox="1"/>
          <p:nvPr/>
        </p:nvSpPr>
        <p:spPr>
          <a:xfrm>
            <a:off x="4953000" y="4699000"/>
            <a:ext cx="647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B4A"/>
                </a:solidFill>
              </a:rPr>
              <a:t>Why it matters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AF109B-C7EC-4EA7-8E81-949592AA7357}"/>
              </a:ext>
            </a:extLst>
          </p:cNvPr>
          <p:cNvSpPr txBox="1"/>
          <p:nvPr/>
        </p:nvSpPr>
        <p:spPr>
          <a:xfrm>
            <a:off x="4953000" y="5054600"/>
            <a:ext cx="6477000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374151"/>
                </a:solidFill>
              </a:rPr>
              <a:t>Teaches a guardrail to reason about why an (image, text) pair is unsafe, not just pattern-match. As well as it is cleaned and has images which are somewhat like what real people may enter as image.</a:t>
            </a:r>
          </a:p>
        </p:txBody>
      </p:sp>
    </p:spTree>
    <p:extLst>
      <p:ext uri="{BB962C8B-B14F-4D97-AF65-F5344CB8AC3E}">
        <p14:creationId xmlns:p14="http://schemas.microsoft.com/office/powerpoint/2010/main" val="616770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8627EE-16B7-47A6-BB6F-917DEA7A190D}"/>
              </a:ext>
            </a:extLst>
          </p:cNvPr>
          <p:cNvSpPr txBox="1"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B4A"/>
                </a:solidFill>
                <a:latin typeface="Aptos Display"/>
              </a:rPr>
              <a:t>Think-in-Safety: categories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A54FF2-94F1-487D-B562-B4941402DFA8}"/>
              </a:ext>
            </a:extLst>
          </p:cNvPr>
          <p:cNvSpPr/>
          <p:nvPr/>
        </p:nvSpPr>
        <p:spPr>
          <a:xfrm>
            <a:off x="762000" y="1168400"/>
            <a:ext cx="50800" cy="304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504EF-DB8A-4E91-896E-E65D7D611F51}"/>
              </a:ext>
            </a:extLst>
          </p:cNvPr>
          <p:cNvSpPr txBox="1"/>
          <p:nvPr/>
        </p:nvSpPr>
        <p:spPr>
          <a:xfrm>
            <a:off x="965200" y="11430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B4A"/>
                </a:solidFill>
              </a:rPr>
              <a:t>Privacy and malicious-use dominate the new rows — together ~54% of TIS.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895956-B89B-4EAA-855D-2B2EAE053E69}"/>
              </a:ext>
            </a:extLst>
          </p:cNvPr>
          <p:cNvSpPr txBox="1"/>
          <p:nvPr/>
        </p:nvSpPr>
        <p:spPr>
          <a:xfrm>
            <a:off x="762000" y="6096000"/>
            <a:ext cx="10668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6B7280"/>
                </a:solidFill>
              </a:rPr>
              <a:t>Privacy alerts alone (1,510) outweigh the next two categories combined.</a:t>
            </a:r>
          </a:p>
        </p:txBody>
      </p:sp>
      <p:graphicFrame>
        <p:nvGraphicFramePr>
          <p:cNvPr id="101" name="Chart1"/>
          <p:cNvGraphicFramePr/>
          <p:nvPr/>
        </p:nvGraphicFramePr>
        <p:xfrm>
          <a:off x="762000" y="1651000"/>
          <a:ext cx="10668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91493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904D93-5DBA-475D-AB5F-97AE36EA8BC2}"/>
              </a:ext>
            </a:extLst>
          </p:cNvPr>
          <p:cNvSpPr txBox="1"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 dirty="0">
                <a:solidFill>
                  <a:srgbClr val="1A2B4A"/>
                </a:solidFill>
                <a:latin typeface="Aptos Display"/>
              </a:rPr>
              <a:t>Policy coverage (the gap) </a:t>
            </a:r>
            <a:r>
              <a:rPr lang="en-US" sz="1400" b="1" dirty="0">
                <a:solidFill>
                  <a:srgbClr val="1A2B4A"/>
                </a:solidFill>
                <a:latin typeface="Aptos Display"/>
              </a:rPr>
              <a:t>(Labels by Qwn3.5-397b)</a:t>
            </a:r>
            <a:endParaRPr lang="en-US" sz="2600" b="1" dirty="0">
              <a:solidFill>
                <a:srgbClr val="1A2B4A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906308-4CEB-4013-8AEC-541CA7D0EB33}"/>
              </a:ext>
            </a:extLst>
          </p:cNvPr>
          <p:cNvSpPr/>
          <p:nvPr/>
        </p:nvSpPr>
        <p:spPr>
          <a:xfrm>
            <a:off x="762000" y="1168400"/>
            <a:ext cx="50800" cy="304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427E3-347F-4CF0-AA30-E228953593E9}"/>
              </a:ext>
            </a:extLst>
          </p:cNvPr>
          <p:cNvSpPr txBox="1"/>
          <p:nvPr/>
        </p:nvSpPr>
        <p:spPr>
          <a:xfrm>
            <a:off x="965200" y="11430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B4A"/>
                </a:solidFill>
              </a:rPr>
              <a:t>Long-tailed — P5, P2, P3 barely covered (red).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98796B-805E-4448-B93A-B0FF75D3AE44}"/>
              </a:ext>
            </a:extLst>
          </p:cNvPr>
          <p:cNvSpPr txBox="1"/>
          <p:nvPr/>
        </p:nvSpPr>
        <p:spPr>
          <a:xfrm>
            <a:off x="762000" y="61595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6B7280"/>
                </a:solidFill>
              </a:rPr>
              <a:t>Counts = rows the 397B judge cited each policy on. This gap motivates the synthetic pipeline.</a:t>
            </a:r>
          </a:p>
        </p:txBody>
      </p:sp>
      <p:graphicFrame>
        <p:nvGraphicFramePr>
          <p:cNvPr id="101" name="Chart1"/>
          <p:cNvGraphicFramePr/>
          <p:nvPr>
            <p:extLst>
              <p:ext uri="{D42A27DB-BD31-4B8C-83A1-F6EECF244321}">
                <p14:modId xmlns:p14="http://schemas.microsoft.com/office/powerpoint/2010/main" val="1836643712"/>
              </p:ext>
            </p:extLst>
          </p:nvPr>
        </p:nvGraphicFramePr>
        <p:xfrm>
          <a:off x="762000" y="1651000"/>
          <a:ext cx="1066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78227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0E54FF-F008-44E0-B797-E2584C815441}"/>
              </a:ext>
            </a:extLst>
          </p:cNvPr>
          <p:cNvSpPr txBox="1"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B4A"/>
                </a:solidFill>
                <a:latin typeface="Aptos Display"/>
              </a:rPr>
              <a:t>Policies cited per row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0DA780-D1B9-4B11-961D-043F262DDE7A}"/>
              </a:ext>
            </a:extLst>
          </p:cNvPr>
          <p:cNvSpPr/>
          <p:nvPr/>
        </p:nvSpPr>
        <p:spPr>
          <a:xfrm>
            <a:off x="762000" y="1168400"/>
            <a:ext cx="50800" cy="304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904BE4-44F6-44D6-893A-A4141A3F5CE3}"/>
              </a:ext>
            </a:extLst>
          </p:cNvPr>
          <p:cNvSpPr txBox="1"/>
          <p:nvPr/>
        </p:nvSpPr>
        <p:spPr>
          <a:xfrm>
            <a:off x="965200" y="11430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B4A"/>
                </a:solidFill>
              </a:rPr>
              <a:t>Most unsafe rows cite a single policy — overlap is rare.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4E8299-DC83-41FB-A135-29A26E1C6F0A}"/>
              </a:ext>
            </a:extLst>
          </p:cNvPr>
          <p:cNvSpPr txBox="1"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280"/>
                </a:solidFill>
              </a:rPr>
              <a:t>"0 policies" includes safe + needs_review rows; among unsafe rows, the modal count is 1.</a:t>
            </a:r>
          </a:p>
        </p:txBody>
      </p:sp>
      <p:graphicFrame>
        <p:nvGraphicFramePr>
          <p:cNvPr id="101" name="Chart1"/>
          <p:cNvGraphicFramePr/>
          <p:nvPr/>
        </p:nvGraphicFramePr>
        <p:xfrm>
          <a:off x="762000" y="1651000"/>
          <a:ext cx="10668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95867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F3AE8E-2EDC-4C9D-827B-16F7EEBD3B6A}"/>
              </a:ext>
            </a:extLst>
          </p:cNvPr>
          <p:cNvSpPr txBox="1"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B4A"/>
                </a:solidFill>
                <a:latin typeface="Aptos Display"/>
              </a:rPr>
              <a:t>Policy co-occurrence (top pairs)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45A060-AFC1-48D5-8164-7B1D9B331153}"/>
              </a:ext>
            </a:extLst>
          </p:cNvPr>
          <p:cNvSpPr/>
          <p:nvPr/>
        </p:nvSpPr>
        <p:spPr>
          <a:xfrm>
            <a:off x="762000" y="1168400"/>
            <a:ext cx="50800" cy="304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CD8C59-C984-443E-8BFA-D040C4D89862}"/>
              </a:ext>
            </a:extLst>
          </p:cNvPr>
          <p:cNvSpPr txBox="1"/>
          <p:nvPr/>
        </p:nvSpPr>
        <p:spPr>
          <a:xfrm>
            <a:off x="965200" y="11430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B4A"/>
                </a:solidFill>
              </a:rPr>
              <a:t>Jailbreak (P1) co-occurs with fraud (P23) and cyber (P4) most often.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7A5D2-292B-4E3C-A324-FC0034C594DB}"/>
              </a:ext>
            </a:extLst>
          </p:cNvPr>
          <p:cNvSpPr txBox="1"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280"/>
                </a:solidFill>
              </a:rPr>
              <a:t>Pair = both policies cited on the same row by the 397B judge.</a:t>
            </a:r>
          </a:p>
        </p:txBody>
      </p:sp>
      <p:graphicFrame>
        <p:nvGraphicFramePr>
          <p:cNvPr id="101" name="Chart1"/>
          <p:cNvGraphicFramePr/>
          <p:nvPr/>
        </p:nvGraphicFramePr>
        <p:xfrm>
          <a:off x="762000" y="1651000"/>
          <a:ext cx="10668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1846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B9546C-B7AA-4344-81E5-B3D9FC3EC59E}"/>
              </a:ext>
            </a:extLst>
          </p:cNvPr>
          <p:cNvSpPr txBox="1"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A2B4A"/>
                </a:solidFill>
                <a:latin typeface="Aptos Display"/>
              </a:rPr>
              <a:t>How we label: the judge stack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6EBC8E-2611-43DA-826C-D484C3F2BC9F}"/>
              </a:ext>
            </a:extLst>
          </p:cNvPr>
          <p:cNvSpPr/>
          <p:nvPr/>
        </p:nvSpPr>
        <p:spPr>
          <a:xfrm>
            <a:off x="762000" y="1371600"/>
            <a:ext cx="635000" cy="50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137032-7383-4D86-9111-E2103F6A3F64}"/>
              </a:ext>
            </a:extLst>
          </p:cNvPr>
          <p:cNvSpPr/>
          <p:nvPr/>
        </p:nvSpPr>
        <p:spPr>
          <a:xfrm>
            <a:off x="762000" y="1905000"/>
            <a:ext cx="2984500" cy="3937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F2937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8FF3CA-FAA5-4A63-8066-DB8866EFD96E}"/>
              </a:ext>
            </a:extLst>
          </p:cNvPr>
          <p:cNvSpPr txBox="1"/>
          <p:nvPr/>
        </p:nvSpPr>
        <p:spPr>
          <a:xfrm>
            <a:off x="952500" y="2095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>
                <a:solidFill>
                  <a:schemeClr val="bg2">
                    <a:lumMod val="25000"/>
                  </a:schemeClr>
                </a:solidFill>
              </a:rPr>
              <a:t>Main Guardrail Judge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C0C05-0D17-476F-9226-3B26F92A587E}"/>
              </a:ext>
            </a:extLst>
          </p:cNvPr>
          <p:cNvSpPr txBox="1"/>
          <p:nvPr/>
        </p:nvSpPr>
        <p:spPr>
          <a:xfrm>
            <a:off x="952500" y="2413000"/>
            <a:ext cx="254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 dirty="0"/>
              <a:t>Qwen3.5-397B-A17B (FP8)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E7E0E-34E7-401D-AEF5-5C71A75BBE7A}"/>
              </a:ext>
            </a:extLst>
          </p:cNvPr>
          <p:cNvSpPr txBox="1"/>
          <p:nvPr/>
        </p:nvSpPr>
        <p:spPr>
          <a:xfrm>
            <a:off x="952500" y="3048000"/>
            <a:ext cx="2540000" cy="14927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dirty="0"/>
              <a:t>Tool-calling verdict: {label, policies, modality}.
Policy IDs are shuffled per row so the model reads policy text instead of memorizing id → harm priors.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42BFCB-DC6C-4522-9DEB-150EA308DB83}"/>
              </a:ext>
            </a:extLst>
          </p:cNvPr>
          <p:cNvSpPr/>
          <p:nvPr/>
        </p:nvSpPr>
        <p:spPr>
          <a:xfrm>
            <a:off x="4635500" y="1905000"/>
            <a:ext cx="2984500" cy="39370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F293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75C534-AAB8-45CF-B849-A09D082D2F6F}"/>
              </a:ext>
            </a:extLst>
          </p:cNvPr>
          <p:cNvSpPr txBox="1"/>
          <p:nvPr/>
        </p:nvSpPr>
        <p:spPr>
          <a:xfrm>
            <a:off x="4826000" y="2095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>
                <a:solidFill>
                  <a:schemeClr val="bg2">
                    <a:lumMod val="25000"/>
                  </a:schemeClr>
                </a:solidFill>
              </a:rPr>
              <a:t>CROSS-CHECK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230FD7-7006-4224-9841-688F0BBDD98F}"/>
              </a:ext>
            </a:extLst>
          </p:cNvPr>
          <p:cNvSpPr txBox="1"/>
          <p:nvPr/>
        </p:nvSpPr>
        <p:spPr>
          <a:xfrm>
            <a:off x="4826000" y="2413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 dirty="0">
                <a:solidFill>
                  <a:srgbClr val="1A2B4A"/>
                </a:solidFill>
              </a:rPr>
              <a:t>Gemma-4-31B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842BAF-B5AC-4BC3-9CCA-2CFFFED0AB0B}"/>
              </a:ext>
            </a:extLst>
          </p:cNvPr>
          <p:cNvSpPr txBox="1"/>
          <p:nvPr/>
        </p:nvSpPr>
        <p:spPr>
          <a:xfrm>
            <a:off x="4826000" y="2921000"/>
            <a:ext cx="2540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374151"/>
                </a:solidFill>
              </a:rPr>
              <a:t>Different family, different bias.
Measures agreement with the 397B verdict, row by row.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0D2AFB-4E3B-471D-A1DF-3DA8E85465DD}"/>
              </a:ext>
            </a:extLst>
          </p:cNvPr>
          <p:cNvSpPr/>
          <p:nvPr/>
        </p:nvSpPr>
        <p:spPr>
          <a:xfrm>
            <a:off x="8509000" y="1905000"/>
            <a:ext cx="2984500" cy="3937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AF069D-9450-46BE-8DA6-E940721A3F9C}"/>
              </a:ext>
            </a:extLst>
          </p:cNvPr>
          <p:cNvSpPr txBox="1"/>
          <p:nvPr/>
        </p:nvSpPr>
        <p:spPr>
          <a:xfrm>
            <a:off x="8699500" y="2095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</a:rPr>
              <a:t>CROSS-CHECK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7CC75E-4E5F-4AB3-B5B6-752FEB92E0E8}"/>
              </a:ext>
            </a:extLst>
          </p:cNvPr>
          <p:cNvSpPr txBox="1"/>
          <p:nvPr/>
        </p:nvSpPr>
        <p:spPr>
          <a:xfrm>
            <a:off x="8699500" y="2413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 dirty="0">
                <a:solidFill>
                  <a:schemeClr val="bg2"/>
                </a:solidFill>
              </a:rPr>
              <a:t>Qwen3.5-4B (×5)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09B9F-5EE4-4D94-8756-7F64F1F74068}"/>
              </a:ext>
            </a:extLst>
          </p:cNvPr>
          <p:cNvSpPr txBox="1"/>
          <p:nvPr/>
        </p:nvSpPr>
        <p:spPr>
          <a:xfrm>
            <a:off x="8699500" y="2921000"/>
            <a:ext cx="2540000" cy="89255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dirty="0">
                <a:solidFill>
                  <a:schemeClr val="bg2"/>
                </a:solidFill>
              </a:rPr>
              <a:t>Same row judged 5 times.
Majority label; split votes flag ambiguous rows.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0A35B3-D05B-44FD-AF51-9D86540E88E3}"/>
              </a:ext>
            </a:extLst>
          </p:cNvPr>
          <p:cNvSpPr txBox="1"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1A2B4A"/>
                </a:solidFill>
              </a:rPr>
              <a:t>Disagreements between judges  →  human-review queue.</a:t>
            </a:r>
          </a:p>
        </p:txBody>
      </p:sp>
    </p:spTree>
    <p:extLst>
      <p:ext uri="{BB962C8B-B14F-4D97-AF65-F5344CB8AC3E}">
        <p14:creationId xmlns:p14="http://schemas.microsoft.com/office/powerpoint/2010/main" val="1546625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19EE9F-5B9A-4474-9827-EA263A97DDF9}"/>
              </a:ext>
            </a:extLst>
          </p:cNvPr>
          <p:cNvSpPr txBox="1"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2600" b="1">
                <a:solidFill>
                  <a:srgbClr val="1A2B4A"/>
                </a:solidFill>
                <a:latin typeface="Aptos Display"/>
              </a:rPr>
              <a:t>Confusion: 397B vs 4B (5-pass)</a:t>
            </a:r>
            <a:endParaRPr lang="en-US" sz="2600" b="1">
              <a:solidFill>
                <a:srgbClr val="1A2B4A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9DE482-F8A8-40E1-B95F-201999B74A9D}"/>
              </a:ext>
            </a:extLst>
          </p:cNvPr>
          <p:cNvSpPr/>
          <p:nvPr/>
        </p:nvSpPr>
        <p:spPr>
          <a:xfrm>
            <a:off x="762000" y="1168400"/>
            <a:ext cx="50800" cy="304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27A983-1274-47D7-814F-6C7AE1A176EF}"/>
              </a:ext>
            </a:extLst>
          </p:cNvPr>
          <p:cNvSpPr txBox="1"/>
          <p:nvPr/>
        </p:nvSpPr>
        <p:spPr>
          <a:xfrm>
            <a:off x="965200" y="11430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B4A"/>
                </a:solidFill>
              </a:rPr>
              <a:t>89.6% agree on diagonal — the off-diagonal 12,780 rows are what we review.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A51E5-A82D-42A9-852D-E6DA69BEA813}"/>
              </a:ext>
            </a:extLst>
          </p:cNvPr>
          <p:cNvSpPr txBox="1"/>
          <p:nvPr/>
        </p:nvSpPr>
        <p:spPr>
          <a:xfrm>
            <a:off x="3683000" y="1651000"/>
            <a:ext cx="584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6B7280"/>
                </a:solidFill>
              </a:rPr>
              <a:t>4B (5-pass)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11853D-5789-4E75-B21A-D89CCC77721D}"/>
              </a:ext>
            </a:extLst>
          </p:cNvPr>
          <p:cNvSpPr txBox="1"/>
          <p:nvPr/>
        </p:nvSpPr>
        <p:spPr>
          <a:xfrm>
            <a:off x="3683000" y="19304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B4A"/>
                </a:solidFill>
              </a:rPr>
              <a:t>predicted safe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3FF418-0043-40F7-AAD7-ABEAAC72D71D}"/>
              </a:ext>
            </a:extLst>
          </p:cNvPr>
          <p:cNvSpPr txBox="1"/>
          <p:nvPr/>
        </p:nvSpPr>
        <p:spPr>
          <a:xfrm>
            <a:off x="6604000" y="19304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2B4A"/>
                </a:solidFill>
              </a:rPr>
              <a:t>predicted unsafe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B7A97-9B07-41FD-A036-6AD1B60342E2}"/>
              </a:ext>
            </a:extLst>
          </p:cNvPr>
          <p:cNvSpPr txBox="1"/>
          <p:nvPr/>
        </p:nvSpPr>
        <p:spPr>
          <a:xfrm>
            <a:off x="2413000" y="3873500"/>
            <a:ext cx="101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6B7280"/>
                </a:solidFill>
              </a:rPr>
              <a:t>397B
(truth)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488CA-FEF4-4058-A8B9-106421A22232}"/>
              </a:ext>
            </a:extLst>
          </p:cNvPr>
          <p:cNvSpPr txBox="1"/>
          <p:nvPr/>
        </p:nvSpPr>
        <p:spPr>
          <a:xfrm>
            <a:off x="2413000" y="3048000"/>
            <a:ext cx="114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2B4A"/>
                </a:solidFill>
              </a:rPr>
              <a:t>safe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4A405C-8E2C-4CE1-AB7C-74D5DE1D4906}"/>
              </a:ext>
            </a:extLst>
          </p:cNvPr>
          <p:cNvSpPr txBox="1"/>
          <p:nvPr/>
        </p:nvSpPr>
        <p:spPr>
          <a:xfrm>
            <a:off x="2413000" y="4699000"/>
            <a:ext cx="114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2B4A"/>
                </a:solidFill>
              </a:rPr>
              <a:t>unsafe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6B88DA-6C59-40D1-99F5-1D20034721CE}"/>
              </a:ext>
            </a:extLst>
          </p:cNvPr>
          <p:cNvSpPr/>
          <p:nvPr/>
        </p:nvSpPr>
        <p:spPr>
          <a:xfrm>
            <a:off x="3683000" y="2413000"/>
            <a:ext cx="2870200" cy="1600200"/>
          </a:xfrm>
          <a:prstGeom prst="rect">
            <a:avLst/>
          </a:prstGeom>
          <a:solidFill>
            <a:srgbClr val="3F6E4F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6EA5E3-430C-46CC-A014-0ADA1E816B90}"/>
              </a:ext>
            </a:extLst>
          </p:cNvPr>
          <p:cNvSpPr txBox="1"/>
          <p:nvPr/>
        </p:nvSpPr>
        <p:spPr>
          <a:xfrm>
            <a:off x="3810000" y="2730500"/>
            <a:ext cx="266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</a:rPr>
              <a:t>50742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583FB-FC02-4617-A3CF-6EED69E2B3DE}"/>
              </a:ext>
            </a:extLst>
          </p:cNvPr>
          <p:cNvSpPr txBox="1"/>
          <p:nvPr/>
        </p:nvSpPr>
        <p:spPr>
          <a:xfrm>
            <a:off x="3810000" y="34290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</a:rPr>
              <a:t>agree (safe)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51DF9B-0528-467E-8652-EF32FE60594A}"/>
              </a:ext>
            </a:extLst>
          </p:cNvPr>
          <p:cNvSpPr/>
          <p:nvPr/>
        </p:nvSpPr>
        <p:spPr>
          <a:xfrm>
            <a:off x="6604000" y="2413000"/>
            <a:ext cx="2870200" cy="1600200"/>
          </a:xfrm>
          <a:prstGeom prst="rect">
            <a:avLst/>
          </a:prstGeom>
          <a:solidFill>
            <a:srgbClr val="B85C6A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0C92C1-BF9D-4B89-9266-E612AB73B339}"/>
              </a:ext>
            </a:extLst>
          </p:cNvPr>
          <p:cNvSpPr txBox="1"/>
          <p:nvPr/>
        </p:nvSpPr>
        <p:spPr>
          <a:xfrm>
            <a:off x="6731000" y="2730500"/>
            <a:ext cx="266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A2B4A"/>
                </a:solidFill>
              </a:rPr>
              <a:t>8825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3AE228-31BB-47B6-8F0A-600681793302}"/>
              </a:ext>
            </a:extLst>
          </p:cNvPr>
          <p:cNvSpPr txBox="1"/>
          <p:nvPr/>
        </p:nvSpPr>
        <p:spPr>
          <a:xfrm>
            <a:off x="6731000" y="34290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B4A"/>
                </a:solidFill>
              </a:rPr>
              <a:t>397B safe → 4B unsafe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47353C-E81F-4953-A015-D7058D128D37}"/>
              </a:ext>
            </a:extLst>
          </p:cNvPr>
          <p:cNvSpPr/>
          <p:nvPr/>
        </p:nvSpPr>
        <p:spPr>
          <a:xfrm>
            <a:off x="3683000" y="4064000"/>
            <a:ext cx="2870200" cy="1600200"/>
          </a:xfrm>
          <a:prstGeom prst="rect">
            <a:avLst/>
          </a:prstGeom>
          <a:solidFill>
            <a:srgbClr val="B85C6A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E10D37-1885-4EDE-BAFB-3D9B645B278D}"/>
              </a:ext>
            </a:extLst>
          </p:cNvPr>
          <p:cNvSpPr txBox="1"/>
          <p:nvPr/>
        </p:nvSpPr>
        <p:spPr>
          <a:xfrm>
            <a:off x="3810000" y="4381500"/>
            <a:ext cx="266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A2B4A"/>
                </a:solidFill>
              </a:rPr>
              <a:t>3955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3D033E-559B-432D-AB3A-4B4B26895276}"/>
              </a:ext>
            </a:extLst>
          </p:cNvPr>
          <p:cNvSpPr txBox="1"/>
          <p:nvPr/>
        </p:nvSpPr>
        <p:spPr>
          <a:xfrm>
            <a:off x="3810000" y="50800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B4A"/>
                </a:solidFill>
              </a:rPr>
              <a:t>397B unsafe → 4B safe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245CF9-C2A7-4FE6-A70B-3CE02581B6EA}"/>
              </a:ext>
            </a:extLst>
          </p:cNvPr>
          <p:cNvSpPr/>
          <p:nvPr/>
        </p:nvSpPr>
        <p:spPr>
          <a:xfrm>
            <a:off x="6604000" y="4064000"/>
            <a:ext cx="2870200" cy="1600200"/>
          </a:xfrm>
          <a:prstGeom prst="rect">
            <a:avLst/>
          </a:prstGeom>
          <a:solidFill>
            <a:srgbClr val="3F6E4F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5C2739-CC11-406E-845F-66FBBDA57468}"/>
              </a:ext>
            </a:extLst>
          </p:cNvPr>
          <p:cNvSpPr txBox="1"/>
          <p:nvPr/>
        </p:nvSpPr>
        <p:spPr>
          <a:xfrm>
            <a:off x="6731000" y="4381500"/>
            <a:ext cx="266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</a:rPr>
              <a:t>59245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748160-3348-4437-8CF4-2672C1C6F065}"/>
              </a:ext>
            </a:extLst>
          </p:cNvPr>
          <p:cNvSpPr txBox="1"/>
          <p:nvPr/>
        </p:nvSpPr>
        <p:spPr>
          <a:xfrm>
            <a:off x="6731000" y="50800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</a:rPr>
              <a:t>agree (unsafe)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B790D1-1627-4CAD-A41D-0A029E33A8CF}"/>
              </a:ext>
            </a:extLst>
          </p:cNvPr>
          <p:cNvSpPr txBox="1"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280"/>
                </a:solidFill>
              </a:rPr>
              <a:t>Decided rows only: 122,767 total. Diagonal = agreement; off-diagonal = human-review queue.</a:t>
            </a:r>
          </a:p>
        </p:txBody>
      </p:sp>
    </p:spTree>
    <p:extLst>
      <p:ext uri="{BB962C8B-B14F-4D97-AF65-F5344CB8AC3E}">
        <p14:creationId xmlns:p14="http://schemas.microsoft.com/office/powerpoint/2010/main" val="2717733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D3CE83-DCA9-4DD3-8FC4-F4E0F8A7FAD6}"/>
              </a:ext>
            </a:extLst>
          </p:cNvPr>
          <p:cNvSpPr txBox="1"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B4A"/>
                </a:solidFill>
                <a:latin typeface="Aptos Display"/>
              </a:rPr>
              <a:t>Pass-of-5: method +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9ADDD8-C571-452F-88C3-22177C1B02D7}"/>
              </a:ext>
            </a:extLst>
          </p:cNvPr>
          <p:cNvSpPr/>
          <p:nvPr/>
        </p:nvSpPr>
        <p:spPr>
          <a:xfrm>
            <a:off x="762000" y="1168400"/>
            <a:ext cx="50800" cy="304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5C0CA-01E0-4F6B-A4DC-7CA01C25F5F4}"/>
              </a:ext>
            </a:extLst>
          </p:cNvPr>
          <p:cNvSpPr txBox="1"/>
          <p:nvPr/>
        </p:nvSpPr>
        <p:spPr>
          <a:xfrm>
            <a:off x="965200" y="1143000"/>
            <a:ext cx="1041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 dirty="0">
                <a:solidFill>
                  <a:srgbClr val="1A2B4A"/>
                </a:solidFill>
              </a:rPr>
              <a:t>78.7% unanimous votes; mean consistency 0.94 — labels are stable run-to-run.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2363B1-A721-4D65-9E46-601E531EA8CC}"/>
              </a:ext>
            </a:extLst>
          </p:cNvPr>
          <p:cNvSpPr/>
          <p:nvPr/>
        </p:nvSpPr>
        <p:spPr>
          <a:xfrm>
            <a:off x="762000" y="1841500"/>
            <a:ext cx="4064000" cy="38735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F293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C96F80-BE9F-4E20-A3FB-55E7D07C5AE4}"/>
              </a:ext>
            </a:extLst>
          </p:cNvPr>
          <p:cNvSpPr txBox="1"/>
          <p:nvPr/>
        </p:nvSpPr>
        <p:spPr>
          <a:xfrm>
            <a:off x="990600" y="20320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6B7280"/>
                </a:solidFill>
              </a:rPr>
              <a:t>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E67BE-659F-4135-B309-406C714BA3B0}"/>
              </a:ext>
            </a:extLst>
          </p:cNvPr>
          <p:cNvSpPr txBox="1"/>
          <p:nvPr/>
        </p:nvSpPr>
        <p:spPr>
          <a:xfrm>
            <a:off x="990600" y="2387600"/>
            <a:ext cx="3683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1A2B4A"/>
                </a:solidFill>
              </a:rPr>
              <a:t>•  Judge each row 5 independent times.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3A1CFE-8936-4F45-B79D-5FB747F83A32}"/>
              </a:ext>
            </a:extLst>
          </p:cNvPr>
          <p:cNvSpPr txBox="1"/>
          <p:nvPr/>
        </p:nvSpPr>
        <p:spPr>
          <a:xfrm>
            <a:off x="990600" y="2819400"/>
            <a:ext cx="3683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1A2B4A"/>
                </a:solidFill>
              </a:rPr>
              <a:t>•  Take the majority label.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37F822-733C-46F5-9EBB-3B15E2A31902}"/>
              </a:ext>
            </a:extLst>
          </p:cNvPr>
          <p:cNvSpPr txBox="1"/>
          <p:nvPr/>
        </p:nvSpPr>
        <p:spPr>
          <a:xfrm>
            <a:off x="990600" y="3251200"/>
            <a:ext cx="3683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2B4A"/>
                </a:solidFill>
              </a:rPr>
              <a:t>•  Track vote consistency + mean confidence per row.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10C037-0A6E-44A5-8846-F77858F0422E}"/>
              </a:ext>
            </a:extLst>
          </p:cNvPr>
          <p:cNvSpPr txBox="1"/>
          <p:nvPr/>
        </p:nvSpPr>
        <p:spPr>
          <a:xfrm>
            <a:off x="990600" y="3860800"/>
            <a:ext cx="3683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2B4A"/>
                </a:solidFill>
              </a:rPr>
              <a:t>•  Split votes (3-2 / 2-3) auto-flag ambiguous rows for review.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46D20C-E31E-4326-B449-6C54F638CB4E}"/>
              </a:ext>
            </a:extLst>
          </p:cNvPr>
          <p:cNvSpPr txBox="1"/>
          <p:nvPr/>
        </p:nvSpPr>
        <p:spPr>
          <a:xfrm>
            <a:off x="990600" y="4648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6B7280"/>
                </a:solidFill>
              </a:rPr>
              <a:t>RESULT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B58A5E-A37C-4C72-9ED7-0E65FF5B5290}"/>
              </a:ext>
            </a:extLst>
          </p:cNvPr>
          <p:cNvSpPr txBox="1"/>
          <p:nvPr/>
        </p:nvSpPr>
        <p:spPr>
          <a:xfrm>
            <a:off x="990600" y="4978400"/>
            <a:ext cx="3683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>
                <a:solidFill>
                  <a:srgbClr val="2C5F8D"/>
                </a:solidFill>
              </a:rPr>
              <a:t>78.7% unanimous   ·   mean consistency 0.94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33504A-9474-4078-84FC-1EF6E95601C3}"/>
              </a:ext>
            </a:extLst>
          </p:cNvPr>
          <p:cNvSpPr txBox="1"/>
          <p:nvPr/>
        </p:nvSpPr>
        <p:spPr>
          <a:xfrm>
            <a:off x="762000" y="6096000"/>
            <a:ext cx="1066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300" dirty="0">
                <a:solidFill>
                  <a:srgbClr val="6B7280"/>
                </a:solidFill>
              </a:rPr>
              <a:t>Vote split = (</a:t>
            </a:r>
            <a:r>
              <a:rPr lang="en-US" sz="1300" dirty="0" err="1">
                <a:solidFill>
                  <a:srgbClr val="6B7280"/>
                </a:solidFill>
              </a:rPr>
              <a:t>n_safe</a:t>
            </a:r>
            <a:r>
              <a:rPr lang="en-US" sz="1300" dirty="0">
                <a:solidFill>
                  <a:srgbClr val="6B7280"/>
                </a:solidFill>
              </a:rPr>
              <a:t>, </a:t>
            </a:r>
            <a:r>
              <a:rPr lang="en-US" sz="1300" dirty="0" err="1">
                <a:solidFill>
                  <a:srgbClr val="6B7280"/>
                </a:solidFill>
              </a:rPr>
              <a:t>n_unsafe</a:t>
            </a:r>
            <a:r>
              <a:rPr lang="en-US" sz="1300" dirty="0">
                <a:solidFill>
                  <a:srgbClr val="6B7280"/>
                </a:solidFill>
              </a:rPr>
              <a:t>) across 5 passes. Unanimous = 0-5 + 5-0 + 0-4 + 4-0 = 100477 rows (78.7%).</a:t>
            </a:r>
          </a:p>
        </p:txBody>
      </p:sp>
      <p:graphicFrame>
        <p:nvGraphicFramePr>
          <p:cNvPr id="101" name="Chart1"/>
          <p:cNvGraphicFramePr/>
          <p:nvPr>
            <p:extLst>
              <p:ext uri="{D42A27DB-BD31-4B8C-83A1-F6EECF244321}">
                <p14:modId xmlns:p14="http://schemas.microsoft.com/office/powerpoint/2010/main" val="1390049972"/>
              </p:ext>
            </p:extLst>
          </p:nvPr>
        </p:nvGraphicFramePr>
        <p:xfrm>
          <a:off x="5164841" y="1841500"/>
          <a:ext cx="6350000" cy="387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C8ACD69-FCF5-FC18-923B-07430BF07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587141"/>
              </p:ext>
            </p:extLst>
          </p:nvPr>
        </p:nvGraphicFramePr>
        <p:xfrm>
          <a:off x="9425494" y="2044700"/>
          <a:ext cx="195370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853">
                  <a:extLst>
                    <a:ext uri="{9D8B030D-6E8A-4147-A177-3AD203B41FA5}">
                      <a16:colId xmlns:a16="http://schemas.microsoft.com/office/drawing/2014/main" val="805932096"/>
                    </a:ext>
                  </a:extLst>
                </a:gridCol>
                <a:gridCol w="976853">
                  <a:extLst>
                    <a:ext uri="{9D8B030D-6E8A-4147-A177-3AD203B41FA5}">
                      <a16:colId xmlns:a16="http://schemas.microsoft.com/office/drawing/2014/main" val="281752949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1100" dirty="0"/>
                        <a:t>Difficulty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What is in that.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85207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100" dirty="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1A2B4A"/>
                          </a:solidFill>
                        </a:rPr>
                        <a:t>5:0, 4:0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36115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100" dirty="0"/>
                        <a:t>Intermediate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1A2B4A"/>
                          </a:solidFill>
                        </a:rPr>
                        <a:t>4:1, 3:1, 3:0, 2:0, 1:0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4931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100" dirty="0"/>
                        <a:t>Hard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1A2B4A"/>
                          </a:solidFill>
                        </a:rPr>
                        <a:t>3:2, 2:2, 2:1, 1:1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47277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100" dirty="0"/>
                        <a:t>Undecided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0:0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86505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FC3C553-6FCE-2674-CDFE-9B8373B25273}"/>
              </a:ext>
            </a:extLst>
          </p:cNvPr>
          <p:cNvSpPr txBox="1"/>
          <p:nvPr/>
        </p:nvSpPr>
        <p:spPr>
          <a:xfrm>
            <a:off x="5164841" y="1985191"/>
            <a:ext cx="1525814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1A2B4A"/>
                </a:solidFill>
              </a:rPr>
              <a:t>42356 : 58121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70FD5F-C67E-7432-5DA5-F85A3D23E144}"/>
              </a:ext>
            </a:extLst>
          </p:cNvPr>
          <p:cNvSpPr txBox="1"/>
          <p:nvPr/>
        </p:nvSpPr>
        <p:spPr>
          <a:xfrm>
            <a:off x="6303298" y="4257256"/>
            <a:ext cx="1169851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1A2B4A"/>
                </a:solidFill>
              </a:rPr>
              <a:t>8567 : 8117</a:t>
            </a:r>
          </a:p>
        </p:txBody>
      </p:sp>
    </p:spTree>
    <p:extLst>
      <p:ext uri="{BB962C8B-B14F-4D97-AF65-F5344CB8AC3E}">
        <p14:creationId xmlns:p14="http://schemas.microsoft.com/office/powerpoint/2010/main" val="836100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26B5E4-5175-4E3A-80D3-94D06F41F15C}"/>
              </a:ext>
            </a:extLst>
          </p:cNvPr>
          <p:cNvSpPr txBox="1"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B4A"/>
                </a:solidFill>
                <a:latin typeface="Aptos Display"/>
              </a:rPr>
              <a:t>Multi-judge agreement (vs 397B)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A6E121-DB7A-4CDA-BBF4-6FB0E25A80DC}"/>
              </a:ext>
            </a:extLst>
          </p:cNvPr>
          <p:cNvSpPr/>
          <p:nvPr/>
        </p:nvSpPr>
        <p:spPr>
          <a:xfrm>
            <a:off x="762000" y="1168400"/>
            <a:ext cx="50800" cy="304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7EA642-9B21-44CA-BBD6-8EFD9EEA604C}"/>
              </a:ext>
            </a:extLst>
          </p:cNvPr>
          <p:cNvSpPr txBox="1"/>
          <p:nvPr/>
        </p:nvSpPr>
        <p:spPr>
          <a:xfrm>
            <a:off x="965200" y="11430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B4A"/>
                </a:solidFill>
              </a:rPr>
              <a:t>Strong consensus on labels — both judges agree with the 397B on ≥90% of decided rows.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20497-F352-49B8-A2C3-E66CAA236EB6}"/>
              </a:ext>
            </a:extLst>
          </p:cNvPr>
          <p:cNvSpPr txBox="1"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7280"/>
                </a:solidFill>
              </a:rPr>
              <a:t>Gemma-4-31B: 117,647 / 123,325 decided rows agree   ·   Qwen3.5-4B (5-pass): 109,987 / 122,767.</a:t>
            </a:r>
          </a:p>
        </p:txBody>
      </p:sp>
      <p:graphicFrame>
        <p:nvGraphicFramePr>
          <p:cNvPr id="101" name="Chart1"/>
          <p:cNvGraphicFramePr/>
          <p:nvPr/>
        </p:nvGraphicFramePr>
        <p:xfrm>
          <a:off x="2286000" y="1778000"/>
          <a:ext cx="7620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34858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6B0142-8E86-EDDB-C054-8E2BA33B9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78" y="2021103"/>
            <a:ext cx="5387825" cy="28157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F29F46-20B2-FEB8-F1C5-83516D2A6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21103"/>
            <a:ext cx="5697218" cy="281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76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964295-BB4F-454A-95DA-49128E230693}"/>
              </a:ext>
            </a:extLst>
          </p:cNvPr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600" b="1">
                <a:solidFill>
                  <a:srgbClr val="1A2B4A"/>
                </a:solidFill>
                <a:latin typeface="Aptos Display"/>
              </a:rPr>
              <a:t>Data hygiene: dedup &amp; noise augmentation</a:t>
            </a:r>
            <a:endParaRPr lang="en-US" sz="2600" b="1">
              <a:solidFill>
                <a:srgbClr val="1A2B4A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D573B7-AD08-419B-9579-37469EE3B241}"/>
              </a:ext>
            </a:extLst>
          </p:cNvPr>
          <p:cNvSpPr/>
          <p:nvPr/>
        </p:nvSpPr>
        <p:spPr>
          <a:xfrm>
            <a:off x="762000" y="1295400"/>
            <a:ext cx="635000" cy="50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5415AA-0A73-4427-89BD-2D0F8DE1535B}"/>
              </a:ext>
            </a:extLst>
          </p:cNvPr>
          <p:cNvSpPr txBox="1"/>
          <p:nvPr/>
        </p:nvSpPr>
        <p:spPr>
          <a:xfrm>
            <a:off x="762000" y="14732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1F2937"/>
                </a:solidFill>
              </a:rPr>
              <a:t>Byte-hash + prompt cosine ≥ 0.93 removed ~6k near-duplicates; 50k unique images underlie 127k rows.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991F7C-3DB7-4E96-BC8A-58B201050509}"/>
              </a:ext>
            </a:extLst>
          </p:cNvPr>
          <p:cNvSpPr/>
          <p:nvPr/>
        </p:nvSpPr>
        <p:spPr>
          <a:xfrm>
            <a:off x="762000" y="2032000"/>
            <a:ext cx="5207000" cy="37465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F2937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44449F-14E5-4579-BC80-FDD559ED002D}"/>
              </a:ext>
            </a:extLst>
          </p:cNvPr>
          <p:cNvSpPr/>
          <p:nvPr/>
        </p:nvSpPr>
        <p:spPr>
          <a:xfrm>
            <a:off x="762000" y="2032000"/>
            <a:ext cx="76200" cy="3746500"/>
          </a:xfrm>
          <a:prstGeom prst="rect">
            <a:avLst/>
          </a:prstGeom>
          <a:solidFill>
            <a:srgbClr val="2C5F8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74FE9-07D8-4C0A-A4A4-7A4609FFA1DF}"/>
              </a:ext>
            </a:extLst>
          </p:cNvPr>
          <p:cNvSpPr txBox="1"/>
          <p:nvPr/>
        </p:nvSpPr>
        <p:spPr>
          <a:xfrm>
            <a:off x="1016000" y="21844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2B4A"/>
                </a:solidFill>
              </a:rPr>
              <a:t>Image deduplication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74DE47-D81D-41B7-BA01-E1DF5452376A}"/>
              </a:ext>
            </a:extLst>
          </p:cNvPr>
          <p:cNvSpPr/>
          <p:nvPr/>
        </p:nvSpPr>
        <p:spPr>
          <a:xfrm>
            <a:off x="1016000" y="2667000"/>
            <a:ext cx="381000" cy="279400"/>
          </a:xfrm>
          <a:prstGeom prst="rect">
            <a:avLst/>
          </a:prstGeom>
          <a:solidFill>
            <a:srgbClr val="2C5F8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EEEE80-C3B0-44BD-A2A3-EB0A1006E124}"/>
              </a:ext>
            </a:extLst>
          </p:cNvPr>
          <p:cNvSpPr txBox="1"/>
          <p:nvPr/>
        </p:nvSpPr>
        <p:spPr>
          <a:xfrm>
            <a:off x="1524000" y="2641600"/>
            <a:ext cx="431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374151"/>
                </a:solidFill>
              </a:rPr>
              <a:t>Hash image bytes; group rows that share a hash.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076D72-2693-4AD7-8EF0-6017195D343A}"/>
              </a:ext>
            </a:extLst>
          </p:cNvPr>
          <p:cNvSpPr/>
          <p:nvPr/>
        </p:nvSpPr>
        <p:spPr>
          <a:xfrm>
            <a:off x="1028700" y="3276600"/>
            <a:ext cx="381000" cy="279400"/>
          </a:xfrm>
          <a:prstGeom prst="rect">
            <a:avLst/>
          </a:prstGeom>
          <a:solidFill>
            <a:srgbClr val="2C5F8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84C08F-166E-42C3-816D-B32A4CD24690}"/>
              </a:ext>
            </a:extLst>
          </p:cNvPr>
          <p:cNvSpPr txBox="1"/>
          <p:nvPr/>
        </p:nvSpPr>
        <p:spPr>
          <a:xfrm>
            <a:off x="1536700" y="3251200"/>
            <a:ext cx="431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374151"/>
                </a:solidFill>
              </a:rPr>
              <a:t>Embed each group's text prompts with a small encoder.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85417C-2F35-4D03-B70F-5A6C947C7914}"/>
              </a:ext>
            </a:extLst>
          </p:cNvPr>
          <p:cNvSpPr/>
          <p:nvPr/>
        </p:nvSpPr>
        <p:spPr>
          <a:xfrm>
            <a:off x="1028700" y="3898900"/>
            <a:ext cx="381000" cy="279400"/>
          </a:xfrm>
          <a:prstGeom prst="rect">
            <a:avLst/>
          </a:prstGeom>
          <a:solidFill>
            <a:srgbClr val="2C5F8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810AB5-6ED7-47D3-9AC6-717A9888CDD9}"/>
              </a:ext>
            </a:extLst>
          </p:cNvPr>
          <p:cNvSpPr txBox="1"/>
          <p:nvPr/>
        </p:nvSpPr>
        <p:spPr>
          <a:xfrm>
            <a:off x="1536700" y="3873500"/>
            <a:ext cx="431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dirty="0">
                <a:solidFill>
                  <a:srgbClr val="374151"/>
                </a:solidFill>
              </a:rPr>
              <a:t>Pairwise cosine ≥ 0.93 → same question on same image → drop the duplicate.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05FDDD-1F7A-40A2-9332-B95BAF8F9121}"/>
              </a:ext>
            </a:extLst>
          </p:cNvPr>
          <p:cNvSpPr txBox="1"/>
          <p:nvPr/>
        </p:nvSpPr>
        <p:spPr>
          <a:xfrm>
            <a:off x="1016000" y="52451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A2B4A"/>
                </a:solidFill>
              </a:rPr>
              <a:t>Result: ~6,000 rows removed → 127k rows / 50k unique images.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62D20B-23EC-4DF7-A71B-6267C51EDF83}"/>
              </a:ext>
            </a:extLst>
          </p:cNvPr>
          <p:cNvSpPr/>
          <p:nvPr/>
        </p:nvSpPr>
        <p:spPr>
          <a:xfrm>
            <a:off x="6223000" y="2032000"/>
            <a:ext cx="5207000" cy="37465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F2937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C3D18-9245-40D0-A163-D79BB6599E1F}"/>
              </a:ext>
            </a:extLst>
          </p:cNvPr>
          <p:cNvSpPr/>
          <p:nvPr/>
        </p:nvSpPr>
        <p:spPr>
          <a:xfrm>
            <a:off x="6223000" y="2032000"/>
            <a:ext cx="76200" cy="3746500"/>
          </a:xfrm>
          <a:prstGeom prst="rect">
            <a:avLst/>
          </a:prstGeom>
          <a:solidFill>
            <a:srgbClr val="5A8A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C4E7F5-9703-4908-977A-249CF2AD776F}"/>
              </a:ext>
            </a:extLst>
          </p:cNvPr>
          <p:cNvSpPr txBox="1"/>
          <p:nvPr/>
        </p:nvSpPr>
        <p:spPr>
          <a:xfrm>
            <a:off x="6477000" y="21844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1A2B4A"/>
                </a:solidFill>
              </a:rPr>
              <a:t>Noise augmentation on plain images</a:t>
            </a:r>
            <a:endParaRPr lang="en-US" sz="1600" b="1">
              <a:solidFill>
                <a:srgbClr val="1A2B4A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02E452-593B-4EF1-9C51-793B980AD2C8}"/>
              </a:ext>
            </a:extLst>
          </p:cNvPr>
          <p:cNvSpPr/>
          <p:nvPr/>
        </p:nvSpPr>
        <p:spPr>
          <a:xfrm>
            <a:off x="6223000" y="2032000"/>
            <a:ext cx="5207000" cy="37465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F2937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20D988-832F-40F2-BD1B-919DBBECADC7}"/>
              </a:ext>
            </a:extLst>
          </p:cNvPr>
          <p:cNvSpPr/>
          <p:nvPr/>
        </p:nvSpPr>
        <p:spPr>
          <a:xfrm>
            <a:off x="6223000" y="2032000"/>
            <a:ext cx="76200" cy="3746500"/>
          </a:xfrm>
          <a:prstGeom prst="rect">
            <a:avLst/>
          </a:prstGeom>
          <a:solidFill>
            <a:srgbClr val="5A8A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BB7C4E-A80A-46A5-8C3B-928D15803BE2}"/>
              </a:ext>
            </a:extLst>
          </p:cNvPr>
          <p:cNvSpPr txBox="1"/>
          <p:nvPr/>
        </p:nvSpPr>
        <p:spPr>
          <a:xfrm>
            <a:off x="6477000" y="21844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600" b="1">
                <a:solidFill>
                  <a:srgbClr val="1A2B4A"/>
                </a:solidFill>
              </a:rPr>
              <a:t>Noise augmentation on plain images</a:t>
            </a:r>
            <a:endParaRPr lang="en-US" sz="1600" b="1">
              <a:solidFill>
                <a:srgbClr val="1A2B4A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14FFCF-F969-42BF-96AA-D72198D1126F}"/>
              </a:ext>
            </a:extLst>
          </p:cNvPr>
          <p:cNvSpPr txBox="1"/>
          <p:nvPr/>
        </p:nvSpPr>
        <p:spPr>
          <a:xfrm>
            <a:off x="6527800" y="2730500"/>
            <a:ext cx="4775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dirty="0">
                <a:solidFill>
                  <a:srgbClr val="374151"/>
                </a:solidFill>
              </a:rPr>
              <a:t>•   Added light Gaussian noise to plain-white / near-blank images before training.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A89C48-FF8E-44DF-98B3-B9157525D601}"/>
              </a:ext>
            </a:extLst>
          </p:cNvPr>
          <p:cNvSpPr txBox="1"/>
          <p:nvPr/>
        </p:nvSpPr>
        <p:spPr>
          <a:xfrm>
            <a:off x="6527800" y="3321050"/>
            <a:ext cx="4775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dirty="0">
                <a:solidFill>
                  <a:srgbClr val="374151"/>
                </a:solidFill>
              </a:rPr>
              <a:t>•   Reason: Our SFT Model needs to be prone to noise, and hence would be a good addition to the Train DS.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DA8360-057C-4B1E-995E-59201CF16F08}"/>
              </a:ext>
            </a:extLst>
          </p:cNvPr>
          <p:cNvSpPr txBox="1"/>
          <p:nvPr/>
        </p:nvSpPr>
        <p:spPr>
          <a:xfrm>
            <a:off x="762000" y="60706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374151"/>
                </a:solidFill>
              </a:rPr>
              <a:t>Both steps run before the judge stack — every downstream number (label balance, policy coverage, agreement) is on the cleaned corpus.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C8B24-F03A-CE4E-E1DC-436E6795B146}"/>
              </a:ext>
            </a:extLst>
          </p:cNvPr>
          <p:cNvSpPr/>
          <p:nvPr/>
        </p:nvSpPr>
        <p:spPr>
          <a:xfrm>
            <a:off x="1028700" y="4606834"/>
            <a:ext cx="381000" cy="279400"/>
          </a:xfrm>
          <a:prstGeom prst="rect">
            <a:avLst/>
          </a:prstGeom>
          <a:solidFill>
            <a:srgbClr val="2C5F8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04	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0F263-0F39-149A-4A1A-748DE3212006}"/>
              </a:ext>
            </a:extLst>
          </p:cNvPr>
          <p:cNvSpPr txBox="1"/>
          <p:nvPr/>
        </p:nvSpPr>
        <p:spPr>
          <a:xfrm>
            <a:off x="1536700" y="4581434"/>
            <a:ext cx="431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dirty="0">
                <a:solidFill>
                  <a:srgbClr val="374151"/>
                </a:solidFill>
              </a:rPr>
              <a:t>Paraphrased ~30k prompts to have questions column to be completely unique.</a:t>
            </a:r>
          </a:p>
        </p:txBody>
      </p:sp>
    </p:spTree>
    <p:extLst>
      <p:ext uri="{BB962C8B-B14F-4D97-AF65-F5344CB8AC3E}">
        <p14:creationId xmlns:p14="http://schemas.microsoft.com/office/powerpoint/2010/main" val="282414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17230F-C280-438E-812F-F324A1D51898}"/>
              </a:ext>
            </a:extLst>
          </p:cNvPr>
          <p:cNvSpPr txBox="1"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A2B4A"/>
                </a:solidFill>
                <a:latin typeface="Aptos Display"/>
              </a:rPr>
              <a:t>Synthetic data: the idea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61313A-63D2-4F61-A988-3600DE151188}"/>
              </a:ext>
            </a:extLst>
          </p:cNvPr>
          <p:cNvSpPr/>
          <p:nvPr/>
        </p:nvSpPr>
        <p:spPr>
          <a:xfrm>
            <a:off x="762000" y="1371600"/>
            <a:ext cx="635000" cy="50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466C41-E56E-49CD-BEFF-9ADF0047E63B}"/>
              </a:ext>
            </a:extLst>
          </p:cNvPr>
          <p:cNvSpPr/>
          <p:nvPr/>
        </p:nvSpPr>
        <p:spPr>
          <a:xfrm>
            <a:off x="762000" y="1841500"/>
            <a:ext cx="10668000" cy="889000"/>
          </a:xfrm>
          <a:prstGeom prst="rect">
            <a:avLst/>
          </a:prstGeom>
          <a:solidFill>
            <a:srgbClr val="FBEB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F293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52D48E-99FC-474C-8219-0046AC1C2097}"/>
              </a:ext>
            </a:extLst>
          </p:cNvPr>
          <p:cNvSpPr/>
          <p:nvPr/>
        </p:nvSpPr>
        <p:spPr>
          <a:xfrm>
            <a:off x="762000" y="1841500"/>
            <a:ext cx="63500" cy="8890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8B658-4AB9-48C5-BD77-AA18D6D9831B}"/>
              </a:ext>
            </a:extLst>
          </p:cNvPr>
          <p:cNvSpPr txBox="1"/>
          <p:nvPr/>
        </p:nvSpPr>
        <p:spPr>
          <a:xfrm>
            <a:off x="1016000" y="1968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C8364D"/>
                </a:solidFill>
              </a:rPr>
              <a:t>GOAL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49E4FF-FF26-4C05-8E2B-B18C7295CE07}"/>
              </a:ext>
            </a:extLst>
          </p:cNvPr>
          <p:cNvSpPr txBox="1"/>
          <p:nvPr/>
        </p:nvSpPr>
        <p:spPr>
          <a:xfrm>
            <a:off x="990600" y="2229535"/>
            <a:ext cx="1016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1A2B4A"/>
                </a:solidFill>
              </a:rPr>
              <a:t>COMPOSITIONAL harm — image benign alone, text benign alone, but the PAIR is unsafe.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F44D5A-1097-4096-9419-5AB092AC37E9}"/>
              </a:ext>
            </a:extLst>
          </p:cNvPr>
          <p:cNvSpPr txBox="1"/>
          <p:nvPr/>
        </p:nvSpPr>
        <p:spPr>
          <a:xfrm>
            <a:off x="762000" y="29845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 dirty="0">
                <a:solidFill>
                  <a:srgbClr val="1A2B4A"/>
                </a:solidFill>
              </a:rPr>
              <a:t>Policy = P5 (Platform Anti-Abuse)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F13C84-9FFA-423F-8AFD-167641F32261}"/>
              </a:ext>
            </a:extLst>
          </p:cNvPr>
          <p:cNvSpPr txBox="1"/>
          <p:nvPr/>
        </p:nvSpPr>
        <p:spPr>
          <a:xfrm>
            <a:off x="762000" y="3390900"/>
            <a:ext cx="1066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74151"/>
                </a:solidFill>
              </a:rPr>
              <a:t>15,000 CAPTCHA images:  reCAPTCHA 7,069   ·   BotDetect 7,069   ·   OpenCaptchaWorld 862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86E9A-CA47-4937-B973-FF76CCD6072E}"/>
              </a:ext>
            </a:extLst>
          </p:cNvPr>
          <p:cNvSpPr txBox="1"/>
          <p:nvPr/>
        </p:nvSpPr>
        <p:spPr>
          <a:xfrm>
            <a:off x="762000" y="4064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6B7280"/>
                </a:solidFill>
              </a:rPr>
              <a:t>Worked example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05A1CA-A162-470F-9829-74266AC3E81A}"/>
              </a:ext>
            </a:extLst>
          </p:cNvPr>
          <p:cNvSpPr/>
          <p:nvPr/>
        </p:nvSpPr>
        <p:spPr>
          <a:xfrm>
            <a:off x="762000" y="4445000"/>
            <a:ext cx="10668000" cy="13970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F2937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D0E30F-7E71-4B70-9F13-2068D3380D76}"/>
              </a:ext>
            </a:extLst>
          </p:cNvPr>
          <p:cNvSpPr txBox="1"/>
          <p:nvPr/>
        </p:nvSpPr>
        <p:spPr>
          <a:xfrm>
            <a:off x="990600" y="4622800"/>
            <a:ext cx="10287000" cy="61555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600" dirty="0">
                <a:solidFill>
                  <a:srgbClr val="1A2B4A"/>
                </a:solidFill>
              </a:rPr>
              <a:t>Image:  a CAPTCHA  ·  Text:  “</a:t>
            </a:r>
            <a:r>
              <a:rPr lang="en-US" dirty="0"/>
              <a:t>What does the code shown in this image say?”</a:t>
            </a:r>
          </a:p>
          <a:p>
            <a:pPr algn="l"/>
            <a:endParaRPr lang="en-US" sz="1600" dirty="0">
              <a:solidFill>
                <a:srgbClr val="1A2B4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03052C-8DA4-470A-A0E0-939D10E4C55E}"/>
              </a:ext>
            </a:extLst>
          </p:cNvPr>
          <p:cNvSpPr txBox="1"/>
          <p:nvPr/>
        </p:nvSpPr>
        <p:spPr>
          <a:xfrm>
            <a:off x="1397000" y="4927600"/>
            <a:ext cx="990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i="1">
                <a:solidFill>
                  <a:srgbClr val="374151"/>
                </a:solidFill>
              </a:rPr>
              <a:t>Solving a CAPTCHA = anti-abuse circumvention (P5). Neither modality is unsafe alone — the pair is.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350480-5A5C-4CD2-A7F8-4DCD2A4FEA00}"/>
              </a:ext>
            </a:extLst>
          </p:cNvPr>
          <p:cNvSpPr txBox="1"/>
          <p:nvPr/>
        </p:nvSpPr>
        <p:spPr>
          <a:xfrm>
            <a:off x="990600" y="53594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6B7280"/>
                </a:solidFill>
              </a:rPr>
              <a:t>This is the exact pattern a text-only guardrail will pass through.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8A9D89-EFEA-E41B-12B8-BDD1DBA34F3E}"/>
              </a:ext>
            </a:extLst>
          </p:cNvPr>
          <p:cNvSpPr txBox="1"/>
          <p:nvPr/>
        </p:nvSpPr>
        <p:spPr>
          <a:xfrm>
            <a:off x="672737" y="1485900"/>
            <a:ext cx="1016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1A2B4A"/>
                </a:solidFill>
              </a:rPr>
              <a:t>In the modality being harmful – so far 84% harm is from Text, while only 12% is from Composite.</a:t>
            </a:r>
          </a:p>
        </p:txBody>
      </p:sp>
    </p:spTree>
    <p:extLst>
      <p:ext uri="{BB962C8B-B14F-4D97-AF65-F5344CB8AC3E}">
        <p14:creationId xmlns:p14="http://schemas.microsoft.com/office/powerpoint/2010/main" val="4213663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57AE9F-70C0-491B-808E-1F5CC6609C97}"/>
              </a:ext>
            </a:extLst>
          </p:cNvPr>
          <p:cNvSpPr txBox="1"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B4A"/>
                </a:solidFill>
                <a:latin typeface="Aptos Display"/>
              </a:rPr>
              <a:t>Synthetic pipeline +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F54AE5-3865-4CEA-AE31-C93E0656565F}"/>
              </a:ext>
            </a:extLst>
          </p:cNvPr>
          <p:cNvSpPr/>
          <p:nvPr/>
        </p:nvSpPr>
        <p:spPr>
          <a:xfrm>
            <a:off x="762000" y="1168400"/>
            <a:ext cx="50800" cy="304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83CC1-2372-43E1-8908-C39B6F6E70E7}"/>
              </a:ext>
            </a:extLst>
          </p:cNvPr>
          <p:cNvSpPr txBox="1"/>
          <p:nvPr/>
        </p:nvSpPr>
        <p:spPr>
          <a:xfrm>
            <a:off x="965200" y="11430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B4A"/>
                </a:solidFill>
              </a:rPr>
              <a:t>14,996 candidates → 2,895 kept (19.3%). Two gates do the filtering.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12B467-6A99-4B00-BD80-F56BEB397501}"/>
              </a:ext>
            </a:extLst>
          </p:cNvPr>
          <p:cNvSpPr/>
          <p:nvPr/>
        </p:nvSpPr>
        <p:spPr>
          <a:xfrm>
            <a:off x="762000" y="2463800"/>
            <a:ext cx="63500" cy="1143000"/>
          </a:xfrm>
          <a:prstGeom prst="rect">
            <a:avLst/>
          </a:prstGeom>
          <a:solidFill>
            <a:srgbClr val="2C5F8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96984E-F698-4CE5-897E-C0BFD97E108D}"/>
              </a:ext>
            </a:extLst>
          </p:cNvPr>
          <p:cNvSpPr txBox="1"/>
          <p:nvPr/>
        </p:nvSpPr>
        <p:spPr>
          <a:xfrm>
            <a:off x="990600" y="2514600"/>
            <a:ext cx="406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2C5F8D"/>
                </a:solidFill>
              </a:rPr>
              <a:t>GENERATE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E66403-09A2-4DFA-8B14-C0876E3848BF}"/>
              </a:ext>
            </a:extLst>
          </p:cNvPr>
          <p:cNvSpPr txBox="1"/>
          <p:nvPr/>
        </p:nvSpPr>
        <p:spPr>
          <a:xfrm>
            <a:off x="990600" y="27432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2B4A"/>
                </a:solidFill>
              </a:rPr>
              <a:t>Qwen3.5-397B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33BFC2-FD98-4BBC-B6FA-64614B61A186}"/>
              </a:ext>
            </a:extLst>
          </p:cNvPr>
          <p:cNvSpPr txBox="1"/>
          <p:nvPr/>
        </p:nvSpPr>
        <p:spPr>
          <a:xfrm>
            <a:off x="990600" y="3048000"/>
            <a:ext cx="431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374151"/>
                </a:solidFill>
              </a:rPr>
              <a:t>Writes ONE benign-looking prompt per image. Guided JSON; 1 server, TP=1 × PP=7 across 7 GPUs.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2D4BE1-DCB3-417B-90EF-FACB0EA469B6}"/>
              </a:ext>
            </a:extLst>
          </p:cNvPr>
          <p:cNvSpPr/>
          <p:nvPr/>
        </p:nvSpPr>
        <p:spPr>
          <a:xfrm>
            <a:off x="762000" y="3733800"/>
            <a:ext cx="63500" cy="1143000"/>
          </a:xfrm>
          <a:prstGeom prst="rect">
            <a:avLst/>
          </a:prstGeom>
          <a:solidFill>
            <a:srgbClr val="5A8A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6471C5-741B-4D2C-AD1E-F7917A04BA33}"/>
              </a:ext>
            </a:extLst>
          </p:cNvPr>
          <p:cNvSpPr txBox="1"/>
          <p:nvPr/>
        </p:nvSpPr>
        <p:spPr>
          <a:xfrm>
            <a:off x="990600" y="3695700"/>
            <a:ext cx="406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5A8A6B"/>
                </a:solidFill>
              </a:rPr>
              <a:t>VALIDATE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3AFDB4-357C-49CB-8085-2298885ECE2D}"/>
              </a:ext>
            </a:extLst>
          </p:cNvPr>
          <p:cNvSpPr txBox="1"/>
          <p:nvPr/>
        </p:nvSpPr>
        <p:spPr>
          <a:xfrm>
            <a:off x="990600" y="39243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2B4A"/>
                </a:solidFill>
              </a:rPr>
              <a:t>Gemma-4-31B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F33B10-1FCB-4C4C-B354-CC094D214717}"/>
              </a:ext>
            </a:extLst>
          </p:cNvPr>
          <p:cNvSpPr txBox="1"/>
          <p:nvPr/>
        </p:nvSpPr>
        <p:spPr>
          <a:xfrm>
            <a:off x="990600" y="4229100"/>
            <a:ext cx="431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dirty="0">
                <a:solidFill>
                  <a:srgbClr val="374151"/>
                </a:solidFill>
              </a:rPr>
              <a:t>7 data-parallel servers. Gate A: text alone must be SAFE. Gate B: </a:t>
            </a:r>
            <a:r>
              <a:rPr lang="en-US" sz="1300" dirty="0" err="1">
                <a:solidFill>
                  <a:srgbClr val="374151"/>
                </a:solidFill>
              </a:rPr>
              <a:t>image+text</a:t>
            </a:r>
            <a:r>
              <a:rPr lang="en-US" sz="1300" dirty="0">
                <a:solidFill>
                  <a:srgbClr val="374151"/>
                </a:solidFill>
              </a:rPr>
              <a:t> must be UNSAFE with the harm in the image, a policy cited.</a:t>
            </a:r>
          </a:p>
        </p:txBody>
      </p:sp>
      <p:graphicFrame>
        <p:nvGraphicFramePr>
          <p:cNvPr id="101" name="Chart1"/>
          <p:cNvGraphicFramePr/>
          <p:nvPr>
            <p:extLst>
              <p:ext uri="{D42A27DB-BD31-4B8C-83A1-F6EECF244321}">
                <p14:modId xmlns:p14="http://schemas.microsoft.com/office/powerpoint/2010/main" val="604953659"/>
              </p:ext>
            </p:extLst>
          </p:nvPr>
        </p:nvGraphicFramePr>
        <p:xfrm>
          <a:off x="5831838" y="2022565"/>
          <a:ext cx="6011818" cy="45625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03023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41717B-7338-4858-A8A3-E098C751BEEF}"/>
              </a:ext>
            </a:extLst>
          </p:cNvPr>
          <p:cNvSpPr txBox="1"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2B4A"/>
                </a:solidFill>
                <a:latin typeface="Aptos Display"/>
              </a:rPr>
              <a:t>Impact: P5 before vs after  ·  next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8904CD-6C90-46AC-B2EB-E25C652CB2B0}"/>
              </a:ext>
            </a:extLst>
          </p:cNvPr>
          <p:cNvSpPr/>
          <p:nvPr/>
        </p:nvSpPr>
        <p:spPr>
          <a:xfrm>
            <a:off x="762000" y="1168400"/>
            <a:ext cx="50800" cy="304800"/>
          </a:xfrm>
          <a:prstGeom prst="rect">
            <a:avLst/>
          </a:prstGeom>
          <a:solidFill>
            <a:srgbClr val="C8364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D8AEA-E4DE-4868-86D9-04C1C47E33BA}"/>
              </a:ext>
            </a:extLst>
          </p:cNvPr>
          <p:cNvSpPr txBox="1"/>
          <p:nvPr/>
        </p:nvSpPr>
        <p:spPr>
          <a:xfrm>
            <a:off x="965200" y="11430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2B4A"/>
                </a:solidFill>
              </a:rPr>
              <a:t>P5: 313 → 2,958 (9.5×). Weakest policy now healthy; kept rows are all image-dependent.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2B1840-26C1-41CA-9F10-5393611B2B7F}"/>
              </a:ext>
            </a:extLst>
          </p:cNvPr>
          <p:cNvSpPr txBox="1"/>
          <p:nvPr/>
        </p:nvSpPr>
        <p:spPr>
          <a:xfrm>
            <a:off x="762000" y="5207000"/>
            <a:ext cx="127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6B7280"/>
                </a:solidFill>
              </a:rPr>
              <a:t>NEXT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CCAEAF-7861-4E5C-9F02-31460906D726}"/>
              </a:ext>
            </a:extLst>
          </p:cNvPr>
          <p:cNvSpPr/>
          <p:nvPr/>
        </p:nvSpPr>
        <p:spPr>
          <a:xfrm>
            <a:off x="762000" y="5524500"/>
            <a:ext cx="3619500" cy="8890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F2937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45A1A1-8035-4E1E-929D-8BC8075EBEC5}"/>
              </a:ext>
            </a:extLst>
          </p:cNvPr>
          <p:cNvSpPr txBox="1"/>
          <p:nvPr/>
        </p:nvSpPr>
        <p:spPr>
          <a:xfrm>
            <a:off x="939800" y="5651500"/>
            <a:ext cx="457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C5F8D"/>
                </a:solidFill>
                <a:latin typeface="Aptos Display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358910-668F-4B50-B43F-DEF98359B50B}"/>
              </a:ext>
            </a:extLst>
          </p:cNvPr>
          <p:cNvSpPr txBox="1"/>
          <p:nvPr/>
        </p:nvSpPr>
        <p:spPr>
          <a:xfrm>
            <a:off x="1397000" y="5715000"/>
            <a:ext cx="2857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2B4A"/>
                </a:solidFill>
              </a:rPr>
              <a:t>Tighten generator (cut ~50% gate-A loss)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2351BD-112E-4A7F-865C-230AE8542FB5}"/>
              </a:ext>
            </a:extLst>
          </p:cNvPr>
          <p:cNvSpPr/>
          <p:nvPr/>
        </p:nvSpPr>
        <p:spPr>
          <a:xfrm>
            <a:off x="4445000" y="5524500"/>
            <a:ext cx="3619500" cy="8890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F2937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423436-D71D-42C8-8DB2-956E3DAC9463}"/>
              </a:ext>
            </a:extLst>
          </p:cNvPr>
          <p:cNvSpPr txBox="1"/>
          <p:nvPr/>
        </p:nvSpPr>
        <p:spPr>
          <a:xfrm>
            <a:off x="4622800" y="5651500"/>
            <a:ext cx="457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C5F8D"/>
                </a:solidFill>
                <a:latin typeface="Aptos Display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68EBFF-AFF9-4B77-A9B5-103ED24E6435}"/>
              </a:ext>
            </a:extLst>
          </p:cNvPr>
          <p:cNvSpPr txBox="1"/>
          <p:nvPr/>
        </p:nvSpPr>
        <p:spPr>
          <a:xfrm>
            <a:off x="5080000" y="5715000"/>
            <a:ext cx="28575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1A2B4A"/>
                </a:solidFill>
              </a:rPr>
              <a:t>Run more policy sets (P2, P3)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53588A-7489-4C3E-8469-46B633C5D9BE}"/>
              </a:ext>
            </a:extLst>
          </p:cNvPr>
          <p:cNvSpPr/>
          <p:nvPr/>
        </p:nvSpPr>
        <p:spPr>
          <a:xfrm>
            <a:off x="8128000" y="5524500"/>
            <a:ext cx="3619500" cy="8890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rgbClr val="1F2937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48B6C8-0DAB-40A9-93BC-8680DE4EE4A6}"/>
              </a:ext>
            </a:extLst>
          </p:cNvPr>
          <p:cNvSpPr txBox="1"/>
          <p:nvPr/>
        </p:nvSpPr>
        <p:spPr>
          <a:xfrm>
            <a:off x="8305800" y="5651500"/>
            <a:ext cx="457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C5F8D"/>
                </a:solidFill>
                <a:latin typeface="Aptos Display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E26A4D-5497-4A9E-AFBC-C10469826BBF}"/>
              </a:ext>
            </a:extLst>
          </p:cNvPr>
          <p:cNvSpPr txBox="1"/>
          <p:nvPr/>
        </p:nvSpPr>
        <p:spPr>
          <a:xfrm>
            <a:off x="8763000" y="5715000"/>
            <a:ext cx="28575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1A2B4A"/>
                </a:solidFill>
              </a:rPr>
              <a:t>Merge the 2,895 rows into the corpus, and add to the metrics</a:t>
            </a:r>
          </a:p>
        </p:txBody>
      </p:sp>
      <p:graphicFrame>
        <p:nvGraphicFramePr>
          <p:cNvPr id="101" name="Chart1"/>
          <p:cNvGraphicFramePr/>
          <p:nvPr/>
        </p:nvGraphicFramePr>
        <p:xfrm>
          <a:off x="762000" y="1651000"/>
          <a:ext cx="10668000" cy="336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10377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280927391]">
  <a:themeElements>
    <a:clrScheme name="Office">
      <a:dk1>
        <a:srgbClr val="1F2937"/>
      </a:dk1>
      <a:lt1>
        <a:srgbClr val="FFFFFF"/>
      </a:lt1>
      <a:dk2>
        <a:srgbClr val="374151"/>
      </a:dk2>
      <a:lt2>
        <a:srgbClr val="F3F4F6"/>
      </a:lt2>
      <a:accent1>
        <a:srgbClr val="2C5F8D"/>
      </a:accent1>
      <a:accent2>
        <a:srgbClr val="5A8A6B"/>
      </a:accent2>
      <a:accent3>
        <a:srgbClr val="C8364D"/>
      </a:accent3>
      <a:accent4>
        <a:srgbClr val="94A3B8"/>
      </a:accent4>
      <a:accent5>
        <a:srgbClr val="D4A574"/>
      </a:accent5>
      <a:accent6>
        <a:srgbClr val="6E5B8C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664FEC-4BC0-4610-9219-0EDF29F4CA2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e01038b4-2b5a-4df4-a502-13b908c4edb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1229</Words>
  <Application>Microsoft Macintosh PowerPoint</Application>
  <PresentationFormat>Widescreen</PresentationFormat>
  <Paragraphs>152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 [1782280927391]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Kunj Shah</dc:creator>
  <cp:lastModifiedBy>Kunj Shah</cp:lastModifiedBy>
  <cp:revision>10</cp:revision>
  <dcterms:created xsi:type="dcterms:W3CDTF">2026-06-24T06:02:07Z</dcterms:created>
  <dcterms:modified xsi:type="dcterms:W3CDTF">2026-06-25T00:17:19Z</dcterms:modified>
</cp:coreProperties>
</file>