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71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>
        <p:scale>
          <a:sx n="73" d="100"/>
          <a:sy n="73" d="100"/>
        </p:scale>
        <p:origin x="87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158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808202"/>
            <a:ext cx="15816649" cy="133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4000" kern="0" spc="132" dirty="0">
                <a:solidFill>
                  <a:srgbClr val="B68235"/>
                </a:solidFill>
                <a:ea typeface="Arial" pitchFamily="34" charset="-122"/>
                <a:cs typeface="Arial" pitchFamily="34" charset="-120"/>
              </a:rPr>
              <a:t>MULTIMODAL INPUT GUARDRAIL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67693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endParaRPr lang="en-US" sz="4500" dirty="0"/>
          </a:p>
        </p:txBody>
      </p:sp>
      <p:sp>
        <p:nvSpPr>
          <p:cNvPr id="33" name="Text 31"/>
          <p:cNvSpPr/>
          <p:nvPr/>
        </p:nvSpPr>
        <p:spPr>
          <a:xfrm>
            <a:off x="914400" y="9369772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dual-mode checkpoint supports both inference modes and is the strongest final candidate.</a:t>
            </a:r>
            <a:endParaRPr lang="en-US" sz="195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AE664E2A-C7C9-B829-10B6-D10673427A62}"/>
              </a:ext>
            </a:extLst>
          </p:cNvPr>
          <p:cNvSpPr/>
          <p:nvPr/>
        </p:nvSpPr>
        <p:spPr>
          <a:xfrm>
            <a:off x="914400" y="4721571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Dataset, Unified Model, Evals on the same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dataset difficulty </a:t>
            </a:r>
            <a:r>
              <a:rPr lang="en-US" sz="14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(Pass of 5)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671251" y="2735163"/>
            <a:ext cx="2857500" cy="2857500"/>
          </a:xfrm>
          <a:prstGeom prst="ellipse">
            <a:avLst/>
          </a:prstGeom>
          <a:solidFill>
            <a:srgbClr val="BAB6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42751" y="3306663"/>
            <a:ext cx="1714500" cy="1714500"/>
          </a:xfrm>
          <a:prstGeom prst="ellipse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466291" y="3691532"/>
            <a:ext cx="1394162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186,660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610059" y="4311550"/>
            <a:ext cx="105593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rows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72589" y="5811738"/>
            <a:ext cx="3290795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— 141,170 (75.6%)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72590" y="6242149"/>
            <a:ext cx="3290794" cy="461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— 26,310 (14.1%)</a:t>
            </a:r>
            <a:endParaRPr lang="en-US" sz="18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D6E58A5-B7B5-B250-F643-BF60B92BFD28}"/>
              </a:ext>
            </a:extLst>
          </p:cNvPr>
          <p:cNvGrpSpPr/>
          <p:nvPr/>
        </p:nvGrpSpPr>
        <p:grpSpPr>
          <a:xfrm>
            <a:off x="1424940" y="5904775"/>
            <a:ext cx="152400" cy="1013222"/>
            <a:chOff x="1424940" y="5884068"/>
            <a:chExt cx="152400" cy="1013222"/>
          </a:xfrm>
        </p:grpSpPr>
        <p:sp>
          <p:nvSpPr>
            <p:cNvPr id="7" name="Shape 5"/>
            <p:cNvSpPr/>
            <p:nvPr/>
          </p:nvSpPr>
          <p:spPr>
            <a:xfrm>
              <a:off x="1424940" y="5884068"/>
              <a:ext cx="152400" cy="152400"/>
            </a:xfrm>
            <a:prstGeom prst="rect">
              <a:avLst/>
            </a:prstGeom>
            <a:solidFill>
              <a:srgbClr val="BAB6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1424940" y="6314479"/>
              <a:ext cx="152400" cy="152400"/>
            </a:xfrm>
            <a:prstGeom prst="rect">
              <a:avLst/>
            </a:prstGeom>
            <a:solidFill>
              <a:srgbClr val="605D5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1424940" y="6744890"/>
              <a:ext cx="152400" cy="152400"/>
            </a:xfrm>
            <a:prstGeom prst="rect">
              <a:avLst/>
            </a:prstGeom>
            <a:solidFill>
              <a:srgbClr val="B6823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/>
          <p:cNvSpPr/>
          <p:nvPr/>
        </p:nvSpPr>
        <p:spPr>
          <a:xfrm>
            <a:off x="1672590" y="6672560"/>
            <a:ext cx="2689345" cy="667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— 19,180 (10.3%)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09851" y="2735163"/>
            <a:ext cx="1303401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split (of 5 labeling passes)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709851" y="3262759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95701" y="3316039"/>
            <a:ext cx="939165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95701" y="3316039"/>
            <a:ext cx="9391650" cy="24765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320701" y="3262759"/>
            <a:ext cx="13620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141,123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09851" y="3712220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95701" y="3765500"/>
            <a:ext cx="939165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95701" y="3765500"/>
            <a:ext cx="1748582" cy="24765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320701" y="3712220"/>
            <a:ext cx="13620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26,275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09851" y="4161681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95701" y="4214961"/>
            <a:ext cx="939165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95701" y="4214961"/>
            <a:ext cx="1275308" cy="24765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320701" y="4161681"/>
            <a:ext cx="13620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19,161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09851" y="4611141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95701" y="4664422"/>
            <a:ext cx="939165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95701" y="4664422"/>
            <a:ext cx="93911" cy="247650"/>
          </a:xfrm>
          <a:prstGeom prst="rect">
            <a:avLst/>
          </a:prstGeom>
          <a:solidFill>
            <a:srgbClr val="B78334">
              <a:alpha val="25000"/>
            </a:srgbClr>
          </a:solidFill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320701" y="4611141"/>
            <a:ext cx="13620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</a:p>
        </p:txBody>
      </p:sp>
      <p:sp>
        <p:nvSpPr>
          <p:cNvPr id="30" name="Text 28"/>
          <p:cNvSpPr/>
          <p:nvPr/>
        </p:nvSpPr>
        <p:spPr>
          <a:xfrm>
            <a:off x="5709851" y="5232052"/>
            <a:ext cx="1303401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/ unsafe rows by difficulty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709851" y="5759648"/>
            <a:ext cx="13620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081451" y="5812929"/>
            <a:ext cx="3782318" cy="247650"/>
          </a:xfrm>
          <a:prstGeom prst="rect">
            <a:avLst/>
          </a:prstGeom>
          <a:solidFill>
            <a:srgbClr val="9B9696">
              <a:alpha val="20000"/>
            </a:srgbClr>
          </a:solidFill>
          <a:ln w="9525">
            <a:solidFill>
              <a:srgbClr val="9B9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863769" y="5812929"/>
            <a:ext cx="4751933" cy="247650"/>
          </a:xfrm>
          <a:prstGeom prst="rect">
            <a:avLst/>
          </a:prstGeom>
          <a:solidFill>
            <a:srgbClr val="7D550F">
              <a:alpha val="20000"/>
            </a:srgbClr>
          </a:solidFill>
          <a:ln w="9525">
            <a:solidFill>
              <a:srgbClr val="7D54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5749201" y="5774382"/>
            <a:ext cx="199072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62,564 / 78,606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709851" y="6209109"/>
            <a:ext cx="15176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Inter.</a:t>
            </a:r>
            <a:endParaRPr lang="en-US" sz="18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75CB37-B827-56BF-BAFC-452194373FEE}"/>
              </a:ext>
            </a:extLst>
          </p:cNvPr>
          <p:cNvGrpSpPr/>
          <p:nvPr/>
        </p:nvGrpSpPr>
        <p:grpSpPr>
          <a:xfrm>
            <a:off x="7071926" y="6262389"/>
            <a:ext cx="8543777" cy="247651"/>
            <a:chOff x="7222838" y="6262390"/>
            <a:chExt cx="8392865" cy="247650"/>
          </a:xfrm>
        </p:grpSpPr>
        <p:sp>
          <p:nvSpPr>
            <p:cNvPr id="36" name="Shape 34"/>
            <p:cNvSpPr/>
            <p:nvPr/>
          </p:nvSpPr>
          <p:spPr>
            <a:xfrm>
              <a:off x="7222838" y="6262390"/>
              <a:ext cx="4553099" cy="247650"/>
            </a:xfrm>
            <a:prstGeom prst="rect">
              <a:avLst/>
            </a:prstGeom>
            <a:solidFill>
              <a:srgbClr val="9B9696">
                <a:alpha val="20000"/>
              </a:srgbClr>
            </a:solidFill>
            <a:ln w="9525">
              <a:solidFill>
                <a:srgbClr val="9B979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11775937" y="6262390"/>
              <a:ext cx="3839766" cy="247650"/>
            </a:xfrm>
            <a:prstGeom prst="rect">
              <a:avLst/>
            </a:prstGeom>
            <a:solidFill>
              <a:srgbClr val="7D550F">
                <a:alpha val="20000"/>
              </a:srgbClr>
            </a:solidFill>
            <a:ln w="9525">
              <a:solidFill>
                <a:srgbClr val="7D541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 36"/>
          <p:cNvSpPr/>
          <p:nvPr/>
        </p:nvSpPr>
        <p:spPr>
          <a:xfrm>
            <a:off x="15749201" y="6223843"/>
            <a:ext cx="199072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14,276 / 12,034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709851" y="6658570"/>
            <a:ext cx="13620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081451" y="6711850"/>
            <a:ext cx="4369594" cy="247650"/>
          </a:xfrm>
          <a:prstGeom prst="rect">
            <a:avLst/>
          </a:prstGeom>
          <a:solidFill>
            <a:srgbClr val="9B9696">
              <a:alpha val="20000"/>
            </a:srgbClr>
          </a:solidFill>
          <a:ln w="9525">
            <a:solidFill>
              <a:srgbClr val="9B9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451045" y="6711850"/>
            <a:ext cx="4164657" cy="247650"/>
          </a:xfrm>
          <a:prstGeom prst="rect">
            <a:avLst/>
          </a:prstGeom>
          <a:solidFill>
            <a:srgbClr val="7D550F">
              <a:alpha val="20000"/>
            </a:srgbClr>
          </a:solidFill>
          <a:ln w="9525">
            <a:solidFill>
              <a:srgbClr val="7D54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5749201" y="6673304"/>
            <a:ext cx="199072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9,823 / 9,357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8925411" y="7064505"/>
            <a:ext cx="65529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3236623" y="7032054"/>
            <a:ext cx="90755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14400" y="9369772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mostly high-confidence dataset, with meaningful hard and intermediate coverage.</a:t>
            </a:r>
            <a:endParaRPr lang="en-US" sz="1950" dirty="0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CAA28D7F-F51E-098B-BE14-74A7E20FA6A5}"/>
              </a:ext>
            </a:extLst>
          </p:cNvPr>
          <p:cNvSpPr/>
          <p:nvPr/>
        </p:nvSpPr>
        <p:spPr>
          <a:xfrm>
            <a:off x="2249421" y="1946151"/>
            <a:ext cx="170783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16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Safe: 	86,663</a:t>
            </a:r>
          </a:p>
          <a:p>
            <a:pPr marL="0" indent="0" algn="l">
              <a:lnSpc>
                <a:spcPct val="135625"/>
              </a:lnSpc>
              <a:buNone/>
            </a:pPr>
            <a:r>
              <a:rPr lang="en-US" sz="1600" dirty="0">
                <a:solidFill>
                  <a:srgbClr val="201F1D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Unsafe: 	99,997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550146"/>
            <a:ext cx="799482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coverage across P0–P20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378779" y="217289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P19 Fraud/Scams/Theft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541329" y="280094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541329" y="280094"/>
            <a:ext cx="2076450" cy="228600"/>
          </a:xfrm>
          <a:prstGeom prst="rect">
            <a:avLst/>
          </a:prstGeom>
          <a:solidFill>
            <a:srgbClr val="B68437">
              <a:alpha val="22000"/>
            </a:srgbClr>
          </a:solidFill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751129" y="217289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105,591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78779" y="685800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Prompt Injection/Jailbreaks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541329" y="748605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541329" y="748605"/>
            <a:ext cx="1372493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751129" y="685800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69,796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78779" y="1154311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 Harassment/Coercion/Abuse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541329" y="1217116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541329" y="1217116"/>
            <a:ext cx="1044029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751129" y="1154311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53,090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78779" y="1622822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P18 Regulated Professional Advice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541329" y="1685627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4541329" y="1685627"/>
            <a:ext cx="1039118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751129" y="1622822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52,868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78779" y="2091333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 Violence/Physical Harm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541329" y="2154138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4541329" y="2154138"/>
            <a:ext cx="945059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751129" y="2091333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48,068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78779" y="2559844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Cyber Abuse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541329" y="2622649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4541329" y="2622649"/>
            <a:ext cx="864096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751129" y="2559844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43,934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78779" y="3028355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 Hate/Discriminatory Abuse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541329" y="3091160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541329" y="3091160"/>
            <a:ext cx="778669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751129" y="3028355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39,594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78779" y="3496866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Nonsensical/Impossible Input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4541329" y="3559671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4541329" y="3559671"/>
            <a:ext cx="729407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6751129" y="3496866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37,103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378779" y="3965376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Misinformation/Civic Deception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541329" y="4028182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4541329" y="4028182"/>
            <a:ext cx="672852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6751129" y="3965376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34,224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378779" y="4433887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Credentials/Secrets/PII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541329" y="4496693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4541329" y="4496693"/>
            <a:ext cx="641598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6751129" y="4433887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32,629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378779" y="4902398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Platform Anti-Abuse Circumvention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4541329" y="4965204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541329" y="4965204"/>
            <a:ext cx="540395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6751129" y="4902398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27,489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378779" y="5306319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P15 Weapons/CBRN/Dangerous Materials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4541329" y="5369124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541329" y="5369124"/>
            <a:ext cx="458539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6751129" y="5306319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23,327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378779" y="5774830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 Synthetic Media/Impersonation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4541329" y="5837635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541329" y="5837635"/>
            <a:ext cx="401687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6751129" y="5774830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20,439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378779" y="6243341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Copyright/Plagiarism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4541329" y="6306146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4541329" y="6306146"/>
            <a:ext cx="360462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6751129" y="6243341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18,329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9378779" y="6711852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P17 Animal/Environmental Harm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4541329" y="6774657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4541329" y="6774657"/>
            <a:ext cx="329654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6751129" y="6711852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16,767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9378779" y="7180363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P16 Substance Misuse/Regulated Goods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4541329" y="7243168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4541329" y="7243168"/>
            <a:ext cx="325041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6751129" y="7180363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16,540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9378779" y="7648874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P11 Reckless Endangerment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4541329" y="7711679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4541329" y="7711679"/>
            <a:ext cx="206573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6751129" y="7648874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10,507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9378779" y="8117385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P12 Self-Harm/Suicide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4541329" y="8180190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4541329" y="8180190"/>
            <a:ext cx="202406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6751129" y="8117385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10,298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9378779" y="8585896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P13 Sexual Content/Exploitation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14541329" y="8648701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4541329" y="8648701"/>
            <a:ext cx="172343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6751129" y="8585896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8,768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9378779" y="9054406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P20 Academic Dishonesty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14541329" y="9117212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4541329" y="9117212"/>
            <a:ext cx="147786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6751129" y="9054406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7,518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9379672" y="9538394"/>
            <a:ext cx="5029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P14 Child Safety/Minor Exploitation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14542222" y="9601200"/>
            <a:ext cx="207645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4542222" y="9601200"/>
            <a:ext cx="90041" cy="228600"/>
          </a:xfrm>
          <a:prstGeom prst="rect">
            <a:avLst/>
          </a:prstGeom>
          <a:solidFill>
            <a:srgbClr val="5F5F5F">
              <a:alpha val="20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6752022" y="9538394"/>
            <a:ext cx="11239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4,586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1062681" y="4357687"/>
            <a:ext cx="10552670" cy="1374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21 policies represented, with the strongest mass in fraud, 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prompt-injection, harassment, regulated advice, and violence.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cs typeface="Arial" pitchFamily="34" charset="-120"/>
              </a:rPr>
              <a:t>(Note: These are 5 passes, not overall)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601F19-2CE9-CDBB-9E13-279FF3AB4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679" y="4912742"/>
            <a:ext cx="10178321" cy="53742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1116DC-DA6A-791E-12BF-6178E87A6D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1222" b="2684"/>
          <a:stretch>
            <a:fillRect/>
          </a:stretch>
        </p:blipFill>
        <p:spPr>
          <a:xfrm>
            <a:off x="0" y="2"/>
            <a:ext cx="8484433" cy="5036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F363A0-8D5A-B6B3-3B89-E2C167830F27}"/>
              </a:ext>
            </a:extLst>
          </p:cNvPr>
          <p:cNvSpPr txBox="1"/>
          <p:nvPr/>
        </p:nvSpPr>
        <p:spPr>
          <a:xfrm>
            <a:off x="11731051" y="2333683"/>
            <a:ext cx="331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 MT Condensed Light" panose="020B0306030101010103" pitchFamily="34" charset="77"/>
              </a:rPr>
              <a:t>More splits distribution in the Codebase.</a:t>
            </a:r>
          </a:p>
        </p:txBody>
      </p:sp>
    </p:spTree>
    <p:extLst>
      <p:ext uri="{BB962C8B-B14F-4D97-AF65-F5344CB8AC3E}">
        <p14:creationId xmlns:p14="http://schemas.microsoft.com/office/powerpoint/2010/main" val="253601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RL / test split design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42975" y="2346223"/>
            <a:ext cx="1810512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composition of 186,660 rows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42975" y="2892869"/>
            <a:ext cx="16459200" cy="533400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500" y="2902394"/>
            <a:ext cx="1145828" cy="514350"/>
          </a:xfrm>
          <a:prstGeom prst="rect">
            <a:avLst/>
          </a:prstGeom>
          <a:solidFill>
            <a:srgbClr val="9B969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88803" y="2902394"/>
            <a:ext cx="9525" cy="514350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902394"/>
            <a:ext cx="121250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098328" y="2902394"/>
            <a:ext cx="1321743" cy="514350"/>
          </a:xfrm>
          <a:prstGeom prst="rect">
            <a:avLst/>
          </a:prstGeom>
          <a:solidFill>
            <a:srgbClr val="84699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10545" y="2902394"/>
            <a:ext cx="9525" cy="514350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60228" y="2902394"/>
            <a:ext cx="138841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420070" y="2902394"/>
            <a:ext cx="10889903" cy="514350"/>
          </a:xfrm>
          <a:prstGeom prst="rect">
            <a:avLst/>
          </a:prstGeom>
          <a:solidFill>
            <a:srgbClr val="B78037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300448" y="2902394"/>
            <a:ext cx="9525" cy="514350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56722" y="2902394"/>
            <a:ext cx="112070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— 123,660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4309973" y="2902394"/>
            <a:ext cx="3082528" cy="514350"/>
          </a:xfrm>
          <a:prstGeom prst="rect">
            <a:avLst/>
          </a:prstGeom>
          <a:solidFill>
            <a:srgbClr val="D7D2D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263735" y="2902394"/>
            <a:ext cx="317500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42975" y="3521519"/>
            <a:ext cx="118020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13,000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389882" y="3521519"/>
            <a:ext cx="101485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15,000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671441" y="3521519"/>
            <a:ext cx="2622010" cy="9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123,660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162996" y="3521519"/>
            <a:ext cx="161828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35,000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42975" y="4265362"/>
            <a:ext cx="1810512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composition within each split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42975" y="4831057"/>
            <a:ext cx="13620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371725" y="4846238"/>
            <a:ext cx="10287000" cy="323850"/>
          </a:xfrm>
          <a:prstGeom prst="rect">
            <a:avLst/>
          </a:prstGeom>
          <a:solidFill>
            <a:srgbClr val="B9B6B6">
              <a:alpha val="30000"/>
            </a:srgbClr>
          </a:solidFill>
          <a:ln w="9525">
            <a:solidFill>
              <a:srgbClr val="BA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849225" y="4845791"/>
            <a:ext cx="26193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13,000 easy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42975" y="5394818"/>
            <a:ext cx="13620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371725" y="5409999"/>
            <a:ext cx="1893689" cy="323850"/>
          </a:xfrm>
          <a:prstGeom prst="rect">
            <a:avLst/>
          </a:prstGeom>
          <a:solidFill>
            <a:srgbClr val="605C5C">
              <a:alpha val="25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65414" y="5409999"/>
            <a:ext cx="8393162" cy="323850"/>
          </a:xfrm>
          <a:prstGeom prst="rect">
            <a:avLst/>
          </a:prstGeom>
          <a:solidFill>
            <a:srgbClr val="B78334">
              <a:alpha val="25000"/>
            </a:srgbClr>
          </a:solidFill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849225" y="5409552"/>
            <a:ext cx="26193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2,762 inter. / 12,238 hard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42975" y="6106217"/>
            <a:ext cx="13620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371725" y="6121397"/>
            <a:ext cx="7751564" cy="323850"/>
          </a:xfrm>
          <a:prstGeom prst="rect">
            <a:avLst/>
          </a:prstGeom>
          <a:solidFill>
            <a:srgbClr val="B9B6B6">
              <a:alpha val="30000"/>
            </a:srgbClr>
          </a:solidFill>
          <a:ln w="9525">
            <a:solidFill>
              <a:srgbClr val="BA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123289" y="6121397"/>
            <a:ext cx="1958429" cy="323850"/>
          </a:xfrm>
          <a:prstGeom prst="rect">
            <a:avLst/>
          </a:prstGeom>
          <a:solidFill>
            <a:srgbClr val="605C5C">
              <a:alpha val="25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081718" y="6121397"/>
            <a:ext cx="577007" cy="323850"/>
          </a:xfrm>
          <a:prstGeom prst="rect">
            <a:avLst/>
          </a:prstGeom>
          <a:solidFill>
            <a:srgbClr val="B78334">
              <a:alpha val="25000"/>
            </a:srgbClr>
          </a:solidFill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849225" y="6077939"/>
            <a:ext cx="437995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93,170 easy / 23,548 inter. / 6,942 hard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42975" y="6817615"/>
            <a:ext cx="13620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371725" y="6832796"/>
            <a:ext cx="10287000" cy="323850"/>
          </a:xfrm>
          <a:prstGeom prst="rect">
            <a:avLst/>
          </a:prstGeom>
          <a:solidFill>
            <a:srgbClr val="B9B6B6">
              <a:alpha val="30000"/>
            </a:srgbClr>
          </a:solidFill>
          <a:ln w="9525">
            <a:solidFill>
              <a:srgbClr val="BA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849224" y="6784278"/>
            <a:ext cx="26193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35,000 easy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52500" y="7347591"/>
            <a:ext cx="69577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800671" y="7347591"/>
            <a:ext cx="159012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3474839" y="7347591"/>
            <a:ext cx="71497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42975" y="8792713"/>
            <a:ext cx="18105120" cy="121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is balanced and easy-only; RL emphasizes harder examples; SFT is large and mixed-difficulty. 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950" b="1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50/50 in Verdicts and balanced in Policy distribution.</a:t>
            </a:r>
            <a:endParaRPr lang="en-US" sz="195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model configs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14400" y="1421011"/>
            <a:ext cx="16952976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Both: Qwen/Qwen3.5-4B base, full-parameter SFT (no LoRA), 4,539,2655M trainable params (100%), bf16, Adam, LR 1e-5, cosine schedule, warmup 0.03, seed 17, policy permutations on. Source SFT split: 123,660 rows. Validation: 1,024 rows (512 safe / 512 unsafe).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434233"/>
            <a:ext cx="28575" cy="6783139"/>
          </a:xfrm>
          <a:prstGeom prst="rect">
            <a:avLst/>
          </a:prstGeom>
          <a:solidFill>
            <a:srgbClr val="5E7E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9675" y="2434233"/>
            <a:ext cx="8434387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Non-thinking · checkpoint-512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09675" y="3584674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09675" y="3135213"/>
            <a:ext cx="76899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04255" y="3135213"/>
            <a:ext cx="246843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qwen_xml_tool_call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09675" y="4138910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09675" y="3689449"/>
            <a:ext cx="114582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steps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31411" y="3689449"/>
            <a:ext cx="52208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9675" y="4693146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9675" y="4243685"/>
            <a:ext cx="66496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28621" y="4243685"/>
            <a:ext cx="22487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9675" y="5247382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9675" y="4797921"/>
            <a:ext cx="68178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271" y="4759821"/>
            <a:ext cx="287282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× 16 × 4 = 512 effective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09675" y="5801618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09675" y="5352157"/>
            <a:ext cx="126206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length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08615" y="5352157"/>
            <a:ext cx="74488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9675" y="6355854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9675" y="5906393"/>
            <a:ext cx="157489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seen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23655" y="5868293"/>
            <a:ext cx="274903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262,144 (~2.1 epochs)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09675" y="6910090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09675" y="6460629"/>
            <a:ext cx="159634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eval loss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59936" y="6460629"/>
            <a:ext cx="89356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0.0171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09675" y="7014865"/>
            <a:ext cx="23240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token accuracy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59936" y="7014865"/>
            <a:ext cx="89356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99.37%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10700" y="2434233"/>
            <a:ext cx="28575" cy="6783139"/>
          </a:xfrm>
          <a:prstGeom prst="rect">
            <a:avLst/>
          </a:prstGeom>
          <a:solidFill>
            <a:srgbClr val="4F8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705975" y="2434233"/>
            <a:ext cx="8434387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· checkpoint-1095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705975" y="3584674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705975" y="3135213"/>
            <a:ext cx="76899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812663" y="3098840"/>
            <a:ext cx="432769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qwen_xml_tool_call_with_thinking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705975" y="4138910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05975" y="3689449"/>
            <a:ext cx="114582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steps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704915" y="3689449"/>
            <a:ext cx="74488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705975" y="4693146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705975" y="4243685"/>
            <a:ext cx="66496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7224921" y="4243685"/>
            <a:ext cx="22487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705975" y="5247382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705975" y="4797921"/>
            <a:ext cx="68178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4772396" y="4785202"/>
            <a:ext cx="321168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16 × 7 = 224 effective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705975" y="5801618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705975" y="5352157"/>
            <a:ext cx="126206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length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704915" y="5352157"/>
            <a:ext cx="74488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7,168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705975" y="6355854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705975" y="5906393"/>
            <a:ext cx="157489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seen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5053369" y="5880955"/>
            <a:ext cx="274903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245,280 (~2.0 epochs)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705975" y="6910090"/>
            <a:ext cx="766762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705975" y="6460629"/>
            <a:ext cx="159634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eval loss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6556236" y="6460629"/>
            <a:ext cx="89356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0.3134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705975" y="7014865"/>
            <a:ext cx="23240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token accuracy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6556236" y="7014865"/>
            <a:ext cx="89356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90.51%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914400" y="9369772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tested separate full-SFT models with comparable sample exposure. Validation was taken out dynamically during the runtime.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dual-mode training setup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2829756" y="2315394"/>
            <a:ext cx="3238500" cy="2153091"/>
          </a:xfrm>
          <a:prstGeom prst="roundRect">
            <a:avLst>
              <a:gd name="adj" fmla="val 4022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2822865" y="2635737"/>
            <a:ext cx="3252281" cy="52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 checkpoint-1280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77948" y="3448576"/>
            <a:ext cx="3045318" cy="958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333"/>
              </a:lnSpc>
              <a:buNone/>
            </a:pPr>
            <a:r>
              <a:rPr lang="en-US" sz="1400" dirty="0">
                <a:solidFill>
                  <a:srgbClr val="201F1D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Qwen3.5-4B checkpoint, per-request mode switch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18857" y="2868443"/>
            <a:ext cx="1425781" cy="1160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054"/>
              </a:lnSpc>
              <a:buNone/>
            </a:pPr>
            <a:r>
              <a:rPr lang="en-US" sz="440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795239" y="1572889"/>
            <a:ext cx="7618970" cy="1611181"/>
          </a:xfrm>
          <a:prstGeom prst="roundRect">
            <a:avLst>
              <a:gd name="adj" fmla="val 5375"/>
            </a:avLst>
          </a:prstGeom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8" name="Text 6"/>
          <p:cNvSpPr/>
          <p:nvPr/>
        </p:nvSpPr>
        <p:spPr>
          <a:xfrm>
            <a:off x="8936179" y="1893231"/>
            <a:ext cx="13562141" cy="422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909"/>
              </a:lnSpc>
              <a:buNone/>
            </a:pPr>
            <a:r>
              <a:rPr lang="en-US" sz="1100" kern="0" spc="75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ENABLE_THINKING = FALSE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36179" y="2427699"/>
            <a:ext cx="13562141" cy="522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400" dirty="0">
                <a:solidFill>
                  <a:srgbClr val="201F1D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open and closed think block as prefix, direct input_guardrail tool call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795239" y="3530459"/>
            <a:ext cx="7618970" cy="1611181"/>
          </a:xfrm>
          <a:prstGeom prst="roundRect">
            <a:avLst>
              <a:gd name="adj" fmla="val 5375"/>
            </a:avLst>
          </a:prstGeom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936179" y="3850803"/>
            <a:ext cx="13562141" cy="422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909"/>
              </a:lnSpc>
              <a:buNone/>
            </a:pPr>
            <a:r>
              <a:rPr lang="en-US" sz="1100" kern="0" spc="75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ENABLE_THINKING = TRUE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36179" y="4385269"/>
            <a:ext cx="13562141" cy="522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400" dirty="0">
                <a:solidFill>
                  <a:srgbClr val="201F1D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think tag as prefix, Visible reasoning trace, then input_guardrail tool call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7509" y="5858025"/>
            <a:ext cx="871728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run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07509" y="6404670"/>
            <a:ext cx="8784580" cy="2330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714"/>
              </a:lnSpc>
              <a:buNone/>
            </a:pPr>
            <a:r>
              <a:rPr lang="en-US" sz="1800" dirty="0">
                <a:solidFill>
                  <a:srgbClr val="1F1F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Full-parameter SFT, max steps 1,280, LR 1e-5, max length 7,168</a:t>
            </a:r>
            <a:r>
              <a:rPr lang="en-US" dirty="0">
                <a:solidFill>
                  <a:srgbClr val="1F1F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ct val="145714"/>
              </a:lnSpc>
              <a:buNone/>
            </a:pPr>
            <a:r>
              <a:rPr lang="en-US" dirty="0">
                <a:solidFill>
                  <a:srgbClr val="1F1F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800" dirty="0">
                <a:solidFill>
                  <a:srgbClr val="1F1F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er-device batch 1, gradient accumulation 32, 4 GPUs </a:t>
            </a:r>
            <a:r>
              <a:rPr lang="en-US" sz="1800" dirty="0">
                <a:solidFill>
                  <a:srgbClr val="1F1F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128 effective batch size</a:t>
            </a:r>
          </a:p>
          <a:p>
            <a:pPr marL="0" indent="0" algn="l">
              <a:lnSpc>
                <a:spcPct val="145714"/>
              </a:lnSpc>
              <a:buNone/>
            </a:pPr>
            <a:r>
              <a:rPr lang="en-US" sz="1800" dirty="0">
                <a:solidFill>
                  <a:srgbClr val="1F1F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7k Max length </a:t>
            </a:r>
            <a:r>
              <a:rPr lang="en-US" sz="1800" dirty="0">
                <a:solidFill>
                  <a:srgbClr val="1F1F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0.97 Million tokens/batch</a:t>
            </a:r>
            <a:endParaRPr lang="en-US" sz="1800" dirty="0">
              <a:solidFill>
                <a:srgbClr val="1F1F1C">
                  <a:alpha val="70000"/>
                </a:srgb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714"/>
              </a:lnSpc>
              <a:buNone/>
            </a:pPr>
            <a:r>
              <a:rPr lang="en-US" sz="1800" dirty="0">
                <a:solidFill>
                  <a:srgbClr val="1F1F1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 validation rows (1024 each mode).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41909" y="5769740"/>
            <a:ext cx="871728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split (137,636 pooled rows, 50/50 safe/unsafe, RL+SFT)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441909" y="6404670"/>
            <a:ext cx="22002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594559" y="6448426"/>
            <a:ext cx="4667250" cy="2667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594559" y="6448426"/>
            <a:ext cx="4667250" cy="266700"/>
          </a:xfrm>
          <a:prstGeom prst="rect">
            <a:avLst/>
          </a:prstGeom>
          <a:solidFill>
            <a:srgbClr val="9B9696">
              <a:alpha val="22000"/>
            </a:srgbClr>
          </a:solidFill>
          <a:ln w="9525">
            <a:solidFill>
              <a:srgbClr val="9B97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414209" y="6419404"/>
            <a:ext cx="10287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137,636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451383" y="7038743"/>
            <a:ext cx="2076450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Non-thinking train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594559" y="7113092"/>
            <a:ext cx="4667250" cy="2667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594559" y="7113092"/>
            <a:ext cx="2764780" cy="266700"/>
          </a:xfrm>
          <a:prstGeom prst="rect">
            <a:avLst/>
          </a:prstGeom>
          <a:solidFill>
            <a:srgbClr val="83689F">
              <a:alpha val="25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414209" y="7084071"/>
            <a:ext cx="10287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81,520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441909" y="7734003"/>
            <a:ext cx="22002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train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594559" y="7777759"/>
            <a:ext cx="4667250" cy="2667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594559" y="7777759"/>
            <a:ext cx="1902321" cy="266700"/>
          </a:xfrm>
          <a:prstGeom prst="rect">
            <a:avLst/>
          </a:prstGeom>
          <a:solidFill>
            <a:srgbClr val="BB6C3C">
              <a:alpha val="25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414209" y="7748737"/>
            <a:ext cx="10287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56,116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14400" y="9369772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merges both modes into one deployable model.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mode split difficulty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14400" y="1933277"/>
            <a:ext cx="1810512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composition — pooled / non-thinking / thinking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2646610"/>
            <a:ext cx="23050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652266"/>
            <a:ext cx="6587430" cy="342900"/>
          </a:xfrm>
          <a:prstGeom prst="rect">
            <a:avLst/>
          </a:prstGeom>
          <a:solidFill>
            <a:srgbClr val="B9B6B6">
              <a:alpha val="30000"/>
            </a:srgbClr>
          </a:solidFill>
          <a:ln w="9525">
            <a:solidFill>
              <a:srgbClr val="BA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87830" y="2652266"/>
            <a:ext cx="1859905" cy="342900"/>
          </a:xfrm>
          <a:prstGeom prst="rect">
            <a:avLst/>
          </a:prstGeom>
          <a:solidFill>
            <a:srgbClr val="605C5C">
              <a:alpha val="25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647736" y="2652266"/>
            <a:ext cx="1363414" cy="342900"/>
          </a:xfrm>
          <a:prstGeom prst="rect">
            <a:avLst/>
          </a:prstGeom>
          <a:solidFill>
            <a:srgbClr val="B78334">
              <a:alpha val="25000"/>
            </a:srgbClr>
          </a:solidFill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188950" y="2651373"/>
            <a:ext cx="255270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92,395 / 26,094 / 19,147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315592"/>
            <a:ext cx="23050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Non-thinking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3321248"/>
            <a:ext cx="6585942" cy="342900"/>
          </a:xfrm>
          <a:prstGeom prst="rect">
            <a:avLst/>
          </a:prstGeom>
          <a:solidFill>
            <a:srgbClr val="B9B6B6">
              <a:alpha val="30000"/>
            </a:srgbClr>
          </a:solidFill>
          <a:ln w="9525">
            <a:solidFill>
              <a:srgbClr val="BA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786342" y="3321248"/>
            <a:ext cx="1860054" cy="342900"/>
          </a:xfrm>
          <a:prstGeom prst="rect">
            <a:avLst/>
          </a:prstGeom>
          <a:solidFill>
            <a:srgbClr val="605C5C">
              <a:alpha val="25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646396" y="3321248"/>
            <a:ext cx="1364605" cy="342900"/>
          </a:xfrm>
          <a:prstGeom prst="rect">
            <a:avLst/>
          </a:prstGeom>
          <a:solidFill>
            <a:srgbClr val="B78334">
              <a:alpha val="25000"/>
            </a:srgbClr>
          </a:solidFill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188950" y="3320355"/>
            <a:ext cx="255270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54,722 / 15,457 / 11,341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020888"/>
            <a:ext cx="23050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0" y="4026543"/>
            <a:ext cx="6586835" cy="342900"/>
          </a:xfrm>
          <a:prstGeom prst="rect">
            <a:avLst/>
          </a:prstGeom>
          <a:solidFill>
            <a:srgbClr val="B9B6B6">
              <a:alpha val="30000"/>
            </a:srgbClr>
          </a:solidFill>
          <a:ln w="9525">
            <a:solidFill>
              <a:srgbClr val="BA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87235" y="4026543"/>
            <a:ext cx="1859012" cy="342900"/>
          </a:xfrm>
          <a:prstGeom prst="rect">
            <a:avLst/>
          </a:prstGeom>
          <a:solidFill>
            <a:srgbClr val="605C5C">
              <a:alpha val="25000"/>
            </a:srgbClr>
          </a:solidFill>
          <a:ln w="9525">
            <a:solidFill>
              <a:srgbClr val="6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646247" y="4026543"/>
            <a:ext cx="1364605" cy="342900"/>
          </a:xfrm>
          <a:prstGeom prst="rect">
            <a:avLst/>
          </a:prstGeom>
          <a:solidFill>
            <a:srgbClr val="B78334">
              <a:alpha val="25000"/>
            </a:srgbClr>
          </a:solidFill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188950" y="4025651"/>
            <a:ext cx="255270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37,673 / 10,637 / 7,806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" y="4665612"/>
            <a:ext cx="69577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762571" y="4665612"/>
            <a:ext cx="106322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978200" y="4665612"/>
            <a:ext cx="71497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14400" y="5830341"/>
            <a:ext cx="1810512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balance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6396037"/>
            <a:ext cx="23050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Non-thinking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00400" y="6401693"/>
            <a:ext cx="3429000" cy="342900"/>
          </a:xfrm>
          <a:prstGeom prst="rect">
            <a:avLst/>
          </a:prstGeom>
          <a:solidFill>
            <a:srgbClr val="84699F">
              <a:alpha val="22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29400" y="6401693"/>
            <a:ext cx="3429000" cy="342900"/>
          </a:xfrm>
          <a:prstGeom prst="rect">
            <a:avLst/>
          </a:prstGeom>
          <a:solidFill>
            <a:srgbClr val="896C9D">
              <a:alpha val="10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248900" y="6410771"/>
            <a:ext cx="23050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40,760 / 40,760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14400" y="6940748"/>
            <a:ext cx="23050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200400" y="6946404"/>
            <a:ext cx="3429000" cy="342900"/>
          </a:xfrm>
          <a:prstGeom prst="rect">
            <a:avLst/>
          </a:prstGeom>
          <a:solidFill>
            <a:srgbClr val="BF693B">
              <a:alpha val="22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6946404"/>
            <a:ext cx="3429000" cy="342900"/>
          </a:xfrm>
          <a:prstGeom prst="rect">
            <a:avLst/>
          </a:prstGeom>
          <a:solidFill>
            <a:srgbClr val="BA6C3B">
              <a:alpha val="10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248900" y="6955482"/>
            <a:ext cx="23050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28,058 / 28,058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14400" y="7390209"/>
            <a:ext cx="1810512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darker = safe, lighter = unsafe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14400" y="9369772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mode-specific training splits preserve label balance and difficulty diversity.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training and validation metrics</a:t>
            </a:r>
            <a:endParaRPr lang="en-US" sz="45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7B60E0C-10BC-0A12-E43A-CF56EEE420D3}"/>
              </a:ext>
            </a:extLst>
          </p:cNvPr>
          <p:cNvGrpSpPr/>
          <p:nvPr/>
        </p:nvGrpSpPr>
        <p:grpSpPr>
          <a:xfrm>
            <a:off x="914400" y="1535311"/>
            <a:ext cx="16823471" cy="4066579"/>
            <a:chOff x="914400" y="1535311"/>
            <a:chExt cx="16823471" cy="1092547"/>
          </a:xfrm>
        </p:grpSpPr>
        <p:sp>
          <p:nvSpPr>
            <p:cNvPr id="3" name="Shape 1"/>
            <p:cNvSpPr/>
            <p:nvPr/>
          </p:nvSpPr>
          <p:spPr>
            <a:xfrm>
              <a:off x="914400" y="1535311"/>
              <a:ext cx="5334000" cy="1092547"/>
            </a:xfrm>
            <a:prstGeom prst="roundRect">
              <a:avLst>
                <a:gd name="adj" fmla="val 3487"/>
              </a:avLst>
            </a:prstGeom>
            <a:ln w="9525">
              <a:solidFill>
                <a:srgbClr val="5E7EA3"/>
              </a:solidFill>
              <a:prstDash val="solid"/>
            </a:ln>
          </p:spPr>
          <p:txBody>
            <a:bodyPr/>
            <a:lstStyle/>
            <a:p>
              <a:endParaRPr lang="en-US" sz="4800"/>
            </a:p>
          </p:txBody>
        </p:sp>
        <p:sp>
          <p:nvSpPr>
            <p:cNvPr id="4" name="Text 2"/>
            <p:cNvSpPr/>
            <p:nvPr/>
          </p:nvSpPr>
          <p:spPr>
            <a:xfrm>
              <a:off x="1055340" y="1676251"/>
              <a:ext cx="5557331" cy="1857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0909"/>
                </a:lnSpc>
                <a:buNone/>
              </a:pPr>
              <a:r>
                <a:rPr lang="en-US" sz="1600" kern="0" spc="75" dirty="0">
                  <a:solidFill>
                    <a:srgbClr val="5E7EA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WEEK 7 NON-THINKING</a:t>
              </a:r>
              <a:endParaRPr lang="en-US" sz="16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055340" y="1911400"/>
              <a:ext cx="5203683" cy="61361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Train loss 0.0223 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step loss 0.0142 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Eval loss 0.0171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eval token acc 99.37% 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Runtime ~5h14m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peak mem 74.38 GiB</a:t>
              </a:r>
              <a:endParaRPr lang="en-US" sz="2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477000" y="1535311"/>
              <a:ext cx="5334000" cy="1092547"/>
            </a:xfrm>
            <a:prstGeom prst="roundRect">
              <a:avLst>
                <a:gd name="adj" fmla="val 3487"/>
              </a:avLst>
            </a:prstGeom>
            <a:ln w="9525">
              <a:solidFill>
                <a:srgbClr val="4F8F8A"/>
              </a:solidFill>
              <a:prstDash val="solid"/>
            </a:ln>
          </p:spPr>
          <p:txBody>
            <a:bodyPr/>
            <a:lstStyle/>
            <a:p>
              <a:endParaRPr lang="en-US" sz="4800"/>
            </a:p>
          </p:txBody>
        </p:sp>
        <p:sp>
          <p:nvSpPr>
            <p:cNvPr id="7" name="Text 5"/>
            <p:cNvSpPr/>
            <p:nvPr/>
          </p:nvSpPr>
          <p:spPr>
            <a:xfrm>
              <a:off x="6617940" y="1676251"/>
              <a:ext cx="5557331" cy="1857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0909"/>
                </a:lnSpc>
                <a:buNone/>
              </a:pPr>
              <a:r>
                <a:rPr lang="en-US" sz="1600" kern="0" spc="75" dirty="0">
                  <a:solidFill>
                    <a:srgbClr val="4F8F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WEEK 7 THINKING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617940" y="1911400"/>
              <a:ext cx="5203683" cy="61361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Train loss 0.3255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step loss 0.3701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Eval loss 0.3134 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eval token acc 90.51% 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Runtime ~4h10m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peak mem 62.16 GiB</a:t>
              </a:r>
              <a:endParaRPr lang="en-US" sz="2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2039600" y="1535311"/>
              <a:ext cx="5334000" cy="1092547"/>
            </a:xfrm>
            <a:prstGeom prst="roundRect">
              <a:avLst>
                <a:gd name="adj" fmla="val 3487"/>
              </a:avLst>
            </a:prstGeom>
            <a:ln w="9525">
              <a:solidFill>
                <a:srgbClr val="B68235"/>
              </a:solidFill>
              <a:prstDash val="solid"/>
            </a:ln>
          </p:spPr>
          <p:txBody>
            <a:bodyPr/>
            <a:lstStyle/>
            <a:p>
              <a:endParaRPr lang="en-US" sz="4800"/>
            </a:p>
          </p:txBody>
        </p:sp>
        <p:sp>
          <p:nvSpPr>
            <p:cNvPr id="10" name="Text 8"/>
            <p:cNvSpPr/>
            <p:nvPr/>
          </p:nvSpPr>
          <p:spPr>
            <a:xfrm>
              <a:off x="12180540" y="1676251"/>
              <a:ext cx="5557331" cy="1857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0909"/>
                </a:lnSpc>
                <a:buNone/>
              </a:pPr>
              <a:r>
                <a:rPr lang="en-US" sz="1600" kern="0" spc="75" dirty="0">
                  <a:solidFill>
                    <a:srgbClr val="7D54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WEEK 8 DUAL-MODE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180540" y="1911400"/>
              <a:ext cx="5203683" cy="61361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Train loss 0.2558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step loss 0.2108 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Eval loss 0.2480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eval token acc 91.90% 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Runtime ~8h</a:t>
              </a:r>
            </a:p>
            <a:p>
              <a:pPr marL="0" indent="0" algn="l">
                <a:lnSpc>
                  <a:spcPct val="134333"/>
                </a:lnSpc>
                <a:buNone/>
              </a:pPr>
              <a:r>
                <a:rPr lang="en-US" sz="2000" dirty="0">
                  <a:solidFill>
                    <a:srgbClr val="201F1D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peak mem 60.56 GiB</a:t>
              </a:r>
              <a:endParaRPr lang="en-US" sz="20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1036320" y="5922738"/>
            <a:ext cx="871728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token accuracy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36320" y="6469384"/>
            <a:ext cx="23050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non-thinking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84220" y="6522664"/>
            <a:ext cx="466725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84220" y="6522664"/>
            <a:ext cx="4637782" cy="247650"/>
          </a:xfrm>
          <a:prstGeom prst="rect">
            <a:avLst/>
          </a:prstGeom>
          <a:solidFill>
            <a:srgbClr val="6080A4">
              <a:alpha val="22000"/>
            </a:srgbClr>
          </a:solidFill>
          <a:ln w="9525">
            <a:solidFill>
              <a:srgbClr val="5E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03870" y="6484118"/>
            <a:ext cx="933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99.37%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36320" y="6956945"/>
            <a:ext cx="23050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thinking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84220" y="7010225"/>
            <a:ext cx="466725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84220" y="7010225"/>
            <a:ext cx="4224189" cy="247650"/>
          </a:xfrm>
          <a:prstGeom prst="rect">
            <a:avLst/>
          </a:prstGeom>
          <a:solidFill>
            <a:srgbClr val="4D8D89">
              <a:alpha val="22000"/>
            </a:srgbClr>
          </a:solidFill>
          <a:ln w="9525">
            <a:solidFill>
              <a:srgbClr val="4F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03870" y="6971679"/>
            <a:ext cx="933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90.51%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36320" y="7444506"/>
            <a:ext cx="23050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dual-mode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84220" y="7497786"/>
            <a:ext cx="466725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84220" y="7497786"/>
            <a:ext cx="4289078" cy="247650"/>
          </a:xfrm>
          <a:prstGeom prst="rect">
            <a:avLst/>
          </a:prstGeom>
          <a:solidFill>
            <a:srgbClr val="B68437">
              <a:alpha val="22000"/>
            </a:srgbClr>
          </a:solidFill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03870" y="7459240"/>
            <a:ext cx="933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91.90%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570720" y="5922738"/>
            <a:ext cx="871728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validation by mode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570720" y="6469384"/>
            <a:ext cx="27241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verdict acc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199620" y="6522664"/>
            <a:ext cx="4258121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2199620" y="6522664"/>
            <a:ext cx="4258121" cy="247650"/>
          </a:xfrm>
          <a:prstGeom prst="rect">
            <a:avLst/>
          </a:prstGeom>
          <a:solidFill>
            <a:srgbClr val="BF693B">
              <a:alpha val="22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610141" y="6437075"/>
            <a:ext cx="96157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570720" y="6956945"/>
            <a:ext cx="255270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Non-thinking verdict acc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199620" y="7187331"/>
            <a:ext cx="428625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2199620" y="7187331"/>
            <a:ext cx="3713113" cy="247650"/>
          </a:xfrm>
          <a:prstGeom prst="rect">
            <a:avLst/>
          </a:prstGeom>
          <a:solidFill>
            <a:srgbClr val="84699F">
              <a:alpha val="22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638270" y="7148784"/>
            <a:ext cx="933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86.63%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570720" y="7855867"/>
            <a:ext cx="8162544" cy="1126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match: thinking 99.80%, non-thinking 79.94%. </a:t>
            </a:r>
          </a:p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validity: thinking 100.00%, non-thinking 92.72%. </a:t>
            </a:r>
          </a:p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93.31% verdict acc, 96.36% format validity.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14400" y="9369772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dual-mode validation is strong, with especially clean thinking-mode validation.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test: verdict accuracy leaderboard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1810512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13k internal test set — 6,500 safe / 6,500 unsafe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63540" y="2522414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non-thinking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387840" y="2575694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7840" y="2575694"/>
            <a:ext cx="11158240" cy="247650"/>
          </a:xfrm>
          <a:prstGeom prst="rect">
            <a:avLst/>
          </a:prstGeom>
          <a:solidFill>
            <a:srgbClr val="83689F">
              <a:alpha val="25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313140" y="2522414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94.78%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3540" y="2981400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thinking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7840" y="3034680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7840" y="3034680"/>
            <a:ext cx="11120586" cy="247650"/>
          </a:xfrm>
          <a:prstGeom prst="rect">
            <a:avLst/>
          </a:prstGeom>
          <a:solidFill>
            <a:srgbClr val="BB6C3C">
              <a:alpha val="25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313140" y="2981400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94.46%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3540" y="3440386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v2 non-thinking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87840" y="3493666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7840" y="3493666"/>
            <a:ext cx="11101834" cy="247650"/>
          </a:xfrm>
          <a:prstGeom prst="rect">
            <a:avLst/>
          </a:prstGeom>
          <a:solidFill>
            <a:srgbClr val="6080A3">
              <a:alpha val="25000"/>
            </a:srgbClr>
          </a:solidFill>
          <a:ln w="9525">
            <a:solidFill>
              <a:srgbClr val="5E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313140" y="3440386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540" y="3899372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r>
              <a:rPr lang="en-US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8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v2 thinking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87840" y="3952652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7840" y="3952652"/>
            <a:ext cx="11015811" cy="247650"/>
          </a:xfrm>
          <a:prstGeom prst="rect">
            <a:avLst/>
          </a:prstGeom>
          <a:solidFill>
            <a:srgbClr val="508F8B">
              <a:alpha val="25000"/>
            </a:srgbClr>
          </a:solidFill>
          <a:ln w="9525">
            <a:solidFill>
              <a:srgbClr val="4F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313140" y="3899372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93.57%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3540" y="4358358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thinking LoRA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87840" y="4411638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87840" y="4411638"/>
            <a:ext cx="10615613" cy="247650"/>
          </a:xfrm>
          <a:prstGeom prst="rect">
            <a:avLst/>
          </a:prstGeom>
          <a:solidFill>
            <a:srgbClr val="8C8782">
              <a:alpha val="2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313140" y="4358358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90.17%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3540" y="4817344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thinking full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387840" y="4870624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87840" y="4870624"/>
            <a:ext cx="10142339" cy="247650"/>
          </a:xfrm>
          <a:prstGeom prst="rect">
            <a:avLst/>
          </a:prstGeom>
          <a:solidFill>
            <a:srgbClr val="8C8782">
              <a:alpha val="2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313140" y="4817344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86.15%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3540" y="5276330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Qwen3.5-4B base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387840" y="5329610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87840" y="5329610"/>
            <a:ext cx="10135195" cy="247650"/>
          </a:xfrm>
          <a:prstGeom prst="rect">
            <a:avLst/>
          </a:prstGeom>
          <a:solidFill>
            <a:srgbClr val="8C8782">
              <a:alpha val="2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313140" y="5276330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86.09%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63540" y="5735315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full SFT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387840" y="5788596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87840" y="5788596"/>
            <a:ext cx="9986814" cy="247650"/>
          </a:xfrm>
          <a:prstGeom prst="rect">
            <a:avLst/>
          </a:prstGeom>
          <a:solidFill>
            <a:srgbClr val="8C8782">
              <a:alpha val="2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6313140" y="5735315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84.83%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3540" y="6194301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Nemotron-3.5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387840" y="6247582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87840" y="6247582"/>
            <a:ext cx="9480649" cy="247650"/>
          </a:xfrm>
          <a:prstGeom prst="rect">
            <a:avLst/>
          </a:prstGeom>
          <a:solidFill>
            <a:srgbClr val="8C8782">
              <a:alpha val="2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6313140" y="6194301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80.53%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63540" y="6653287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LlamaGuard-4-12B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387840" y="6706568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387840" y="6706568"/>
            <a:ext cx="8889653" cy="247650"/>
          </a:xfrm>
          <a:prstGeom prst="rect">
            <a:avLst/>
          </a:prstGeom>
          <a:solidFill>
            <a:srgbClr val="8C8782">
              <a:alpha val="2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6313140" y="6653287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75.51%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63540" y="7112273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VLGuard-LLaVA-13B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387840" y="7165554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387840" y="7165554"/>
            <a:ext cx="7314456" cy="247650"/>
          </a:xfrm>
          <a:prstGeom prst="rect">
            <a:avLst/>
          </a:prstGeom>
          <a:solidFill>
            <a:srgbClr val="8C8782">
              <a:alpha val="2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313140" y="7112273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62.13%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463540" y="7571259"/>
            <a:ext cx="3771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base-thinking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4387840" y="7624540"/>
            <a:ext cx="11772900" cy="2476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387840" y="7624540"/>
            <a:ext cx="137666" cy="247650"/>
          </a:xfrm>
          <a:prstGeom prst="rect">
            <a:avLst/>
          </a:prstGeom>
          <a:solidFill>
            <a:srgbClr val="8C8782">
              <a:alpha val="2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6313140" y="7571259"/>
            <a:ext cx="10287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1.17%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14400" y="9369772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dual-mode is the strongest internal-test performer, in either inference mode.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test: safe / unsafe F1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28650" y="1658243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LlamaGuard-4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943350" y="1587698"/>
            <a:ext cx="10385524" cy="152400"/>
          </a:xfrm>
          <a:prstGeom prst="rect">
            <a:avLst/>
          </a:prstGeom>
          <a:solidFill>
            <a:srgbClr val="8B8884">
              <a:alpha val="3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424124" y="1516261"/>
            <a:ext cx="10715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77.33%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43350" y="1930598"/>
            <a:ext cx="9852422" cy="152400"/>
          </a:xfrm>
          <a:prstGeom prst="rect">
            <a:avLst/>
          </a:prstGeom>
          <a:solidFill>
            <a:srgbClr val="8C8C84">
              <a:alpha val="12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891022" y="1859161"/>
            <a:ext cx="1381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73.36%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8650" y="2448818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VLGuard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43350" y="2378273"/>
            <a:ext cx="6210002" cy="152400"/>
          </a:xfrm>
          <a:prstGeom prst="rect">
            <a:avLst/>
          </a:prstGeom>
          <a:solidFill>
            <a:srgbClr val="8B8884">
              <a:alpha val="3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8602" y="2306836"/>
            <a:ext cx="11068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46.24%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43350" y="2721173"/>
            <a:ext cx="9504462" cy="152400"/>
          </a:xfrm>
          <a:prstGeom prst="rect">
            <a:avLst/>
          </a:prstGeom>
          <a:solidFill>
            <a:srgbClr val="8C8C84">
              <a:alpha val="12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543062" y="2649736"/>
            <a:ext cx="13398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70.77%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8650" y="3239393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Nemotron-3.5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943350" y="3168848"/>
            <a:ext cx="10740033" cy="152400"/>
          </a:xfrm>
          <a:prstGeom prst="rect">
            <a:avLst/>
          </a:prstGeom>
          <a:solidFill>
            <a:srgbClr val="8B8884">
              <a:alpha val="3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778633" y="3097411"/>
            <a:ext cx="10803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79.97%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943350" y="3511748"/>
            <a:ext cx="10887819" cy="152400"/>
          </a:xfrm>
          <a:prstGeom prst="rect">
            <a:avLst/>
          </a:prstGeom>
          <a:solidFill>
            <a:srgbClr val="8C8C84">
              <a:alpha val="12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926419" y="3440311"/>
            <a:ext cx="13429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81.07%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650" y="4029968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base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43350" y="3959423"/>
            <a:ext cx="11669464" cy="152400"/>
          </a:xfrm>
          <a:prstGeom prst="rect">
            <a:avLst/>
          </a:prstGeom>
          <a:solidFill>
            <a:srgbClr val="8B8884">
              <a:alpha val="30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5708064" y="3887986"/>
            <a:ext cx="11251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86.89%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943350" y="4302323"/>
            <a:ext cx="11441162" cy="152400"/>
          </a:xfrm>
          <a:prstGeom prst="rect">
            <a:avLst/>
          </a:prstGeom>
          <a:solidFill>
            <a:srgbClr val="8C8C84">
              <a:alpha val="12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479762" y="4230886"/>
            <a:ext cx="13592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85.19%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8650" y="5115818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v2 non-thinking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943350" y="4897636"/>
            <a:ext cx="12324755" cy="152400"/>
          </a:xfrm>
          <a:prstGeom prst="rect">
            <a:avLst/>
          </a:prstGeom>
          <a:solidFill>
            <a:srgbClr val="5D7EA2">
              <a:alpha val="30000"/>
            </a:srgbClr>
          </a:solidFill>
          <a:ln w="9525">
            <a:solidFill>
              <a:srgbClr val="5E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363355" y="4678561"/>
            <a:ext cx="10864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94.34%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943350" y="5535811"/>
            <a:ext cx="12137827" cy="152400"/>
          </a:xfrm>
          <a:prstGeom prst="rect">
            <a:avLst/>
          </a:prstGeom>
          <a:solidFill>
            <a:srgbClr val="5A7BA5">
              <a:alpha val="12000"/>
            </a:srgbClr>
          </a:solidFill>
          <a:ln w="9525">
            <a:solidFill>
              <a:srgbClr val="5E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176427" y="5316736"/>
            <a:ext cx="127337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94.27%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8650" y="6496943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v2 thinking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943350" y="6278761"/>
            <a:ext cx="12313295" cy="152400"/>
          </a:xfrm>
          <a:prstGeom prst="rect">
            <a:avLst/>
          </a:prstGeom>
          <a:solidFill>
            <a:srgbClr val="4F8E8B">
              <a:alpha val="30000"/>
            </a:srgbClr>
          </a:solidFill>
          <a:ln w="9525">
            <a:solidFill>
              <a:srgbClr val="4F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351895" y="6059686"/>
            <a:ext cx="109790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93.64%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943350" y="6916936"/>
            <a:ext cx="12112526" cy="152400"/>
          </a:xfrm>
          <a:prstGeom prst="rect">
            <a:avLst/>
          </a:prstGeom>
          <a:solidFill>
            <a:srgbClr val="528C8C">
              <a:alpha val="12000"/>
            </a:srgbClr>
          </a:solidFill>
          <a:ln w="9525">
            <a:solidFill>
              <a:srgbClr val="4F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6151126" y="6697861"/>
            <a:ext cx="129867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93.52%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8650" y="7878068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non-thinking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943350" y="7659886"/>
            <a:ext cx="12344846" cy="152400"/>
          </a:xfrm>
          <a:prstGeom prst="rect">
            <a:avLst/>
          </a:prstGeom>
          <a:solidFill>
            <a:srgbClr val="84679F">
              <a:alpha val="30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6383446" y="7440811"/>
            <a:ext cx="106635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94.79%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943350" y="8298061"/>
            <a:ext cx="12144821" cy="152400"/>
          </a:xfrm>
          <a:prstGeom prst="rect">
            <a:avLst/>
          </a:prstGeom>
          <a:solidFill>
            <a:srgbClr val="846B9C">
              <a:alpha val="12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6183421" y="8078986"/>
            <a:ext cx="126637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94.78%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8650" y="9259193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857"/>
              </a:lnSpc>
              <a:buNone/>
            </a:pPr>
            <a:r>
              <a:rPr lang="en-US" sz="18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thinking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943350" y="9041011"/>
            <a:ext cx="12327731" cy="152400"/>
          </a:xfrm>
          <a:prstGeom prst="rect">
            <a:avLst/>
          </a:prstGeom>
          <a:solidFill>
            <a:srgbClr val="BD6A3C">
              <a:alpha val="30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6366331" y="8821936"/>
            <a:ext cx="108346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94.45%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943350" y="9679186"/>
            <a:ext cx="12139315" cy="152400"/>
          </a:xfrm>
          <a:prstGeom prst="rect">
            <a:avLst/>
          </a:prstGeom>
          <a:solidFill>
            <a:srgbClr val="BD6B3A">
              <a:alpha val="12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6177915" y="9460111"/>
            <a:ext cx="127188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94.47%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14400" y="10203061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 is balanced: both safe and unsafe F1 sit around 94.5–94.8%.</a:t>
            </a:r>
            <a:endParaRPr lang="en-US" sz="1950" dirty="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679219C5-E50F-A467-E1B1-2315364D1657}"/>
              </a:ext>
            </a:extLst>
          </p:cNvPr>
          <p:cNvSpPr/>
          <p:nvPr/>
        </p:nvSpPr>
        <p:spPr>
          <a:xfrm flipV="1">
            <a:off x="1238324" y="4656316"/>
            <a:ext cx="16297869" cy="45719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359F3E43-6D2C-2FC5-080E-045A6E7FD5B5}"/>
              </a:ext>
            </a:extLst>
          </p:cNvPr>
          <p:cNvSpPr/>
          <p:nvPr/>
        </p:nvSpPr>
        <p:spPr>
          <a:xfrm flipV="1">
            <a:off x="1238324" y="5933957"/>
            <a:ext cx="16297869" cy="45719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9E16CC4A-B938-CDCF-0980-EED492FC9682}"/>
              </a:ext>
            </a:extLst>
          </p:cNvPr>
          <p:cNvSpPr/>
          <p:nvPr/>
        </p:nvSpPr>
        <p:spPr>
          <a:xfrm flipV="1">
            <a:off x="1238324" y="7338403"/>
            <a:ext cx="16297869" cy="45719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7A3928B7-FC25-F5DE-F70A-78734D555DCC}"/>
              </a:ext>
            </a:extLst>
          </p:cNvPr>
          <p:cNvSpPr/>
          <p:nvPr/>
        </p:nvSpPr>
        <p:spPr>
          <a:xfrm flipV="1">
            <a:off x="1238324" y="8734308"/>
            <a:ext cx="16297869" cy="45719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90D1E80F-585E-33F4-9DE3-8E2ADC0BF8F1}"/>
              </a:ext>
            </a:extLst>
          </p:cNvPr>
          <p:cNvSpPr/>
          <p:nvPr/>
        </p:nvSpPr>
        <p:spPr>
          <a:xfrm flipV="1">
            <a:off x="1238324" y="2211645"/>
            <a:ext cx="16297869" cy="45719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346BEDF5-3C77-A171-D848-8D66F54028DC}"/>
              </a:ext>
            </a:extLst>
          </p:cNvPr>
          <p:cNvSpPr/>
          <p:nvPr/>
        </p:nvSpPr>
        <p:spPr>
          <a:xfrm flipV="1">
            <a:off x="1238324" y="3003392"/>
            <a:ext cx="16297869" cy="45719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C6DE4C19-18EC-6A1D-410F-2BFBFBB7B555}"/>
              </a:ext>
            </a:extLst>
          </p:cNvPr>
          <p:cNvSpPr/>
          <p:nvPr/>
        </p:nvSpPr>
        <p:spPr>
          <a:xfrm flipV="1">
            <a:off x="1238324" y="3774739"/>
            <a:ext cx="16297869" cy="45719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test: policy prediction metrics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14400" y="1497211"/>
            <a:ext cx="875919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set match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33425" y="1976289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838450" y="2038201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838450" y="2038201"/>
            <a:ext cx="1399431" cy="17145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15300" y="1976289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27.11%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3425" y="2347764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base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8450" y="2409676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38450" y="2409676"/>
            <a:ext cx="1716435" cy="17145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15300" y="2347764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33.25%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3425" y="2719239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non-thinking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38450" y="2781151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38450" y="2781151"/>
            <a:ext cx="2974628" cy="171450"/>
          </a:xfrm>
          <a:prstGeom prst="rect">
            <a:avLst/>
          </a:prstGeom>
          <a:solidFill>
            <a:srgbClr val="6080A3">
              <a:alpha val="25000"/>
            </a:srgbClr>
          </a:solidFill>
          <a:ln w="9525">
            <a:solidFill>
              <a:srgbClr val="5E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15300" y="2719239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57.62%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3425" y="3090714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thinking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38450" y="3152626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38450" y="3152626"/>
            <a:ext cx="2923431" cy="171450"/>
          </a:xfrm>
          <a:prstGeom prst="rect">
            <a:avLst/>
          </a:prstGeom>
          <a:solidFill>
            <a:srgbClr val="508F8B">
              <a:alpha val="25000"/>
            </a:srgbClr>
          </a:solidFill>
          <a:ln w="9525">
            <a:solidFill>
              <a:srgbClr val="4F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15300" y="3090714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56.63%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8200" y="3462189"/>
            <a:ext cx="1885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non-thinking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38450" y="3671739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38450" y="3671739"/>
            <a:ext cx="3091309" cy="171450"/>
          </a:xfrm>
          <a:prstGeom prst="rect">
            <a:avLst/>
          </a:prstGeom>
          <a:solidFill>
            <a:srgbClr val="83689F">
              <a:alpha val="25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15300" y="3609826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59.88%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3425" y="4128939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thinking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838450" y="4190851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838450" y="4190851"/>
            <a:ext cx="3094881" cy="171450"/>
          </a:xfrm>
          <a:prstGeom prst="rect">
            <a:avLst/>
          </a:prstGeom>
          <a:solidFill>
            <a:srgbClr val="BB6C3C">
              <a:alpha val="25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15300" y="4128939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59.95%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10700" y="1497211"/>
            <a:ext cx="875919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Any-overlap match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229725" y="1976289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334750" y="2038201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334750" y="2038201"/>
            <a:ext cx="3588990" cy="17145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6611600" y="1976289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69.52%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229725" y="2347764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base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334750" y="2409676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334750" y="2409676"/>
            <a:ext cx="3609529" cy="17145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6611600" y="2347764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69.92%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29725" y="2719239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non-thinking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1334750" y="2781151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334750" y="2781151"/>
            <a:ext cx="4642098" cy="171450"/>
          </a:xfrm>
          <a:prstGeom prst="rect">
            <a:avLst/>
          </a:prstGeom>
          <a:solidFill>
            <a:srgbClr val="6080A3">
              <a:alpha val="25000"/>
            </a:srgbClr>
          </a:solidFill>
          <a:ln w="9525">
            <a:solidFill>
              <a:srgbClr val="5E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6611600" y="2719239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89.92%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229725" y="3090714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thinking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1334750" y="3152626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1334750" y="3152626"/>
            <a:ext cx="4679752" cy="171450"/>
          </a:xfrm>
          <a:prstGeom prst="rect">
            <a:avLst/>
          </a:prstGeom>
          <a:solidFill>
            <a:srgbClr val="508F8B">
              <a:alpha val="25000"/>
            </a:srgbClr>
          </a:solidFill>
          <a:ln w="9525">
            <a:solidFill>
              <a:srgbClr val="4F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6611600" y="3090714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90.65%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34500" y="3462189"/>
            <a:ext cx="1885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non-thinking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1334750" y="3671739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1334750" y="3671739"/>
            <a:ext cx="4774257" cy="171450"/>
          </a:xfrm>
          <a:prstGeom prst="rect">
            <a:avLst/>
          </a:prstGeom>
          <a:solidFill>
            <a:srgbClr val="83689F">
              <a:alpha val="25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6611600" y="3609826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92.48%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229725" y="4128939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thinking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11334750" y="4190851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1334750" y="4190851"/>
            <a:ext cx="4792266" cy="171450"/>
          </a:xfrm>
          <a:prstGeom prst="rect">
            <a:avLst/>
          </a:prstGeom>
          <a:solidFill>
            <a:srgbClr val="BB6C3C">
              <a:alpha val="25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6611600" y="4128939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92.83%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14400" y="5509617"/>
            <a:ext cx="875919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F1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733425" y="5988695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2838450" y="6050607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838450" y="6050607"/>
            <a:ext cx="2793355" cy="17145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115300" y="598869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54.11%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733425" y="6360170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base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2838450" y="6422082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838450" y="6422082"/>
            <a:ext cx="3040112" cy="17145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115300" y="636017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58.89%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733425" y="6731645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non-thinking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2838450" y="6793557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838450" y="6793557"/>
            <a:ext cx="4179987" cy="171450"/>
          </a:xfrm>
          <a:prstGeom prst="rect">
            <a:avLst/>
          </a:prstGeom>
          <a:solidFill>
            <a:srgbClr val="6080A3">
              <a:alpha val="25000"/>
            </a:srgbClr>
          </a:solidFill>
          <a:ln w="9525">
            <a:solidFill>
              <a:srgbClr val="5E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115300" y="673164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80.97%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733425" y="7103120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thinking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2838450" y="7165032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838450" y="7165032"/>
            <a:ext cx="4185791" cy="171450"/>
          </a:xfrm>
          <a:prstGeom prst="rect">
            <a:avLst/>
          </a:prstGeom>
          <a:solidFill>
            <a:srgbClr val="508F8B">
              <a:alpha val="25000"/>
            </a:srgbClr>
          </a:solidFill>
          <a:ln w="9525">
            <a:solidFill>
              <a:srgbClr val="4F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115300" y="710312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81.08%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838200" y="7474595"/>
            <a:ext cx="1885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non-thinking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2838450" y="7684145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838450" y="7684145"/>
            <a:ext cx="4205288" cy="171450"/>
          </a:xfrm>
          <a:prstGeom prst="rect">
            <a:avLst/>
          </a:prstGeom>
          <a:solidFill>
            <a:srgbClr val="83689F">
              <a:alpha val="25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115300" y="7622232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81.46%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733425" y="8141345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thinking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2838450" y="8203257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838450" y="8203257"/>
            <a:ext cx="4255889" cy="171450"/>
          </a:xfrm>
          <a:prstGeom prst="rect">
            <a:avLst/>
          </a:prstGeom>
          <a:solidFill>
            <a:srgbClr val="BB6C3C">
              <a:alpha val="25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115300" y="814134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82.44%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9410700" y="5509617"/>
            <a:ext cx="875919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950" dirty="0"/>
          </a:p>
        </p:txBody>
      </p:sp>
      <p:sp>
        <p:nvSpPr>
          <p:cNvPr id="79" name="Text 77"/>
          <p:cNvSpPr/>
          <p:nvPr/>
        </p:nvSpPr>
        <p:spPr>
          <a:xfrm>
            <a:off x="9229725" y="5988695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11334750" y="6050607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1334750" y="6050607"/>
            <a:ext cx="2633365" cy="17145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6611600" y="598869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51.01%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9229725" y="6360170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base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11334750" y="6422082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1334750" y="6422082"/>
            <a:ext cx="2935932" cy="17145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6611600" y="636017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56.87%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9229725" y="6731645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non-thinking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1334750" y="6793557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1334750" y="6793557"/>
            <a:ext cx="4172248" cy="171450"/>
          </a:xfrm>
          <a:prstGeom prst="rect">
            <a:avLst/>
          </a:prstGeom>
          <a:solidFill>
            <a:srgbClr val="6080A3">
              <a:alpha val="25000"/>
            </a:srgbClr>
          </a:solidFill>
          <a:ln w="9525">
            <a:solidFill>
              <a:srgbClr val="5E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6611600" y="673164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80.82%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9229725" y="7103120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thinking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11334750" y="7165032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1334750" y="7165032"/>
            <a:ext cx="4203204" cy="171450"/>
          </a:xfrm>
          <a:prstGeom prst="rect">
            <a:avLst/>
          </a:prstGeom>
          <a:solidFill>
            <a:srgbClr val="508F8B">
              <a:alpha val="25000"/>
            </a:srgbClr>
          </a:solidFill>
          <a:ln w="9525">
            <a:solidFill>
              <a:srgbClr val="4F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6611600" y="710312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81.42%</a:t>
            </a:r>
            <a:endParaRPr lang="en-US" sz="1500" dirty="0"/>
          </a:p>
        </p:txBody>
      </p:sp>
      <p:sp>
        <p:nvSpPr>
          <p:cNvPr id="95" name="Text 93"/>
          <p:cNvSpPr/>
          <p:nvPr/>
        </p:nvSpPr>
        <p:spPr>
          <a:xfrm>
            <a:off x="9334500" y="7474595"/>
            <a:ext cx="1885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non-thinking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11334750" y="7684145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1334750" y="7684145"/>
            <a:ext cx="4209008" cy="171450"/>
          </a:xfrm>
          <a:prstGeom prst="rect">
            <a:avLst/>
          </a:prstGeom>
          <a:solidFill>
            <a:srgbClr val="83689F">
              <a:alpha val="25000"/>
            </a:srgbClr>
          </a:solidFill>
          <a:ln w="9525">
            <a:solidFill>
              <a:srgbClr val="856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16611600" y="7622232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81.53%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9229725" y="8141345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4783"/>
              </a:lnSpc>
              <a:buNone/>
            </a:pPr>
            <a:r>
              <a:rPr lang="en-US" sz="15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thinking</a:t>
            </a:r>
            <a:endParaRPr lang="en-US" sz="1500" dirty="0"/>
          </a:p>
        </p:txBody>
      </p:sp>
      <p:sp>
        <p:nvSpPr>
          <p:cNvPr id="100" name="Shape 98"/>
          <p:cNvSpPr/>
          <p:nvPr/>
        </p:nvSpPr>
        <p:spPr>
          <a:xfrm>
            <a:off x="11334750" y="8203257"/>
            <a:ext cx="5162550" cy="17145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1334750" y="8203257"/>
            <a:ext cx="4268837" cy="171450"/>
          </a:xfrm>
          <a:prstGeom prst="rect">
            <a:avLst/>
          </a:prstGeom>
          <a:solidFill>
            <a:srgbClr val="BB6C3C">
              <a:alpha val="25000"/>
            </a:srgbClr>
          </a:solidFill>
          <a:ln w="9525">
            <a:solidFill>
              <a:srgbClr val="BD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6611600" y="814134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82.69%</a:t>
            </a:r>
            <a:endParaRPr lang="en-US" sz="1500" dirty="0"/>
          </a:p>
        </p:txBody>
      </p:sp>
      <p:sp>
        <p:nvSpPr>
          <p:cNvPr id="103" name="Text 101"/>
          <p:cNvSpPr/>
          <p:nvPr/>
        </p:nvSpPr>
        <p:spPr>
          <a:xfrm>
            <a:off x="914400" y="9369772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 improves policy quality, especially policy overlap and thinking-mode micro/macro F1.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robustness / format validity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1810512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error rate on 13k internal test · scale 0–12%, axis broken for the 98.75% outlier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90550" y="1860054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LlamaGuard-4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4305300" y="1915418"/>
            <a:ext cx="11963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05300" y="1915418"/>
            <a:ext cx="19050" cy="228600"/>
          </a:xfrm>
          <a:prstGeom prst="rect">
            <a:avLst/>
          </a:prstGeom>
          <a:solidFill>
            <a:srgbClr val="8C88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21100" y="1860054"/>
            <a:ext cx="10287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590550" y="2323356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VLGuard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4305300" y="2378720"/>
            <a:ext cx="11963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05300" y="2378720"/>
            <a:ext cx="19050" cy="228600"/>
          </a:xfrm>
          <a:prstGeom prst="rect">
            <a:avLst/>
          </a:prstGeom>
          <a:solidFill>
            <a:srgbClr val="8C88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421100" y="2323356"/>
            <a:ext cx="10287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590550" y="2786658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4305300" y="2842022"/>
            <a:ext cx="11963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05300" y="2842022"/>
            <a:ext cx="28575" cy="22860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421100" y="2786658"/>
            <a:ext cx="10287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0.0077%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590550" y="3249960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base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4305300" y="3305324"/>
            <a:ext cx="11963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05300" y="3305324"/>
            <a:ext cx="28575" cy="22860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421100" y="3249960"/>
            <a:ext cx="10287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0.0077%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590550" y="3713262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base-thinking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4305300" y="3768626"/>
            <a:ext cx="10820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05300" y="3768626"/>
            <a:ext cx="10820400" cy="228600"/>
          </a:xfrm>
          <a:prstGeom prst="rect">
            <a:avLst/>
          </a:prstGeom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278100" y="3713262"/>
            <a:ext cx="23050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98.75%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590550" y="4176564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thinking full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4305300" y="4231928"/>
            <a:ext cx="11963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05300" y="4231928"/>
            <a:ext cx="9080153" cy="22860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421100" y="4176564"/>
            <a:ext cx="10287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9.11%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590550" y="4639866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thinking LoRA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4305300" y="4695230"/>
            <a:ext cx="11963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05300" y="4695230"/>
            <a:ext cx="3170188" cy="228600"/>
          </a:xfrm>
          <a:prstGeom prst="rect">
            <a:avLst/>
          </a:prstGeom>
          <a:solidFill>
            <a:srgbClr val="8B8783">
              <a:alpha val="25000"/>
            </a:srgbClr>
          </a:solidFill>
          <a:ln w="9525">
            <a:solidFill>
              <a:srgbClr val="8C88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421100" y="4639866"/>
            <a:ext cx="10287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3.18%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590550" y="5103168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v2 non-thinking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4305300" y="5158532"/>
            <a:ext cx="11963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05300" y="5158532"/>
            <a:ext cx="28575" cy="228600"/>
          </a:xfrm>
          <a:prstGeom prst="rect">
            <a:avLst/>
          </a:prstGeom>
          <a:solidFill>
            <a:srgbClr val="6080A3">
              <a:alpha val="25000"/>
            </a:srgbClr>
          </a:solidFill>
          <a:ln w="9525">
            <a:solidFill>
              <a:srgbClr val="5E7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6421100" y="5103168"/>
            <a:ext cx="10287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0.0077%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590550" y="5566470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v2 thinking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4305300" y="5621834"/>
            <a:ext cx="11963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05300" y="5621834"/>
            <a:ext cx="28575" cy="228600"/>
          </a:xfrm>
          <a:prstGeom prst="rect">
            <a:avLst/>
          </a:prstGeom>
          <a:solidFill>
            <a:srgbClr val="508F8B">
              <a:alpha val="25000"/>
            </a:srgbClr>
          </a:solidFill>
          <a:ln w="9525">
            <a:solidFill>
              <a:srgbClr val="4F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6421100" y="5566470"/>
            <a:ext cx="10287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0.0154%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590550" y="6029771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non-thinking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4305300" y="6085136"/>
            <a:ext cx="11963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305300" y="6085136"/>
            <a:ext cx="19050" cy="228600"/>
          </a:xfrm>
          <a:prstGeom prst="rect">
            <a:avLst/>
          </a:prstGeom>
          <a:solidFill>
            <a:srgbClr val="8567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6421100" y="6029771"/>
            <a:ext cx="10287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590550" y="6493073"/>
            <a:ext cx="356235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2037"/>
              </a:lnSpc>
              <a:buNone/>
            </a:pPr>
            <a:r>
              <a:rPr lang="en-US" sz="1725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thinking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4305300" y="6548438"/>
            <a:ext cx="11963400" cy="228600"/>
          </a:xfrm>
          <a:prstGeom prst="rect">
            <a:avLst/>
          </a:prstGeom>
          <a:solidFill>
            <a:srgbClr val="EAE9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305300" y="6548438"/>
            <a:ext cx="19050" cy="228600"/>
          </a:xfrm>
          <a:prstGeom prst="rect">
            <a:avLst/>
          </a:prstGeom>
          <a:solidFill>
            <a:srgbClr val="BD6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421100" y="6493073"/>
            <a:ext cx="10287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37"/>
              </a:lnSpc>
              <a:buNone/>
            </a:pPr>
            <a:r>
              <a:rPr lang="en-US" sz="172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725" dirty="0"/>
          </a:p>
        </p:txBody>
      </p:sp>
      <p:sp>
        <p:nvSpPr>
          <p:cNvPr id="48" name="Text 46"/>
          <p:cNvSpPr/>
          <p:nvPr/>
        </p:nvSpPr>
        <p:spPr>
          <a:xfrm>
            <a:off x="914400" y="9369772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 eliminates parse errors in both inference modes.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benchmarks: MMMU and MMRewardBench FPR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028700" y="2232140"/>
            <a:ext cx="88011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MMMU (n = 10,500)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28700" y="2673118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non-thinking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28700" y="3034472"/>
            <a:ext cx="48667" cy="133350"/>
          </a:xfrm>
          <a:prstGeom prst="rect">
            <a:avLst/>
          </a:prstGeom>
          <a:solidFill>
            <a:srgbClr val="8C88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3567" y="2968393"/>
            <a:ext cx="880914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0.61%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28700" y="3338826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thinking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68586" y="3688721"/>
            <a:ext cx="7102227" cy="133350"/>
          </a:xfrm>
          <a:prstGeom prst="rect">
            <a:avLst/>
          </a:prstGeom>
          <a:solidFill>
            <a:srgbClr val="8C88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47013" y="3489738"/>
            <a:ext cx="898773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99.52%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28700" y="3920446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non-thinking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86594" y="4330475"/>
            <a:ext cx="39886" cy="133350"/>
          </a:xfrm>
          <a:prstGeom prst="rect">
            <a:avLst/>
          </a:prstGeom>
          <a:solidFill>
            <a:srgbClr val="5E7E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2680" y="4264395"/>
            <a:ext cx="920948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0.50%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86594" y="4634828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thinking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86594" y="4996183"/>
            <a:ext cx="200025" cy="133350"/>
          </a:xfrm>
          <a:prstGeom prst="rect">
            <a:avLst/>
          </a:prstGeom>
          <a:solidFill>
            <a:srgbClr val="4F8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62819" y="4930103"/>
            <a:ext cx="90934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2.50%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86594" y="5300537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non-thinking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86594" y="5661891"/>
            <a:ext cx="46286" cy="133350"/>
          </a:xfrm>
          <a:prstGeom prst="rect">
            <a:avLst/>
          </a:prstGeom>
          <a:solidFill>
            <a:srgbClr val="8567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9080" y="5595812"/>
            <a:ext cx="910828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0.58%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86594" y="5966245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thinking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86594" y="6327600"/>
            <a:ext cx="74265" cy="133350"/>
          </a:xfrm>
          <a:prstGeom prst="rect">
            <a:avLst/>
          </a:prstGeom>
          <a:solidFill>
            <a:srgbClr val="BD6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7059" y="6261520"/>
            <a:ext cx="915739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0.93%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86900" y="2232140"/>
            <a:ext cx="88011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MMRewardBench (n = 4,711)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486900" y="2673118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non-thinking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486900" y="3034472"/>
            <a:ext cx="1452116" cy="133350"/>
          </a:xfrm>
          <a:prstGeom prst="rect">
            <a:avLst/>
          </a:prstGeom>
          <a:solidFill>
            <a:srgbClr val="8C88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015216" y="2968393"/>
            <a:ext cx="931962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18.15%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486900" y="3338826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thinking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486900" y="3700181"/>
            <a:ext cx="5239792" cy="133350"/>
          </a:xfrm>
          <a:prstGeom prst="rect">
            <a:avLst/>
          </a:prstGeom>
          <a:solidFill>
            <a:srgbClr val="8C88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802892" y="3634101"/>
            <a:ext cx="1001911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65.49%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486900" y="4004534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non-thinking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486900" y="4365889"/>
            <a:ext cx="193477" cy="133350"/>
          </a:xfrm>
          <a:prstGeom prst="rect">
            <a:avLst/>
          </a:prstGeom>
          <a:solidFill>
            <a:srgbClr val="5E7E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756577" y="4299809"/>
            <a:ext cx="894457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2.42%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486900" y="4670242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thinking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486900" y="5031597"/>
            <a:ext cx="839242" cy="133350"/>
          </a:xfrm>
          <a:prstGeom prst="rect">
            <a:avLst/>
          </a:prstGeom>
          <a:solidFill>
            <a:srgbClr val="4F8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402342" y="4965517"/>
            <a:ext cx="975568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10.49%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486900" y="5335950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non-thinking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486900" y="5697305"/>
            <a:ext cx="243185" cy="133350"/>
          </a:xfrm>
          <a:prstGeom prst="rect">
            <a:avLst/>
          </a:prstGeom>
          <a:solidFill>
            <a:srgbClr val="8567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06285" y="5631225"/>
            <a:ext cx="909638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3.04%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486900" y="6001659"/>
            <a:ext cx="8801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thinking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486900" y="6363013"/>
            <a:ext cx="261491" cy="133350"/>
          </a:xfrm>
          <a:prstGeom prst="rect">
            <a:avLst/>
          </a:prstGeom>
          <a:solidFill>
            <a:srgbClr val="BD6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824591" y="6296934"/>
            <a:ext cx="884039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3.27%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14400" y="9369772"/>
            <a:ext cx="1810512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201F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 keeps MMMU false positives below 1% and brings RewardBench FPR down to ~3% in both modes.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91"/>
              </a:lnSpc>
              <a:buNone/>
            </a:pPr>
            <a:r>
              <a:rPr lang="en-US" sz="4500" kern="0" spc="-4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OCRBench_v2 and final takeaways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14400" y="3216200"/>
            <a:ext cx="88011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OCRBench_v2 — exact / relaxed / ANLS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3695278"/>
            <a:ext cx="8801100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1425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non-thinking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975670"/>
            <a:ext cx="1937445" cy="114300"/>
          </a:xfrm>
          <a:prstGeom prst="rect">
            <a:avLst/>
          </a:prstGeom>
          <a:solidFill>
            <a:srgbClr val="8C88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08995" y="3975670"/>
            <a:ext cx="2422773" cy="114300"/>
          </a:xfrm>
          <a:prstGeom prst="rect">
            <a:avLst/>
          </a:prstGeom>
          <a:solidFill>
            <a:srgbClr val="8C898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88918" y="3975670"/>
            <a:ext cx="3526482" cy="114300"/>
          </a:xfrm>
          <a:prstGeom prst="rect">
            <a:avLst/>
          </a:prstGeom>
          <a:solidFill>
            <a:srgbClr val="8B878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175695"/>
            <a:ext cx="8801100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1425" dirty="0">
                <a:solidFill>
                  <a:srgbClr val="8C8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thinking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14400" y="4456087"/>
            <a:ext cx="2181820" cy="114300"/>
          </a:xfrm>
          <a:prstGeom prst="rect">
            <a:avLst/>
          </a:prstGeom>
          <a:solidFill>
            <a:srgbClr val="8C88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3370" y="4456087"/>
            <a:ext cx="2526655" cy="114300"/>
          </a:xfrm>
          <a:prstGeom prst="rect">
            <a:avLst/>
          </a:prstGeom>
          <a:solidFill>
            <a:srgbClr val="8C898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37175" y="4456087"/>
            <a:ext cx="3127474" cy="114300"/>
          </a:xfrm>
          <a:prstGeom prst="rect">
            <a:avLst/>
          </a:prstGeom>
          <a:solidFill>
            <a:srgbClr val="8B878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656112"/>
            <a:ext cx="8801100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1425" dirty="0">
                <a:solidFill>
                  <a:srgbClr val="5E7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non-thinking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914400" y="4936504"/>
            <a:ext cx="1941463" cy="114300"/>
          </a:xfrm>
          <a:prstGeom prst="rect">
            <a:avLst/>
          </a:prstGeom>
          <a:solidFill>
            <a:srgbClr val="5E7E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13013" y="4936504"/>
            <a:ext cx="2393900" cy="114300"/>
          </a:xfrm>
          <a:prstGeom prst="rect">
            <a:avLst/>
          </a:prstGeom>
          <a:solidFill>
            <a:srgbClr val="5F7EA2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64063" y="4936504"/>
            <a:ext cx="3551337" cy="114300"/>
          </a:xfrm>
          <a:prstGeom prst="rect">
            <a:avLst/>
          </a:prstGeom>
          <a:solidFill>
            <a:srgbClr val="6080A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5136529"/>
            <a:ext cx="8801100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1425" dirty="0">
                <a:solidFill>
                  <a:srgbClr val="4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thinking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14400" y="5416921"/>
            <a:ext cx="1966764" cy="114300"/>
          </a:xfrm>
          <a:prstGeom prst="rect">
            <a:avLst/>
          </a:prstGeom>
          <a:solidFill>
            <a:srgbClr val="4F8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38314" y="5416921"/>
            <a:ext cx="2793057" cy="114300"/>
          </a:xfrm>
          <a:prstGeom prst="rect">
            <a:avLst/>
          </a:prstGeom>
          <a:solidFill>
            <a:srgbClr val="4E908A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88521" y="5416921"/>
            <a:ext cx="3126879" cy="114300"/>
          </a:xfrm>
          <a:prstGeom prst="rect">
            <a:avLst/>
          </a:prstGeom>
          <a:solidFill>
            <a:srgbClr val="508F8B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5616946"/>
            <a:ext cx="8801100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1425" dirty="0">
                <a:solidFill>
                  <a:srgbClr val="856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non-thinking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14400" y="5897339"/>
            <a:ext cx="1937296" cy="114300"/>
          </a:xfrm>
          <a:prstGeom prst="rect">
            <a:avLst/>
          </a:prstGeom>
          <a:solidFill>
            <a:srgbClr val="8567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08846" y="5897339"/>
            <a:ext cx="2380059" cy="114300"/>
          </a:xfrm>
          <a:prstGeom prst="rect">
            <a:avLst/>
          </a:prstGeom>
          <a:solidFill>
            <a:srgbClr val="8568A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46055" y="5897339"/>
            <a:ext cx="3569345" cy="114300"/>
          </a:xfrm>
          <a:prstGeom prst="rect">
            <a:avLst/>
          </a:prstGeom>
          <a:solidFill>
            <a:srgbClr val="83689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6097364"/>
            <a:ext cx="8801100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1425" dirty="0">
                <a:solidFill>
                  <a:srgbClr val="BD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 thinking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914400" y="6377756"/>
            <a:ext cx="1921818" cy="114300"/>
          </a:xfrm>
          <a:prstGeom prst="rect">
            <a:avLst/>
          </a:prstGeom>
          <a:solidFill>
            <a:srgbClr val="BD6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893368" y="6377756"/>
            <a:ext cx="2664023" cy="114300"/>
          </a:xfrm>
          <a:prstGeom prst="rect">
            <a:avLst/>
          </a:prstGeom>
          <a:solidFill>
            <a:srgbClr val="BD6A3A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14541" y="6377756"/>
            <a:ext cx="3300859" cy="114300"/>
          </a:xfrm>
          <a:prstGeom prst="rect">
            <a:avLst/>
          </a:prstGeom>
          <a:solidFill>
            <a:srgbClr val="BB6C3C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6587306"/>
            <a:ext cx="700683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691283" y="6587306"/>
            <a:ext cx="858292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relaxed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625775" y="6587306"/>
            <a:ext cx="706934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3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505027" y="2291358"/>
            <a:ext cx="8001000" cy="2852142"/>
          </a:xfrm>
          <a:prstGeom prst="roundRect">
            <a:avLst>
              <a:gd name="adj" fmla="val 1336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45967" y="2432298"/>
            <a:ext cx="849103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909"/>
              </a:lnSpc>
              <a:buNone/>
            </a:pPr>
            <a:r>
              <a:rPr lang="en-US" sz="750" kern="0" spc="75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TAKEAWAYS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715500" y="2762697"/>
            <a:ext cx="7725787" cy="227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dataset: 186,660 rows, balanced SFT / RL / test construction</a:t>
            </a:r>
            <a:endParaRPr lang="en-US" sz="1575" dirty="0"/>
          </a:p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proved separate full-SFT thinking and non-thinking models work</a:t>
            </a:r>
            <a:endParaRPr lang="en-US" sz="1575" dirty="0"/>
          </a:p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dual-mode is the best final form: one checkpoint, two modes</a:t>
            </a:r>
            <a:endParaRPr lang="en-US" sz="1575" dirty="0"/>
          </a:p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test: 94.78% non-thinking, 94.46% thinking verdict accuracy</a:t>
            </a:r>
            <a:endParaRPr lang="en-US" sz="1575" dirty="0"/>
          </a:p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micro F1: 81.46% non-thinking, 82.44% thinking</a:t>
            </a:r>
            <a:endParaRPr lang="en-US" sz="1575" dirty="0"/>
          </a:p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errors: zero in both dual modes</a:t>
            </a:r>
            <a:endParaRPr lang="en-US" sz="1575" dirty="0"/>
          </a:p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External: MMMU FPR &lt;1% in both dual modes; RewardBench FPR ~3%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9505027" y="5334000"/>
            <a:ext cx="8001000" cy="2532162"/>
          </a:xfrm>
          <a:prstGeom prst="roundRect">
            <a:avLst>
              <a:gd name="adj" fmla="val 150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45967" y="5474940"/>
            <a:ext cx="849103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909"/>
              </a:lnSpc>
              <a:buNone/>
            </a:pPr>
            <a:r>
              <a:rPr lang="en-US" sz="750" kern="0" spc="75" dirty="0">
                <a:solidFill>
                  <a:srgbClr val="7D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715500" y="5805339"/>
            <a:ext cx="7725787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Week 8 dual-mode checkpoint-1280 as the current final candidate</a:t>
            </a:r>
            <a:endParaRPr lang="en-US" sz="1575" dirty="0"/>
          </a:p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harder eval set beyond easy-only test</a:t>
            </a:r>
            <a:endParaRPr lang="en-US" sz="1575" dirty="0"/>
          </a:p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exact-set policy misses where any-overlap is correct</a:t>
            </a:r>
            <a:endParaRPr lang="en-US" sz="1575" dirty="0"/>
          </a:p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latency / cost of thinking vs non-thinking inference</a:t>
            </a:r>
            <a:endParaRPr lang="en-US" sz="1575" dirty="0"/>
          </a:p>
          <a:p>
            <a:pPr marL="140017" indent="-140017" algn="l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non-thinking for latency; use thinking when the rationale trace matters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1597</Words>
  <Application>Microsoft Macintosh PowerPoint</Application>
  <PresentationFormat>Custom</PresentationFormat>
  <Paragraphs>414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Abadi MT Condensed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Kunj Shah</cp:lastModifiedBy>
  <cp:revision>5</cp:revision>
  <dcterms:created xsi:type="dcterms:W3CDTF">2026-07-14T21:06:16Z</dcterms:created>
  <dcterms:modified xsi:type="dcterms:W3CDTF">2026-07-15T03:17:02Z</dcterms:modified>
</cp:coreProperties>
</file>